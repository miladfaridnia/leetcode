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جلسه را با این سوال شروع کنید: چند نفر تا حالا لیت‌کد را باز کردند و احساس ناتوانی کردند؟ تأکید کنید که لیت‌کد آزمون هوش نیست، بلکه مهارتی تمرین‌پذیر است.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خیلی از برنامه‌نویسان شکایت دارند که چرا باید الگوریتم حل کنیم وقتی در کار روزمره فریم‌ورک استفاده می‌کنیم. توضیح دهید که فریم‌ورک‌ها تغییر می‌کنند، اما مبانی علوم کامپیوتر برای دهه‌ها پایدارند.</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استرس حضار را از بین ببرید. تشبیه به ورزش و موسیقی بزنید: هیچ‌کس در روز اول ماراتن ندویده و پیانو ننواخته است.</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تأکید کنید تا وقتی ارورهای کامپایلر و خطاهای مرزی را خودتان رفع نکنید، آن راه‌حل در حافظه شما تثبیت نمی‌شود.</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مسئله‌ای که ۲ ماه پیش حل کردید اگر مرور نشده باشد، در روز ارزیابی دقیقاً مثل روز اول شما را زمین خواهد زد.</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اگر سر سینتکس باینری سرچ یا پیمایش درخت دستپاچه شوید، دیگر توانی برای حل معمای اصلی مسئله باقی نمی‌ماند.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برای حضار توضیح دهید چرا زمان را با ثانیه نمی‌سنجیم (تفاوت سخت‌افزارها و زبان‌ها). مثال دفترچه تلفن، مرتب‌سازی و قانون ۱۰ به توان ۸ برای عبور از تست‌های لیت‌کد را باز کنید.</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داستان Two Pointers را برای حضار تعریف کنید. نشان دهید که چطور درک چرایی باعث می‌شود در برابر سوالات غافلگیرکننده پرسشگر ایمن شوند.</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تایپ زودهنگام ذهن را در سینتکس و ارورهای ادیتور اسیر می‌کند. ابتدا معمای روی کاغذ را حل کنید، سپس تایپ کنید.</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دو مسیر رسمی لیت‌کد را معرفی کنید: LeetCode 75 برای شروع سریع، و Top Interview 150 برای آمادگی همه‌جانبه.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نقطه عطف ارائه: تغییر پارادایم از نگاه به آینده به حافظه گذشته. توضیح دهید چطور با یک سوال ساده «چرا؟» الگوریتم متحول شد.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بسیاری از داوطلبان به خاطر استرس و هول شدن در جلسه ارزیابی آسیب می‌بینند. داشتن این چک‌لیست ذهن را منظم و آرام نگه می‌دارد. در اسلاید بعد این مراحل را روی Two Sum پیاده می‌کنیم.</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Sum بهترین نمونه برای نمایش قدرت تفکر الگوریتمی و معجزه Trade-off فضا در برابر زمان است.</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نشان دهید چگونه تریس Brute Force روی کاغذ با شمارش ۱۱ مقایسه، زمینه ذهنی حضار را برای تحلیل کد این روش و سپس درک ضرورت جهش به سمت Hash Map فراهم می‌سازد.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همیشه در جلسه ارزیابی ابتدا راه‌حل خام را توضیح دهید تا نشان دهید مسئله را متوجه شده‌اید و می‌توانید ضعف آن را نقد کنید.</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خط به خط کد کاتلین را توضیح دهید و نشان دهید چقدر تمیز، ایمن و فشرده است.</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لینک مسئله: https://leetcode.com/problems/two-sum/description/  -- شبیه‌ساز تک‌باکسی با تمرکز بر متغیرهای کلیدی و پایش وضعیت حافظه Hash Map در زمان O(1).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تفاوت کلیدی با Two Sum اول در مرتب بودن آرایه و قید سخت‌گیرانه حافظه O(1) است.</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در جلسه ارزیابی نشان دهید که چرا روش‌های اولیه شکست می‌خورند و چطور قید حافظه O(1) ما را به Two Pointers هدایت می‌کند.</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شهود ریاضی حرکت نشانگرها را روی کاغذ نشان دهید و اثبات کنید چرا هیچ پاسخی از دست نمی‌رود.</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کد کاتلین را خط به خط تشریح کنید و تأکید کنید که چقدر ساختار when خوانا و مطمئن است.</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لینک مسئله: https://leetcode.com/problems/two-sum-ii-input-array-is-sorted/description/  -- در این شبیه‌ساز نشان دهید که چطور مقایسه currentSum با target به تصمیم قطعی حرکت یکی از دو نشانگر می‌انجامد.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مسئله 3Sum آزمون سنجش عیار مهندسی است زیرا مدیریت بدون باگ تکرارها نیاز به دقت دارد.</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کالبدشکافی کنید که چرا رویکرد ۳ حلقه و Set در جلسات ارزیابی مردود است و کاهش مسئله چقدر ظریف و قدرتمند عمل می‌کند.</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نشان دهید که چطور 3Sum با تثبیت عنصر اول به Two Sum II کاهش پیدا می‌کند.</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کد کاتلین را گام به گام توضیح دهید و تأکید کنید که چقدر پیاده‌سازی تمیز و حرفه‌ای است.</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لینک مسئله: https://leetcode.com/problems/3sum/description/  -- شبیه‌سازی گام‌به‌گام کاهش مسئله 3Sum و نحوه خروج زودهنگام و پرش‌های بدون هزینه حافظه.</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بیان مسئله همگام‌سازی State در CardStack از پروژه سپینو با Jetpack Compose.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کد غیربهینه اولیه که در نگاه اول شیک است اما در پس‌زمینه جستجوی خطی تودرتو انجام می‌دهد.</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بررسی فنی علت افت فریم و نقض بودجه ۱۶ میلی‌ثانیه‌ای در اثر اجرای الگوریتم O(N²).</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پیاده‌سازی بهینه با toSet() و توضیح تفاوت جستجوی O(1) در جدول هش با جستجوی خطی در لیست.</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ارائه را با انرژی مثبت تمام کنید و حضار را تشویق کنید که همین امروز اولین مسئله را حل کنند.</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پاسخ به سوالات متداول: بهترین زبان (کاتلین / پایتون)، تعداد مسئله کافی (۷۵ تا ۱۰۰ مسئله عمیق).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097280"/>
            <a:ext cx="9418320" cy="4572000"/>
          </a:xfrm>
          <a:prstGeom prst="rect">
            <a:avLst/>
          </a:prstGeom>
          <a:noFill/>
        </p:spPr>
        <p:txBody>
          <a:bodyPr wrap="square">
            <a:spAutoFit/>
          </a:bodyPr>
          <a:lstStyle/>
          <a:p>
            <a:pPr algn="ctr">
              <a:defRPr sz="1400" b="1">
                <a:solidFill>
                  <a:srgbClr val="4ECCA3"/>
                </a:solidFill>
              </a:defRPr>
            </a:pPr>
            <a:r>
              <a:t>ارائه تخصصی جلسات ارزیابی فنی · ALGORITHMIC PROBLEM SOLVING</a:t>
            </a:r>
          </a:p>
          <a:p>
            <a:pPr algn="ctr">
              <a:defRPr sz="4400" b="1">
                <a:solidFill>
                  <a:srgbClr val="DDE1F5"/>
                </a:solidFill>
              </a:defRPr>
            </a:pPr>
            <a:r>
              <a:t>راهنمای جامع شروع LeetCode</a:t>
            </a:r>
          </a:p>
          <a:p>
            <a:pPr algn="ctr">
              <a:defRPr sz="2000">
                <a:solidFill>
                  <a:srgbClr val="969EB4"/>
                </a:solidFill>
              </a:defRPr>
            </a:pPr>
            <a:r>
              <a:t>چرا لیت‌کد ضروری است؟ چگونه اصولی مطالعه کنیم و حل عملی اولین مسئله</a:t>
            </a:r>
          </a:p>
          <a:p>
            <a:br/>
            <a:pPr algn="ctr">
              <a:defRPr sz="1800" b="1">
                <a:solidFill>
                  <a:srgbClr val="7C8FF5"/>
                </a:solidFill>
              </a:defRPr>
            </a:pPr>
            <a:r>
              <a:t>Milad Faridnia · ارائه‌دهنده</a:t>
            </a:r>
          </a:p>
          <a:p>
            <a:pPr algn="ctr">
              <a:defRPr sz="1400">
                <a:solidFill>
                  <a:srgbClr val="E9A84C"/>
                </a:solidFill>
              </a:defRPr>
            </a:pPr>
            <a:r>
              <a:t>تفکر الگوریتمی · متدولوژی مطالعه · حل عملی Two Sum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ضرورت · WHY LEETCODE  |  چرا لیت‌کد؟ ضرورت و واقعیت بازار کار</a:t>
            </a:r>
          </a:p>
          <a:p>
            <a:pPr>
              <a:defRPr sz="1400">
                <a:solidFill>
                  <a:srgbClr val="969EB4"/>
                </a:solidFill>
              </a:defRPr>
            </a:pPr>
            <a:r>
              <a:t>امروزه LeetCode به زبان استاندارد ارزیابی مهندسان در شرکت‌های معتبر تبدیل شده است.</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۱. مدیریت فشار و ابهام</a:t>
            </a:r>
          </a:p>
          <a:p>
            <a:pPr>
              <a:defRPr sz="1100">
                <a:solidFill>
                  <a:srgbClr val="DDE1F5"/>
                </a:solidFill>
              </a:defRPr>
            </a:pPr>
            <a:r>
              <a:t>سنجش تفکر ساختاریافته و توانایی شکستن مسئله در شرایط پرفشار جلسه ارزیابی.</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کشف Edge Cases</a:t>
            </a:r>
          </a:p>
          <a:p>
            <a:pPr>
              <a:defRPr sz="1100">
                <a:solidFill>
                  <a:srgbClr val="DDE1F5"/>
                </a:solidFill>
              </a:defRPr>
            </a:pPr>
            <a:r>
              <a:t>پیش‌بینی پیش‌دستانه ورودی‌های خالی، مقادیر منفی و اعداد تکراری قبل از کدنویسی.</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ارزیابی Trade-offs</a:t>
            </a:r>
          </a:p>
          <a:p>
            <a:pPr>
              <a:defRPr sz="1100">
                <a:solidFill>
                  <a:srgbClr val="DDE1F5"/>
                </a:solidFill>
              </a:defRPr>
            </a:pPr>
            <a:r>
              <a:t>تحلیل هوشمندانه توازن بین زمان اجرا (Time) و مصرف حافظه (Space).</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استانداردهای Clean Code</a:t>
            </a:r>
          </a:p>
          <a:p>
            <a:pPr>
              <a:defRPr sz="1100">
                <a:solidFill>
                  <a:srgbClr val="DDE1F5"/>
                </a:solidFill>
              </a:defRPr>
            </a:pPr>
            <a:r>
              <a:t>نوشتن کدی خوانا، ماژولار و قابل دفاع در محیط تیمی.</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«هیچ‌کس به دنبال یادگیری سینتکس زبان نیست؛ نحوه رویارویی شما با مسائل مبهم معیار اصلی ارزیابی است.»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تغییر نگرش · MINDSET  |  افسانه‌زدایی: لیت‌کد آزمون هوش نیست!</a:t>
            </a:r>
          </a:p>
          <a:p>
            <a:pPr>
              <a:defRPr sz="1400">
                <a:solidFill>
                  <a:srgbClr val="969EB4"/>
                </a:solidFill>
              </a:defRPr>
            </a:pPr>
            <a:r>
              <a:t>بزرگ‌ترین مانع در شروع لیت‌کد، باورهای بازدارنده ذهنی است.</a:t>
            </a:r>
          </a:p>
        </p:txBody>
      </p:sp>
      <p:sp>
        <p:nvSpPr>
          <p:cNvPr id="4" name="Rounded Rectangle 3"/>
          <p:cNvSpPr/>
          <p:nvPr/>
        </p:nvSpPr>
        <p:spPr>
          <a:xfrm>
            <a:off x="731520" y="146304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باور نادرست و بازدارنده</a:t>
            </a:r>
          </a:p>
          <a:p>
            <a:pPr>
              <a:defRPr sz="1100">
                <a:solidFill>
                  <a:srgbClr val="DDE1F5"/>
                </a:solidFill>
              </a:defRPr>
            </a:pPr>
            <a:r>
              <a:t>«برای لیت‌کد باید نابغه ریاضی یا مدال‌آور المپیاد بود. اگر نتوانستم مسئله‌ای را حل کنم یعنی برنامه‌نویس خوبی نیستم.»</a:t>
            </a:r>
          </a:p>
        </p:txBody>
      </p:sp>
      <p:sp>
        <p:nvSpPr>
          <p:cNvPr id="5" name="Rounded Rectangle 4"/>
          <p:cNvSpPr/>
          <p:nvPr/>
        </p:nvSpPr>
        <p:spPr>
          <a:xfrm>
            <a:off x="6217920" y="146304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واقعیت علمی و روان‌شناختی</a:t>
            </a:r>
          </a:p>
          <a:p>
            <a:pPr>
              <a:defRPr sz="1100">
                <a:solidFill>
                  <a:srgbClr val="DDE1F5"/>
                </a:solidFill>
              </a:defRPr>
            </a:pPr>
            <a:r>
              <a:t>«لیت‌کد مهارتی کاملاً اکتسابی (Learnable Skill) مبتنی بر شناسایی الگوها (Pattern Recognition) است، درست مثل یادگیری پیانو.»</a:t>
            </a:r>
          </a:p>
        </p:txBody>
      </p:sp>
      <p:sp>
        <p:nvSpPr>
          <p:cNvPr id="6" name="TextBox 5"/>
          <p:cNvSpPr txBox="1"/>
          <p:nvPr/>
        </p:nvSpPr>
        <p:spPr>
          <a:xfrm>
            <a:off x="731520" y="3291840"/>
            <a:ext cx="10698480" cy="1463040"/>
          </a:xfrm>
          <a:prstGeom prst="rect">
            <a:avLst/>
          </a:prstGeom>
          <a:noFill/>
        </p:spPr>
        <p:txBody>
          <a:bodyPr wrap="square">
            <a:spAutoFit/>
          </a:bodyPr>
          <a:lstStyle/>
          <a:p>
            <a:pPr>
              <a:defRPr sz="1300">
                <a:solidFill>
                  <a:srgbClr val="DDE1F5"/>
                </a:solidFill>
              </a:defRPr>
            </a:pPr>
            <a:r>
              <a:t>• فاز ۱ (شوک اولیه): احساس سردرگمی در اولین مسائل Easy کاملاً طبیعی است.</a:t>
            </a:r>
          </a:p>
          <a:p>
            <a:pPr>
              <a:defRPr sz="1300">
                <a:solidFill>
                  <a:srgbClr val="DDE1F5"/>
                </a:solidFill>
              </a:defRPr>
            </a:pPr>
            <a:r>
              <a:t>• فاز ۲ (کشف الگوها): با حل عمیق ۲۰ تا ۳۰ مسئله، شباهت ساختارها آشکار می‌شود.</a:t>
            </a:r>
          </a:p>
          <a:p>
            <a:pPr>
              <a:defRPr sz="1300">
                <a:solidFill>
                  <a:srgbClr val="DDE1F5"/>
                </a:solidFill>
              </a:defRPr>
            </a:pPr>
            <a:r>
              <a:t>• فاز ۳ (شهود و تسلط): نگاه به صورت مسئله بلافاصله ساختار داده مناسب را در ذهن ترسیم می‌کند.</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اصل ۱ · ACTIVE CODING  |  اصل اول: فراتر از فقط خواندن راه‌حل‌ها بروید</a:t>
            </a:r>
          </a:p>
          <a:p>
            <a:pPr>
              <a:defRPr sz="1400">
                <a:solidFill>
                  <a:srgbClr val="969EB4"/>
                </a:solidFill>
              </a:defRPr>
            </a:pPr>
            <a:r>
              <a:t>دام بزرگ: توهم دانایی (Illusion of Competence) با دیدن ویدیوهای آموزشی.</a:t>
            </a:r>
          </a:p>
        </p:txBody>
      </p:sp>
      <p:sp>
        <p:nvSpPr>
          <p:cNvPr id="4" name="Rounded Rectangle 3"/>
          <p:cNvSpPr/>
          <p:nvPr/>
        </p:nvSpPr>
        <p:spPr>
          <a:xfrm>
            <a:off x="731520" y="146304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رویکرد منفعل (Passive)</a:t>
            </a:r>
          </a:p>
          <a:p>
            <a:pPr>
              <a:defRPr sz="1100">
                <a:solidFill>
                  <a:srgbClr val="DDE1F5"/>
                </a:solidFill>
              </a:defRPr>
            </a:pPr>
            <a:r>
              <a:t>تماشای حل مسئله در یوتیوب یا خواندن راه‌حل و گفتن «آها، فهمیدم!»؛ اما قفل شدن دست‌ها روی صفحه خالی.</a:t>
            </a:r>
          </a:p>
        </p:txBody>
      </p:sp>
      <p:sp>
        <p:nvSpPr>
          <p:cNvPr id="5" name="Rounded Rectangle 4"/>
          <p:cNvSpPr/>
          <p:nvPr/>
        </p:nvSpPr>
        <p:spPr>
          <a:xfrm>
            <a:off x="6217920" y="146304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رویکرد فعال (Active)</a:t>
            </a:r>
          </a:p>
          <a:p>
            <a:pPr>
              <a:defRPr sz="1100">
                <a:solidFill>
                  <a:srgbClr val="DDE1F5"/>
                </a:solidFill>
              </a:defRPr>
            </a:pPr>
            <a:r>
              <a:t>بستن تمام تب‌ها، باز کردن ادیتور خالی و پیاده‌سازی مستقل خط به خط کد تا رسیدن به وضعیت Accepted.</a:t>
            </a:r>
          </a:p>
        </p:txBody>
      </p:sp>
      <p:sp>
        <p:nvSpPr>
          <p:cNvPr id="6" name="TextBox 5"/>
          <p:cNvSpPr txBox="1"/>
          <p:nvPr/>
        </p:nvSpPr>
        <p:spPr>
          <a:xfrm>
            <a:off x="731520" y="3291840"/>
            <a:ext cx="10698480" cy="1463040"/>
          </a:xfrm>
          <a:prstGeom prst="rect">
            <a:avLst/>
          </a:prstGeom>
          <a:noFill/>
        </p:spPr>
        <p:txBody>
          <a:bodyPr wrap="square">
            <a:spAutoFit/>
          </a:bodyPr>
          <a:lstStyle/>
          <a:p>
            <a:pPr>
              <a:defRPr sz="1300">
                <a:solidFill>
                  <a:srgbClr val="DDE1F5"/>
                </a:solidFill>
              </a:defRPr>
            </a:pPr>
            <a:r>
              <a:t>• قانون ۲۵ دقیقه: ۲۰ تا ۲۵ دقیقه تلاش انفرادی متمرکز روی کاغذ و ادیتور.</a:t>
            </a:r>
          </a:p>
          <a:p>
            <a:pPr>
              <a:defRPr sz="1300">
                <a:solidFill>
                  <a:srgbClr val="DDE1F5"/>
                </a:solidFill>
              </a:defRPr>
            </a:pPr>
            <a:r>
              <a:t>• در صورت بن‌بست: فقط یک هینت یا ۲ دقیقه از ویدیو را برای درک ایده اصلی ببینید.</a:t>
            </a:r>
          </a:p>
          <a:p>
            <a:pPr>
              <a:defRPr sz="1300">
                <a:solidFill>
                  <a:srgbClr val="DDE1F5"/>
                </a:solidFill>
              </a:defRPr>
            </a:pPr>
            <a:r>
              <a:t>• قانون صفحه خالی: تب را کامل ببندید، ۱۵ دقیقه استراحت کنید، سپس از صفر کد بزنید.</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اصل ۲ · REPETITION  |  اصل دوم: قدرت تکرار فاصله‌دار (Spaced Repetition)</a:t>
            </a:r>
          </a:p>
          <a:p>
            <a:pPr>
              <a:defRPr sz="1400">
                <a:solidFill>
                  <a:srgbClr val="969EB4"/>
                </a:solidFill>
              </a:defRPr>
            </a:pPr>
            <a:r>
              <a:t>مسئله لیت‌کد یک‌بار حل‌شدنی نیست؛ حافظه انسان الگوها را فراموش می‌کند.</a:t>
            </a:r>
          </a:p>
        </p:txBody>
      </p:sp>
      <p:sp>
        <p:nvSpPr>
          <p:cNvPr id="4" name="Rounded Rectangle 3"/>
          <p:cNvSpPr/>
          <p:nvPr/>
        </p:nvSpPr>
        <p:spPr>
          <a:xfrm>
            <a:off x="731520" y="1463040"/>
            <a:ext cx="3413759"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مرور اول: ۳ روز بعد</a:t>
            </a:r>
          </a:p>
          <a:p>
            <a:pPr>
              <a:defRPr sz="1100">
                <a:solidFill>
                  <a:srgbClr val="DDE1F5"/>
                </a:solidFill>
              </a:defRPr>
            </a:pPr>
            <a:r>
              <a:t>تست یادآوری ایده اصلی و ساختار داده بدون نگاه به راه‌حل قبلی.</a:t>
            </a:r>
          </a:p>
        </p:txBody>
      </p:sp>
      <p:sp>
        <p:nvSpPr>
          <p:cNvPr id="5" name="Rounded Rectangle 4"/>
          <p:cNvSpPr/>
          <p:nvPr/>
        </p:nvSpPr>
        <p:spPr>
          <a:xfrm>
            <a:off x="4373880" y="1463040"/>
            <a:ext cx="3413759"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مرور دوم: ۱ هفته بعد</a:t>
            </a:r>
          </a:p>
          <a:p>
            <a:pPr>
              <a:defRPr sz="1100">
                <a:solidFill>
                  <a:srgbClr val="DDE1F5"/>
                </a:solidFill>
              </a:defRPr>
            </a:pPr>
            <a:r>
              <a:t>حل کامل و مستقل مسئله روی صفحه خالی با هدف افزایش سرعت زیر ۱۵ دقیقه.</a:t>
            </a:r>
          </a:p>
        </p:txBody>
      </p:sp>
      <p:sp>
        <p:nvSpPr>
          <p:cNvPr id="6" name="Rounded Rectangle 5"/>
          <p:cNvSpPr/>
          <p:nvPr/>
        </p:nvSpPr>
        <p:spPr>
          <a:xfrm>
            <a:off x="8016239" y="1463040"/>
            <a:ext cx="3413759"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مرور سوم: ۳ هفته بعد</a:t>
            </a:r>
          </a:p>
          <a:p>
            <a:pPr>
              <a:defRPr sz="1100">
                <a:solidFill>
                  <a:srgbClr val="DDE1F5"/>
                </a:solidFill>
              </a:defRPr>
            </a:pPr>
            <a:r>
              <a:t>تثبیت نهایی در حافظه بلندمدت با تست دستی موارد مرزی و تحلیل پیچیدگی.</a:t>
            </a:r>
          </a:p>
        </p:txBody>
      </p:sp>
      <p:sp>
        <p:nvSpPr>
          <p:cNvPr id="7" name="TextBox 6"/>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سیستم برچسب‌گذاری: 🔴 نیاز به مرور فوری | 🟡 در حال یادگیری | 🟢 ملکه ذهن شده</a:t>
            </a:r>
          </a:p>
          <a:p>
            <a:pPr>
              <a:defRPr sz="1300">
                <a:solidFill>
                  <a:srgbClr val="DDE1F5"/>
                </a:solidFill>
              </a:defRPr>
            </a:pPr>
            <a:r>
              <a:t>• ثبت تاریخچه مرور در اکسل، Notion یا اپلیکیشن‌های مرور فاصله‌دار (مانند Anki).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اصل ۳ · CORE PATTERNS  |  اصل سوم: تسلط برق‌آسا بر الگوریتم‌ها و ساختارهای پایه</a:t>
            </a:r>
          </a:p>
          <a:p>
            <a:pPr>
              <a:defRPr sz="1400">
                <a:solidFill>
                  <a:srgbClr val="969EB4"/>
                </a:solidFill>
              </a:defRPr>
            </a:pPr>
            <a:r>
              <a:t>اشتباه رایج: حل تصادفی ۴۰۰ مسئله بدون تسلط بر الفبای بنیادین!</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۱. Binary Search</a:t>
            </a:r>
          </a:p>
          <a:p>
            <a:pPr>
              <a:defRPr sz="1100">
                <a:solidFill>
                  <a:srgbClr val="DDE1F5"/>
                </a:solidFill>
              </a:defRPr>
            </a:pPr>
            <a:r>
              <a:t>جستجوی لگاریتمی O(log n)، مدیریت دقیق شرط low &lt;= high و حرکت مرزها.</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Two Pointers &amp; Window</a:t>
            </a:r>
          </a:p>
          <a:p>
            <a:pPr>
              <a:defRPr sz="1100">
                <a:solidFill>
                  <a:srgbClr val="DDE1F5"/>
                </a:solidFill>
              </a:defRPr>
            </a:pPr>
            <a:r>
              <a:t>تکنیک پنجره لغزان پویا، جستجو در آرایه و حذف حلقه‌های تودرتو.</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DFS &amp; BFS</a:t>
            </a:r>
          </a:p>
          <a:p>
            <a:pPr>
              <a:defRPr sz="1100">
                <a:solidFill>
                  <a:srgbClr val="DDE1F5"/>
                </a:solidFill>
              </a:defRPr>
            </a:pPr>
            <a:r>
              <a:t>پیمایش پشته‌ای (عمقی) و صفی (سطحی) برای درخت‌ها، گراف‌ها و ماتریس‌ها.</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Hash Map &amp; Set</a:t>
            </a:r>
          </a:p>
          <a:p>
            <a:pPr>
              <a:defRPr sz="1100">
                <a:solidFill>
                  <a:srgbClr val="DDE1F5"/>
                </a:solidFill>
              </a:defRPr>
            </a:pPr>
            <a:r>
              <a:t>جستجو و درج با میانگین زمانی O(1)؛ ابزار طلایی Trade-off حافظه در برابر زمان.</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«وقتی پیاده‌سازی الگوهای پایه زیر ۳ دقیقه باشد، ۱۰۰٪ توان پردازش مغز صرف منطق چالش‌برانگیز مسئله Medium/Hard می‌شود.»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تحلیل کارایی · TIME COMPLEXITY  |  مفهوم کلیدی: پیچیدگی زمانی (Big-O) و تحلیل کارایی</a:t>
            </a:r>
          </a:p>
          <a:p>
            <a:pPr>
              <a:defRPr sz="1400">
                <a:solidFill>
                  <a:srgbClr val="969EB4"/>
                </a:solidFill>
              </a:defRPr>
            </a:pPr>
            <a:r>
              <a:t>پیچیدگی زمانی نرخ رشد عملیات با بزرگ شدن اندازه ورودی (n) است، نه ثانیه‌شماری با کرونومتر.</a:t>
            </a:r>
          </a:p>
        </p:txBody>
      </p:sp>
      <p:sp>
        <p:nvSpPr>
          <p:cNvPr id="4" name="Rounded Rectangle 3"/>
          <p:cNvSpPr/>
          <p:nvPr/>
        </p:nvSpPr>
        <p:spPr>
          <a:xfrm>
            <a:off x="731520" y="1463040"/>
            <a:ext cx="1956815"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۱. O(1) · ثابت</a:t>
            </a:r>
          </a:p>
          <a:p>
            <a:pPr>
              <a:defRPr sz="1100">
                <a:solidFill>
                  <a:srgbClr val="DDE1F5"/>
                </a:solidFill>
              </a:defRPr>
            </a:pPr>
            <a:r>
              <a:t>دسترسی مستقیم با اندیس یا دیکشنری؛ همیشه ۱ گام.</a:t>
            </a:r>
          </a:p>
        </p:txBody>
      </p:sp>
      <p:sp>
        <p:nvSpPr>
          <p:cNvPr id="5" name="Rounded Rectangle 4"/>
          <p:cNvSpPr/>
          <p:nvPr/>
        </p:nvSpPr>
        <p:spPr>
          <a:xfrm>
            <a:off x="2916935" y="1463040"/>
            <a:ext cx="1956815"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O(log n) · لگاریتمی</a:t>
            </a:r>
          </a:p>
          <a:p>
            <a:pPr>
              <a:defRPr sz="1100">
                <a:solidFill>
                  <a:srgbClr val="DDE1F5"/>
                </a:solidFill>
              </a:defRPr>
            </a:pPr>
            <a:r>
              <a:t>جستجوی دودویی؛ نصف شدن داده‌ها (۱M ورودی ➔ ۲۰ گام!).</a:t>
            </a:r>
          </a:p>
        </p:txBody>
      </p:sp>
      <p:sp>
        <p:nvSpPr>
          <p:cNvPr id="6" name="Rounded Rectangle 5"/>
          <p:cNvSpPr/>
          <p:nvPr/>
        </p:nvSpPr>
        <p:spPr>
          <a:xfrm>
            <a:off x="5102351" y="1463040"/>
            <a:ext cx="1956815"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۳. O(n) · خطی</a:t>
            </a:r>
          </a:p>
          <a:p>
            <a:pPr>
              <a:defRPr sz="1100">
                <a:solidFill>
                  <a:srgbClr val="DDE1F5"/>
                </a:solidFill>
              </a:defRPr>
            </a:pPr>
            <a:r>
              <a:t>پیمایش ساده آرایه؛ رشد مستقیم متناسب با تعداد عناصر (n گام).</a:t>
            </a:r>
          </a:p>
        </p:txBody>
      </p:sp>
      <p:sp>
        <p:nvSpPr>
          <p:cNvPr id="7" name="Rounded Rectangle 6"/>
          <p:cNvSpPr/>
          <p:nvPr/>
        </p:nvSpPr>
        <p:spPr>
          <a:xfrm>
            <a:off x="7287767" y="1463040"/>
            <a:ext cx="1956815"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۴. O(n log n) · شبه‌خطی</a:t>
            </a:r>
          </a:p>
          <a:p>
            <a:pPr>
              <a:defRPr sz="1100">
                <a:solidFill>
                  <a:srgbClr val="DDE1F5"/>
                </a:solidFill>
              </a:defRPr>
            </a:pPr>
            <a:r>
              <a:t>مرتب‌سازی‌های بهینه (Merge Sort و .sort())؛ استاندارد پردازش.</a:t>
            </a:r>
          </a:p>
        </p:txBody>
      </p:sp>
      <p:sp>
        <p:nvSpPr>
          <p:cNvPr id="8" name="Rounded Rectangle 7"/>
          <p:cNvSpPr/>
          <p:nvPr/>
        </p:nvSpPr>
        <p:spPr>
          <a:xfrm>
            <a:off x="9473184" y="1463040"/>
            <a:ext cx="1956815"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۵. O(n²) · درجه دو</a:t>
            </a:r>
          </a:p>
          <a:p>
            <a:pPr>
              <a:defRPr sz="1100">
                <a:solidFill>
                  <a:srgbClr val="DDE1F5"/>
                </a:solidFill>
              </a:defRPr>
            </a:pPr>
            <a:r>
              <a:t>دو حلقه تودرتو (Brute Force)؛ برای ورودی بزرگ فوراً TLE می‌گیرد.</a:t>
            </a:r>
          </a:p>
        </p:txBody>
      </p:sp>
      <p:sp>
        <p:nvSpPr>
          <p:cNvPr id="9" name="TextBox 8"/>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قانون طلایی ۱۰⁸: پردازنده در ثانیه ~۱۰⁸ عملیات می‌زند. برای n=10⁵: روش O(n) در ۰.۰۰۱ ثانیه، روش O(n log n) در ۰.۰۲ ثانیه اما O(n²) در ۱۰۰ ثانیه (TLE)!</a:t>
            </a:r>
          </a:p>
          <a:p>
            <a:pPr>
              <a:defRPr sz="1300">
                <a:solidFill>
                  <a:srgbClr val="DDE1F5"/>
                </a:solidFill>
              </a:defRPr>
            </a:pPr>
            <a:r>
              <a:t>• تله ارزیابی: خروجی درست کافی نیست؛ پرسشگر حتماً می‌پرسد «Big-O چقدر است و چطور آن را بهینه می‌کنی؟»</a:t>
            </a:r>
          </a:p>
        </p:txBody>
      </p:sp>
      <p:sp>
        <p:nvSpPr>
          <p:cNvPr id="10" name="Rounded Rectangle 9"/>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«تسلط بر Big-O به شما شهود مهندسی می‌دهد تا قبل از کدنویسی بدانید کدام راه‌حل پذیرفته شده و کدام به بن‌بست می‌خورد.»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اصل ۴ · ASK WHY  |  اصل چهارم: چرایی را بپرسید، حفظ نکنید</a:t>
            </a:r>
          </a:p>
          <a:p>
            <a:pPr>
              <a:defRPr sz="1400">
                <a:solidFill>
                  <a:srgbClr val="969EB4"/>
                </a:solidFill>
              </a:defRPr>
            </a:pPr>
            <a:r>
              <a:t>مثال ملموس Two Pointers: در آرایه مرتب [1, 3, 5, 8, 12] دنبال جمع ۱۰ هستیم (مجموع فعلی 1+12=13).</a:t>
            </a:r>
          </a:p>
        </p:txBody>
      </p:sp>
      <p:sp>
        <p:nvSpPr>
          <p:cNvPr id="4" name="Rounded Rectangle 3"/>
          <p:cNvSpPr/>
          <p:nvPr/>
        </p:nvSpPr>
        <p:spPr>
          <a:xfrm>
            <a:off x="731520" y="1463040"/>
            <a:ext cx="523494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 تست تغییر صورت مسئله</a:t>
            </a:r>
          </a:p>
          <a:p>
            <a:pPr>
              <a:defRPr sz="1100">
                <a:solidFill>
                  <a:srgbClr val="DDE1F5"/>
                </a:solidFill>
              </a:defRPr>
            </a:pPr>
            <a:r>
              <a:t>پرسشگر: «اگر آرایه نزولی بود چه؟» فرد حفظ‌کننده قفل می‌کند، اما مهندس تحلیل‌گر در ۲ ثانیه جهت حرکت را برعکس می‌کند.</a:t>
            </a:r>
          </a:p>
        </p:txBody>
      </p:sp>
      <p:sp>
        <p:nvSpPr>
          <p:cNvPr id="5" name="Rounded Rectangle 4"/>
          <p:cNvSpPr/>
          <p:nvPr/>
        </p:nvSpPr>
        <p:spPr>
          <a:xfrm>
            <a:off x="6195059" y="1463040"/>
            <a:ext cx="523494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 ۳ سوال طلایی پایان هر مسئله</a:t>
            </a:r>
          </a:p>
          <a:p>
            <a:pPr>
              <a:defRPr sz="1100">
                <a:solidFill>
                  <a:srgbClr val="DDE1F5"/>
                </a:solidFill>
              </a:defRPr>
            </a:pPr>
            <a:r>
              <a:t>۱. چرا این ساختار داده؟  ۲. چرا این جهت حرکت نشانگر؟  ۳. اگر ورودی منفی یا برعکس بود چه؟</a:t>
            </a:r>
          </a:p>
        </p:txBody>
      </p:sp>
      <p:sp>
        <p:nvSpPr>
          <p:cNvPr id="6" name="Rounded Rectangle 5"/>
          <p:cNvSpPr/>
          <p:nvPr/>
        </p:nvSpPr>
        <p:spPr>
          <a:xfrm>
            <a:off x="731520" y="370332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کاندیدای حفظ‌کننده (بدون درک چرایی)</a:t>
            </a:r>
          </a:p>
          <a:p>
            <a:pPr>
              <a:defRPr sz="1100">
                <a:solidFill>
                  <a:srgbClr val="DDE1F5"/>
                </a:solidFill>
              </a:defRPr>
            </a:pPr>
            <a:r>
              <a:t>حفظ کرده: «اگر جمع بزرگ‌تر بود، راست را عقب بیاور (R--).» با پرسش «چرا؟»، دستپاچه می‌شود: «چون توی ویدیو دیدم!»</a:t>
            </a:r>
          </a:p>
        </p:txBody>
      </p:sp>
      <p:sp>
        <p:nvSpPr>
          <p:cNvPr id="7" name="Rounded Rectangle 6"/>
          <p:cNvSpPr/>
          <p:nvPr/>
        </p:nvSpPr>
        <p:spPr>
          <a:xfrm>
            <a:off x="6217920" y="370332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مهندس تحلیل‌گر (با درک منطق)</a:t>
            </a:r>
          </a:p>
          <a:p>
            <a:pPr>
              <a:defRPr sz="1100">
                <a:solidFill>
                  <a:srgbClr val="DDE1F5"/>
                </a:solidFill>
              </a:defRPr>
            </a:pPr>
            <a:r>
              <a:t>دلیل را می‌فهمد: «چون آرایه مرتب است، برای کوچک‌تر کردن جمع، تنها راه این است که بزرگ‌ترین عدد را از سمت راست کم کنیم.»</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«وقتی چرایی عملکرد یک الگوریتم را بفهمید، آن ایده برای همیشه در ذهنتان تثبیت می‌شود و هیچ سوال جدیدی شما را متوقف نمی‌کند.»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اصل ۵ · PEN &amp; PAPER  |  اصل پنجم: ابزارهای آنالوگ؛ جادوی قلم و کاغذ</a:t>
            </a:r>
          </a:p>
          <a:p>
            <a:pPr>
              <a:defRPr sz="1400">
                <a:solidFill>
                  <a:srgbClr val="969EB4"/>
                </a:solidFill>
              </a:defRPr>
            </a:pPr>
            <a:r>
              <a:t>در ۱۰ دقیقه اول مواجهه با هر مسئله، دست خود را از کیبورد دور نگه دارید!</a:t>
            </a:r>
          </a:p>
        </p:txBody>
      </p:sp>
      <p:sp>
        <p:nvSpPr>
          <p:cNvPr id="4" name="TextBox 3"/>
          <p:cNvSpPr txBox="1"/>
          <p:nvPr/>
        </p:nvSpPr>
        <p:spPr>
          <a:xfrm>
            <a:off x="731520" y="1463040"/>
            <a:ext cx="10698480" cy="1463040"/>
          </a:xfrm>
          <a:prstGeom prst="rect">
            <a:avLst/>
          </a:prstGeom>
          <a:noFill/>
        </p:spPr>
        <p:txBody>
          <a:bodyPr wrap="square">
            <a:spAutoFit/>
          </a:bodyPr>
          <a:lstStyle/>
          <a:p>
            <a:pPr>
              <a:defRPr sz="1300">
                <a:solidFill>
                  <a:srgbClr val="DDE1F5"/>
                </a:solidFill>
              </a:defRPr>
            </a:pPr>
            <a:r>
              <a:t>• رسم یک مثال کوچک و ملموس: یک آرایه ۴ عضوی روی کاغذ با اعداد واقعی بکشید.</a:t>
            </a:r>
          </a:p>
          <a:p>
            <a:pPr>
              <a:defRPr sz="1300">
                <a:solidFill>
                  <a:srgbClr val="DDE1F5"/>
                </a:solidFill>
              </a:defRPr>
            </a:pPr>
            <a:r>
              <a:t>• ردیابی دستی نشانگرها (Dry Run): متغیرها را با خودکار آپدیت کنید و گام‌به‌گام پیش بروید.</a:t>
            </a:r>
          </a:p>
          <a:p>
            <a:pPr>
              <a:defRPr sz="1300">
                <a:solidFill>
                  <a:srgbClr val="DDE1F5"/>
                </a:solidFill>
              </a:defRPr>
            </a:pPr>
            <a:r>
              <a:t>• کشف پیش‌دستانه استثناها (Edge Cases): آرایه خالی، تک‌عنصری، اعداد منفی و تکراری.</a:t>
            </a:r>
          </a:p>
        </p:txBody>
      </p:sp>
      <p:sp>
        <p:nvSpPr>
          <p:cNvPr id="5" name="Rounded Rectangle 4"/>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«کشف یک باگ منطقی روی کاغذ ۳۰ ثانیه وقت می‌برد؛ اما رفع همان باگ در کامپایلر ۲۰ دقیقه زمان می‌سوزاند.»</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نقشه راه · ROADMAP  |  نقشه راه مطالعه و ساختار جلسه تمرین</a:t>
            </a:r>
          </a:p>
          <a:p>
            <a:pPr>
              <a:defRPr sz="1400">
                <a:solidFill>
                  <a:srgbClr val="969EB4"/>
                </a:solidFill>
              </a:defRPr>
            </a:pPr>
            <a:r>
              <a:t>یک قالب استاندارد ۴۵ دقیقه‌ای برای مطالعه عمیق هر مسئله:</a:t>
            </a:r>
          </a:p>
        </p:txBody>
      </p:sp>
      <p:sp>
        <p:nvSpPr>
          <p:cNvPr id="4" name="Rounded Rectangle 3"/>
          <p:cNvSpPr/>
          <p:nvPr/>
        </p:nvSpPr>
        <p:spPr>
          <a:xfrm>
            <a:off x="731520" y="1463040"/>
            <a:ext cx="523494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LeetCode 75 (Ace 75 Qs)</a:t>
            </a:r>
          </a:p>
          <a:p>
            <a:pPr>
              <a:defRPr sz="1100">
                <a:solidFill>
                  <a:srgbClr val="DDE1F5"/>
                </a:solidFill>
              </a:defRPr>
            </a:pPr>
            <a:r>
              <a:t>بهترین شروع: ۷۵ سوال کلیدی با پوشش الگوهای اصلی بدون غرق شدن در تکرار.</a:t>
            </a:r>
          </a:p>
        </p:txBody>
      </p:sp>
      <p:sp>
        <p:nvSpPr>
          <p:cNvPr id="5" name="Rounded Rectangle 4"/>
          <p:cNvSpPr/>
          <p:nvPr/>
        </p:nvSpPr>
        <p:spPr>
          <a:xfrm>
            <a:off x="6195059" y="1463040"/>
            <a:ext cx="523494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Top Interview 150</a:t>
            </a:r>
          </a:p>
          <a:p>
            <a:pPr>
              <a:defRPr sz="1100">
                <a:solidFill>
                  <a:srgbClr val="DDE1F5"/>
                </a:solidFill>
              </a:defRPr>
            </a:pPr>
            <a:r>
              <a:t>جامع‌ترین پکیج: ۱۵۰ سوال حیاتی برای آمادگی ارزیابی شرکت‌های برتر تکنولوژی.</a:t>
            </a:r>
          </a:p>
        </p:txBody>
      </p:sp>
      <p:sp>
        <p:nvSpPr>
          <p:cNvPr id="6" name="TextBox 5"/>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قالب ۴۵ دقیقه‌ای: ۵ دقیقه فهم | ۱۰ دقیقه کاغذ و قلم | ۱۵ دقیقه کدنویسی | ۱۰ دقیقه تست | ۵ دقیقه ثبت مرور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جهش بهینه · BREAKTHROUGH  |  جهش بهینه و کشف Hash Map با پرسیدن «چرا؟»</a:t>
            </a:r>
          </a:p>
          <a:p>
            <a:pPr>
              <a:defRPr sz="1400">
                <a:solidFill>
                  <a:srgbClr val="969EB4"/>
                </a:solidFill>
              </a:defRPr>
            </a:pPr>
            <a:r>
              <a:t>تحلیل ریشه‌ای گلوگاه زمانی روش‌های خام و تغییر پارادایم به حافظه گذشته (Look-Behind):</a:t>
            </a:r>
          </a:p>
        </p:txBody>
      </p:sp>
      <p:sp>
        <p:nvSpPr>
          <p:cNvPr id="4" name="Rounded Rectangle 3"/>
          <p:cNvSpPr/>
          <p:nvPr/>
        </p:nvSpPr>
        <p:spPr>
          <a:xfrm>
            <a:off x="731520" y="146304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گلوگاه روش‌های مستقیم (نگاه به آینده)</a:t>
            </a:r>
          </a:p>
          <a:p>
            <a:pPr>
              <a:defRPr sz="1100">
                <a:solidFill>
                  <a:srgbClr val="DDE1F5"/>
                </a:solidFill>
              </a:defRPr>
            </a:pPr>
            <a:r>
              <a:t>در هر عنصر می‌ایستیم و تمام بقیه آرایه را با حلقه دوم جستجوی خطی O(n) شخم می‌زنیم. برای ۱۰,۰۰۰ ورودی: ۵۰ میلیون عملیات و خطای قطعی TLE!</a:t>
            </a:r>
          </a:p>
        </p:txBody>
      </p:sp>
      <p:sp>
        <p:nvSpPr>
          <p:cNvPr id="5" name="Rounded Rectangle 4"/>
          <p:cNvSpPr/>
          <p:nvPr/>
        </p:nvSpPr>
        <p:spPr>
          <a:xfrm>
            <a:off x="6217920" y="146304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تغییر پارادایم با پرسیدن «چرا؟» (حافظه گذشته)</a:t>
            </a:r>
          </a:p>
          <a:p>
            <a:pPr>
              <a:defRPr sz="1100">
                <a:solidFill>
                  <a:srgbClr val="DDE1F5"/>
                </a:solidFill>
              </a:defRPr>
            </a:pPr>
            <a:r>
              <a:t>به جای شخم زدن آینده، یک «دفترچه یادداشت گذشته (Seen Map)» می‌سازیم. در هر خانه می‌پرسیم: «آیا مکمل من قبلاً گذشته و ثبت شده است؟»</a:t>
            </a:r>
          </a:p>
        </p:txBody>
      </p:sp>
      <p:sp>
        <p:nvSpPr>
          <p:cNvPr id="6" name="TextBox 5"/>
          <p:cNvSpPr txBox="1"/>
          <p:nvPr/>
        </p:nvSpPr>
        <p:spPr>
          <a:xfrm>
            <a:off x="731520" y="3291840"/>
            <a:ext cx="10698480" cy="1463040"/>
          </a:xfrm>
          <a:prstGeom prst="rect">
            <a:avLst/>
          </a:prstGeom>
          <a:noFill/>
        </p:spPr>
        <p:txBody>
          <a:bodyPr wrap="square">
            <a:spAutoFit/>
          </a:bodyPr>
          <a:lstStyle/>
          <a:p>
            <a:pPr>
              <a:defRPr sz="1300">
                <a:solidFill>
                  <a:srgbClr val="DDE1F5"/>
                </a:solidFill>
              </a:defRPr>
            </a:pPr>
            <a:r>
              <a:t>• چرا Hash Map معجزه می‌کند؟ تابع هش کلید (عدد) را مستقیماً به نشانی حافظه نگاشت می‌کند؛ لذا استعلام «آیا این عدد هست؟» در میانگین زمان O(1) انجام می‌شود!</a:t>
            </a:r>
          </a:p>
          <a:p>
            <a:pPr>
              <a:defRPr sz="1300">
                <a:solidFill>
                  <a:srgbClr val="DDE1F5"/>
                </a:solidFill>
              </a:defRPr>
            </a:pPr>
            <a:r>
              <a:t>• اصل Space-Time Tradeoff: ما با صرف کمی حافظه کمکی O(n)، زمان اجرای الگوریتم را از O(n²) فاجعه‌بار به O(n) خطی و برق‌آسا می‌رسانیم.</a:t>
            </a:r>
          </a:p>
        </p:txBody>
      </p:sp>
      <p:sp>
        <p:nvSpPr>
          <p:cNvPr id="7" name="Rounded Rectangle 6"/>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«پرسشگر به دنبال دیدن این بلوغ مهندسی است: توانایی تصمیم‌گیری درباره دادوستد فضا در برابر زمان.»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جلسه ارزیابی · EVALUATION CHECKLIST  |  چک‌لیست طلایی جلسه ارزیابی واقعی</a:t>
            </a:r>
          </a:p>
          <a:p>
            <a:pPr>
              <a:defRPr sz="1400">
                <a:solidFill>
                  <a:srgbClr val="969EB4"/>
                </a:solidFill>
              </a:defRPr>
            </a:pPr>
            <a:r>
              <a:t>پروتکل ۵ مرحله‌ای برای مدیریت جلسه ارزیابی ۴۵ دقیقه‌ای:</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۱. Clarification (۵ دقیقه)</a:t>
            </a:r>
          </a:p>
          <a:p>
            <a:pPr>
              <a:defRPr sz="1100">
                <a:solidFill>
                  <a:srgbClr val="DDE1F5"/>
                </a:solidFill>
              </a:defRPr>
            </a:pPr>
            <a:r>
              <a:t>پرسش‌های دقیق از پرسشگر: آرایه مرتب است؟ اعداد منفی داریم؟ اگر جوابی نبود چه برگردانم؟</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Whiteboard / Trace (۵ دقیقه)</a:t>
            </a:r>
          </a:p>
          <a:p>
            <a:pPr>
              <a:defRPr sz="1100">
                <a:solidFill>
                  <a:srgbClr val="DDE1F5"/>
                </a:solidFill>
              </a:defRPr>
            </a:pPr>
            <a:r>
              <a:t>رسم مثال تستی روی وایت‌برد و تریس دستی فرآیند با صدای بلند برای پرسشگر.</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Brute Force (۵ دقیقه)</a:t>
            </a:r>
          </a:p>
          <a:p>
            <a:pPr>
              <a:defRPr sz="1100">
                <a:solidFill>
                  <a:srgbClr val="DDE1F5"/>
                </a:solidFill>
              </a:defRPr>
            </a:pPr>
            <a:r>
              <a:t>بیان راه‌حل اولیه خام، نقد پیچیدگی O(n²) آن و پیشنهاد استفاده از Hash Map.</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Clean Code &amp; Dry Run (۲۵ دقیقه)</a:t>
            </a:r>
          </a:p>
          <a:p>
            <a:pPr>
              <a:defRPr sz="1100">
                <a:solidFill>
                  <a:srgbClr val="DDE1F5"/>
                </a:solidFill>
              </a:defRPr>
            </a:pPr>
            <a:r>
              <a:t>کدنویسی تمیز و اجرای خط‌به‌خط تست با پرسشگر برای رفع باگ‌های مرزی.</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«همیشه با صدای بلند فکر کنید (Think Out Loud)؛ پرسشگر به مسیر استدلال شما نمره می‌دهد، نه سکوت شما.»</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مسئله نمونه · LEETCODE #1  |  ورود به فاز عملی: حل مسئله Two Sum (LeetCode #1)</a:t>
            </a:r>
          </a:p>
          <a:p>
            <a:pPr>
              <a:defRPr sz="1400">
                <a:solidFill>
                  <a:srgbClr val="969EB4"/>
                </a:solidFill>
              </a:defRPr>
            </a:pPr>
            <a:r>
              <a:t>اولین مسئله در هر دو لیست رسمی LeetCode 75 و Top Interview 150:</a:t>
            </a:r>
          </a:p>
        </p:txBody>
      </p:sp>
      <p:sp>
        <p:nvSpPr>
          <p:cNvPr id="4" name="TextBox 3"/>
          <p:cNvSpPr txBox="1"/>
          <p:nvPr/>
        </p:nvSpPr>
        <p:spPr>
          <a:xfrm>
            <a:off x="731520" y="1463040"/>
            <a:ext cx="10698480" cy="1463040"/>
          </a:xfrm>
          <a:prstGeom prst="rect">
            <a:avLst/>
          </a:prstGeom>
          <a:noFill/>
        </p:spPr>
        <p:txBody>
          <a:bodyPr wrap="square">
            <a:spAutoFit/>
          </a:bodyPr>
          <a:lstStyle/>
          <a:p>
            <a:pPr>
              <a:defRPr sz="1300">
                <a:solidFill>
                  <a:srgbClr val="DDE1F5"/>
                </a:solidFill>
              </a:defRPr>
            </a:pPr>
            <a:r>
              <a:t>• صورت مسئله: داده شدن آرایه nums و عدد target؛ پیدا کردن اندیس ۲ عددی که جمعشان target شود.</a:t>
            </a:r>
          </a:p>
          <a:p>
            <a:pPr>
              <a:defRPr sz="1300">
                <a:solidFill>
                  <a:srgbClr val="DDE1F5"/>
                </a:solidFill>
              </a:defRPr>
            </a:pPr>
            <a:r>
              <a:t>• قید ۱: دقیقاً یک پاسخ معتبر وجود دارد (Exactly one valid answer).</a:t>
            </a:r>
          </a:p>
          <a:p>
            <a:pPr>
              <a:defRPr sz="1300">
                <a:solidFill>
                  <a:srgbClr val="DDE1F5"/>
                </a:solidFill>
              </a:defRPr>
            </a:pPr>
            <a:r>
              <a:t>• قید ۲: نمی‌توان از یک خانه آرایه دو بار استفاده کرد.</a:t>
            </a:r>
          </a:p>
          <a:p>
            <a:pPr>
              <a:defRPr sz="1300">
                <a:solidFill>
                  <a:srgbClr val="DDE1F5"/>
                </a:solidFill>
              </a:defRPr>
            </a:pPr>
            <a:r>
              <a:t>• محدودیت طول: طول آرایه تا ۱۰ به توان ۴ است؛ پس الگوریتم O(n²) با شکست مواجه می‌شود.</a:t>
            </a:r>
          </a:p>
        </p:txBody>
      </p:sp>
      <p:sp>
        <p:nvSpPr>
          <p:cNvPr id="5" name="Rounded Rectangle 4"/>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هدف ما: تبدیل یک تفکر خام O(n²) به راه‌حلی درخشان و خطی O(n) با تکیه بر ساختار داده Hash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روش اولیه · BRUTE FORCE O(n²)  |  تحلیل آنالوگ روی کاغذ: تریس روش ساده (Brute Force O(n²))</a:t>
            </a:r>
          </a:p>
          <a:p>
            <a:pPr>
              <a:defRPr sz="1400">
                <a:solidFill>
                  <a:srgbClr val="969EB4"/>
                </a:solidFill>
              </a:defRPr>
            </a:pPr>
            <a:r>
              <a:t>تریس جفت‌های پیاپی روی آرایه nums = [4, -2, 5, 0, 6, 3, 2, 7] با هدف target = 1:</a:t>
            </a:r>
          </a:p>
        </p:txBody>
      </p:sp>
      <p:sp>
        <p:nvSpPr>
          <p:cNvPr id="4" name="Rounded Rectangle 3"/>
          <p:cNvSpPr/>
          <p:nvPr/>
        </p:nvSpPr>
        <p:spPr>
          <a:xfrm>
            <a:off x="731520"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حلقه اول: i=0 (عدد ۴)</a:t>
            </a:r>
          </a:p>
          <a:p>
            <a:pPr>
              <a:defRPr sz="1100">
                <a:solidFill>
                  <a:srgbClr val="DDE1F5"/>
                </a:solidFill>
              </a:defRPr>
            </a:pPr>
            <a:r>
              <a:t>مقایسه با ۲-، ۵، ۰، ۶، ۳، ۲، ۷ ➔ ۷ مقایسه سوخته بدون نتیجه!</a:t>
            </a:r>
          </a:p>
        </p:txBody>
      </p:sp>
      <p:sp>
        <p:nvSpPr>
          <p:cNvPr id="5" name="Rounded Rectangle 4"/>
          <p:cNvSpPr/>
          <p:nvPr/>
        </p:nvSpPr>
        <p:spPr>
          <a:xfrm>
            <a:off x="346328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حلقه اول: i=1 (عدد ۲-)</a:t>
            </a:r>
          </a:p>
          <a:p>
            <a:pPr>
              <a:defRPr sz="1100">
                <a:solidFill>
                  <a:srgbClr val="DDE1F5"/>
                </a:solidFill>
              </a:defRPr>
            </a:pPr>
            <a:r>
              <a:t>مقایسه با خانه بعد: nums[2]=5 ➔ (-2) + 5 = 3 ≠ 1 (مقایسه ۸)</a:t>
            </a:r>
          </a:p>
        </p:txBody>
      </p:sp>
      <p:sp>
        <p:nvSpPr>
          <p:cNvPr id="6" name="Rounded Rectangle 5"/>
          <p:cNvSpPr/>
          <p:nvPr/>
        </p:nvSpPr>
        <p:spPr>
          <a:xfrm>
            <a:off x="6195059"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ادامه مقایسه برای ۲-</a:t>
            </a:r>
          </a:p>
          <a:p>
            <a:pPr>
              <a:defRPr sz="1100">
                <a:solidFill>
                  <a:srgbClr val="DDE1F5"/>
                </a:solidFill>
              </a:defRPr>
            </a:pPr>
            <a:r>
              <a:t>مقایسه با ۰ و ۶ ➔ مجموع‌های ۲- و ۴ ➔ رد شدند (مقایسه ۹ و ۱۰)</a:t>
            </a:r>
          </a:p>
        </p:txBody>
      </p:sp>
      <p:sp>
        <p:nvSpPr>
          <p:cNvPr id="7" name="Rounded Rectangle 6"/>
          <p:cNvSpPr/>
          <p:nvPr/>
        </p:nvSpPr>
        <p:spPr>
          <a:xfrm>
            <a:off x="8926830"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صید جفت در مقایسه ۱۱</a:t>
            </a:r>
          </a:p>
          <a:p>
            <a:pPr>
              <a:defRPr sz="1100">
                <a:solidFill>
                  <a:srgbClr val="DDE1F5"/>
                </a:solidFill>
              </a:defRPr>
            </a:pPr>
            <a:r>
              <a:t>مقایسه با nums[5]=3 ➔ (-2) + 3 = 1 == target! 🎉 کشف [1, 5]</a:t>
            </a:r>
          </a:p>
        </p:txBody>
      </p:sp>
      <p:sp>
        <p:nvSpPr>
          <p:cNvPr id="8" name="TextBox 7"/>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هزینه سنگین مقایسه‌ها: انجام ۱۱ مقایسه متوالی برای آرایه کوچک ۸ عضوی (تا ۲۸ مقایسه در بدترین حالت).</a:t>
            </a:r>
          </a:p>
          <a:p>
            <a:pPr>
              <a:defRPr sz="1300">
                <a:solidFill>
                  <a:srgbClr val="DDE1F5"/>
                </a:solidFill>
              </a:defRPr>
            </a:pPr>
            <a:r>
              <a:t>• نقطه ضعف مهلک: در آرایه ۱۰ هزار تایی، انجام ۵۰ میلیون مقایسه به خطای قطعی Time Limit Exceeded (TLE) می‌انجامد.</a:t>
            </a:r>
          </a:p>
        </p:txBody>
      </p:sp>
      <p:sp>
        <p:nvSpPr>
          <p:cNvPr id="9" name="Rounded Rectangle 8"/>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«روش مستقیم Brute Force روی کاغذ بسیار شهودی است، اما رشد نمایی مقایسه‌ها ضرورت یک تفکر بهینه را اثبات می‌کند.»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روش ۱ · BRUTE FORCE  |  روش اول: راه‌حل ساده و مستقیم (Brute Force)</a:t>
            </a:r>
          </a:p>
          <a:p>
            <a:pPr>
              <a:defRPr sz="1400">
                <a:solidFill>
                  <a:srgbClr val="969EB4"/>
                </a:solidFill>
              </a:defRPr>
            </a:pPr>
            <a:r>
              <a:t>جستجوی جفت‌ها با دو حلقه تو در تو در زبان Kotlin:</a:t>
            </a:r>
          </a:p>
        </p:txBody>
      </p:sp>
      <p:sp>
        <p:nvSpPr>
          <p:cNvPr id="4" name="Rounded Rectangle 3"/>
          <p:cNvSpPr/>
          <p:nvPr/>
        </p:nvSpPr>
        <p:spPr>
          <a:xfrm>
            <a:off x="731520" y="1463040"/>
            <a:ext cx="10698480" cy="2926080"/>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fun twoSumBruteForce(nums: IntArray, target: Int): IntArray {</a:t>
            </a:r>
          </a:p>
          <a:p>
            <a:pPr algn="l">
              <a:defRPr sz="1100">
                <a:solidFill>
                  <a:srgbClr val="4ECCA3"/>
                </a:solidFill>
                <a:latin typeface="Consolas"/>
              </a:defRPr>
            </a:pPr>
            <a:r>
              <a:t>    val size = nums.size</a:t>
            </a:r>
          </a:p>
          <a:p>
            <a:pPr algn="l">
              <a:defRPr sz="1100">
                <a:solidFill>
                  <a:srgbClr val="4ECCA3"/>
                </a:solidFill>
                <a:latin typeface="Consolas"/>
              </a:defRPr>
            </a:pPr>
          </a:p>
          <a:p>
            <a:pPr algn="l">
              <a:defRPr sz="1100">
                <a:solidFill>
                  <a:srgbClr val="4ECCA3"/>
                </a:solidFill>
                <a:latin typeface="Consolas"/>
              </a:defRPr>
            </a:pPr>
            <a:r>
              <a:t>    // حلقه اول: عدد اول را برمی‌داریم</a:t>
            </a:r>
          </a:p>
          <a:p>
            <a:pPr algn="l">
              <a:defRPr sz="1100">
                <a:solidFill>
                  <a:srgbClr val="4ECCA3"/>
                </a:solidFill>
                <a:latin typeface="Consolas"/>
              </a:defRPr>
            </a:pPr>
            <a:r>
              <a:t>    for (i in 0 until size) {</a:t>
            </a:r>
          </a:p>
          <a:p>
            <a:pPr algn="l">
              <a:defRPr sz="1100">
                <a:solidFill>
                  <a:srgbClr val="4ECCA3"/>
                </a:solidFill>
                <a:latin typeface="Consolas"/>
              </a:defRPr>
            </a:pPr>
            <a:r>
              <a:t>        val firstNumber = nums[i]</a:t>
            </a:r>
          </a:p>
          <a:p>
            <a:pPr algn="l">
              <a:defRPr sz="1100">
                <a:solidFill>
                  <a:srgbClr val="4ECCA3"/>
                </a:solidFill>
                <a:latin typeface="Consolas"/>
              </a:defRPr>
            </a:pPr>
          </a:p>
          <a:p>
            <a:pPr algn="l">
              <a:defRPr sz="1100">
                <a:solidFill>
                  <a:srgbClr val="4ECCA3"/>
                </a:solidFill>
                <a:latin typeface="Consolas"/>
              </a:defRPr>
            </a:pPr>
            <a:r>
              <a:t>        // حلقه دوم: در خانه‌های بعدی به دنبال عدد دوم می‌گردیم</a:t>
            </a:r>
          </a:p>
          <a:p>
            <a:pPr algn="l">
              <a:defRPr sz="1100">
                <a:solidFill>
                  <a:srgbClr val="4ECCA3"/>
                </a:solidFill>
                <a:latin typeface="Consolas"/>
              </a:defRPr>
            </a:pPr>
            <a:r>
              <a:t>        for (j in (i + 1) until size) {</a:t>
            </a:r>
          </a:p>
          <a:p>
            <a:pPr algn="l">
              <a:defRPr sz="1100">
                <a:solidFill>
                  <a:srgbClr val="4ECCA3"/>
                </a:solidFill>
                <a:latin typeface="Consolas"/>
              </a:defRPr>
            </a:pPr>
            <a:r>
              <a:t>            val secondNumber = nums[j]</a:t>
            </a:r>
          </a:p>
          <a:p>
            <a:pPr algn="l">
              <a:defRPr sz="1100">
                <a:solidFill>
                  <a:srgbClr val="4ECCA3"/>
                </a:solidFill>
                <a:latin typeface="Consolas"/>
              </a:defRPr>
            </a:pPr>
          </a:p>
          <a:p>
            <a:pPr algn="l">
              <a:defRPr sz="1100">
                <a:solidFill>
                  <a:srgbClr val="4ECCA3"/>
                </a:solidFill>
                <a:latin typeface="Consolas"/>
              </a:defRPr>
            </a:pPr>
            <a:r>
              <a:t>            // آیا جمع این دو عدد برابر هدف است؟</a:t>
            </a:r>
          </a:p>
          <a:p>
            <a:pPr algn="l">
              <a:defRPr sz="1100">
                <a:solidFill>
                  <a:srgbClr val="4ECCA3"/>
                </a:solidFill>
                <a:latin typeface="Consolas"/>
              </a:defRPr>
            </a:pPr>
            <a:r>
              <a:t>            val sum = firstNumber + secondNumber</a:t>
            </a:r>
          </a:p>
          <a:p>
            <a:pPr algn="l">
              <a:defRPr sz="1100">
                <a:solidFill>
                  <a:srgbClr val="4ECCA3"/>
                </a:solidFill>
                <a:latin typeface="Consolas"/>
              </a:defRPr>
            </a:pPr>
            <a:r>
              <a:t>            if (sum == target) {</a:t>
            </a:r>
          </a:p>
          <a:p>
            <a:pPr algn="l">
              <a:defRPr sz="1100">
                <a:solidFill>
                  <a:srgbClr val="4ECCA3"/>
                </a:solidFill>
                <a:latin typeface="Consolas"/>
              </a:defRPr>
            </a:pPr>
            <a:r>
              <a:t>                return intArrayOf(i, j) // پاسخ پیدا شد!</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p>
          <a:p>
            <a:pPr algn="l">
              <a:defRPr sz="1100">
                <a:solidFill>
                  <a:srgbClr val="4ECCA3"/>
                </a:solidFill>
                <a:latin typeface="Consolas"/>
              </a:defRPr>
            </a:pPr>
            <a:r>
              <a:t>    return intArrayOf() // اگر هیچ جفتی پیدا نشد</a:t>
            </a:r>
          </a:p>
          <a:p>
            <a:pPr algn="l">
              <a:defRPr sz="1100">
                <a:solidFill>
                  <a:srgbClr val="4ECCA3"/>
                </a:solidFill>
                <a:latin typeface="Consolas"/>
              </a:defRPr>
            </a:pPr>
            <a:r>
              <a:t>}</a:t>
            </a:r>
          </a:p>
        </p:txBody>
      </p:sp>
      <p:sp>
        <p:nvSpPr>
          <p:cNvPr id="5" name="TextBox 4"/>
          <p:cNvSpPr txBox="1"/>
          <p:nvPr/>
        </p:nvSpPr>
        <p:spPr>
          <a:xfrm>
            <a:off x="731520" y="4572000"/>
            <a:ext cx="10698480" cy="1463040"/>
          </a:xfrm>
          <a:prstGeom prst="rect">
            <a:avLst/>
          </a:prstGeom>
          <a:noFill/>
        </p:spPr>
        <p:txBody>
          <a:bodyPr wrap="square">
            <a:spAutoFit/>
          </a:bodyPr>
          <a:lstStyle/>
          <a:p>
            <a:pPr>
              <a:defRPr sz="1300">
                <a:solidFill>
                  <a:srgbClr val="DDE1F5"/>
                </a:solidFill>
              </a:defRPr>
            </a:pPr>
            <a:r>
              <a:t>• پیچیدگی زمانی: O(n²) به دلیل انجام n*(n-1)/2 مقایسه.</a:t>
            </a:r>
          </a:p>
          <a:p>
            <a:pPr>
              <a:defRPr sz="1300">
                <a:solidFill>
                  <a:srgbClr val="DDE1F5"/>
                </a:solidFill>
              </a:defRPr>
            </a:pPr>
            <a:r>
              <a:t>• پیچیدگی فضایی: O(1) چون حافظه کمکی مصرف نمی‌شود.</a:t>
            </a:r>
          </a:p>
          <a:p>
            <a:pPr>
              <a:defRPr sz="1300">
                <a:solidFill>
                  <a:srgbClr val="DDE1F5"/>
                </a:solidFill>
              </a:defRPr>
            </a:pPr>
            <a:r>
              <a:t>• چرا رد می‌شود؟ در آرایه‌های با طول ۱۰ هزار، ۵۰ میلیون عملیات رخ داده و خطای Time Limit Exceeded (TLE) می‌دهد.</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کدنویسی تمیز · CLEAN CODE  |  پیاده‌سازی تمیز و خط‌به‌خط کد بهینه (Kotlin)</a:t>
            </a:r>
          </a:p>
          <a:p>
            <a:pPr>
              <a:defRPr sz="1400">
                <a:solidFill>
                  <a:srgbClr val="969EB4"/>
                </a:solidFill>
              </a:defRPr>
            </a:pPr>
            <a:r>
              <a:t>پیاده‌سازی تک‌پیمایشی (One-Pass Hash Table) با زبان Kotlin و پیچیدگی O(n):</a:t>
            </a:r>
          </a:p>
        </p:txBody>
      </p:sp>
      <p:sp>
        <p:nvSpPr>
          <p:cNvPr id="4" name="Rounded Rectangle 3"/>
          <p:cNvSpPr/>
          <p:nvPr/>
        </p:nvSpPr>
        <p:spPr>
          <a:xfrm>
            <a:off x="731520" y="1463040"/>
            <a:ext cx="10698480" cy="2926080"/>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fun twoSum(nums: IntArray, target: Int): IntArray {</a:t>
            </a:r>
          </a:p>
          <a:p>
            <a:pPr algn="l">
              <a:defRPr sz="1100">
                <a:solidFill>
                  <a:srgbClr val="4ECCA3"/>
                </a:solidFill>
                <a:latin typeface="Consolas"/>
              </a:defRPr>
            </a:pPr>
            <a:r>
              <a:t>    // دفترچه یادداشت: کلید = عدد، مقدار = اندیس</a:t>
            </a:r>
          </a:p>
          <a:p>
            <a:pPr algn="l">
              <a:defRPr sz="1100">
                <a:solidFill>
                  <a:srgbClr val="4ECCA3"/>
                </a:solidFill>
                <a:latin typeface="Consolas"/>
              </a:defRPr>
            </a:pPr>
            <a:r>
              <a:t>    val seen = mutableMapOf&lt;Int, Int&gt;()</a:t>
            </a:r>
          </a:p>
          <a:p>
            <a:pPr algn="l">
              <a:defRPr sz="1100">
                <a:solidFill>
                  <a:srgbClr val="4ECCA3"/>
                </a:solidFill>
                <a:latin typeface="Consolas"/>
              </a:defRPr>
            </a:pPr>
          </a:p>
          <a:p>
            <a:pPr algn="l">
              <a:defRPr sz="1100">
                <a:solidFill>
                  <a:srgbClr val="4ECCA3"/>
                </a:solidFill>
                <a:latin typeface="Consolas"/>
              </a:defRPr>
            </a:pPr>
            <a:r>
              <a:t>    // پیمایش تک‌تک خانه‌های آرایه</a:t>
            </a:r>
          </a:p>
          <a:p>
            <a:pPr algn="l">
              <a:defRPr sz="1100">
                <a:solidFill>
                  <a:srgbClr val="4ECCA3"/>
                </a:solidFill>
                <a:latin typeface="Consolas"/>
              </a:defRPr>
            </a:pPr>
            <a:r>
              <a:t>    for (i in 0 until nums.size) {</a:t>
            </a:r>
          </a:p>
          <a:p>
            <a:pPr algn="l">
              <a:defRPr sz="1100">
                <a:solidFill>
                  <a:srgbClr val="4ECCA3"/>
                </a:solidFill>
                <a:latin typeface="Consolas"/>
              </a:defRPr>
            </a:pPr>
            <a:r>
              <a:t>        val currentNumber = nums[i]</a:t>
            </a:r>
          </a:p>
          <a:p>
            <a:pPr algn="l">
              <a:defRPr sz="1100">
                <a:solidFill>
                  <a:srgbClr val="4ECCA3"/>
                </a:solidFill>
                <a:latin typeface="Consolas"/>
              </a:defRPr>
            </a:pPr>
            <a:r>
              <a:t>        val neededNumber = target - currentNumber</a:t>
            </a:r>
          </a:p>
          <a:p>
            <a:pPr algn="l">
              <a:defRPr sz="1100">
                <a:solidFill>
                  <a:srgbClr val="4ECCA3"/>
                </a:solidFill>
                <a:latin typeface="Consolas"/>
              </a:defRPr>
            </a:pPr>
          </a:p>
          <a:p>
            <a:pPr algn="l">
              <a:defRPr sz="1100">
                <a:solidFill>
                  <a:srgbClr val="4ECCA3"/>
                </a:solidFill>
                <a:latin typeface="Consolas"/>
              </a:defRPr>
            </a:pPr>
            <a:r>
              <a:t>        // آیا مکمل را قبلاً دیده‌ایم و در حافظه داریم؟</a:t>
            </a:r>
          </a:p>
          <a:p>
            <a:pPr algn="l">
              <a:defRPr sz="1100">
                <a:solidFill>
                  <a:srgbClr val="4ECCA3"/>
                </a:solidFill>
                <a:latin typeface="Consolas"/>
              </a:defRPr>
            </a:pPr>
            <a:r>
              <a:t>        if (seen.containsKey(neededNumber)) {</a:t>
            </a:r>
          </a:p>
          <a:p>
            <a:pPr algn="l">
              <a:defRPr sz="1100">
                <a:solidFill>
                  <a:srgbClr val="4ECCA3"/>
                </a:solidFill>
                <a:latin typeface="Consolas"/>
              </a:defRPr>
            </a:pPr>
            <a:r>
              <a:t>            val complementIndex = seen[neededNumber]!!</a:t>
            </a:r>
          </a:p>
          <a:p>
            <a:pPr algn="l">
              <a:defRPr sz="1100">
                <a:solidFill>
                  <a:srgbClr val="4ECCA3"/>
                </a:solidFill>
                <a:latin typeface="Consolas"/>
              </a:defRPr>
            </a:pPr>
            <a:r>
              <a:t>            return intArrayOf(complementIndex, i) // جفت هدف پیدا شد!</a:t>
            </a:r>
          </a:p>
          <a:p>
            <a:pPr algn="l">
              <a:defRPr sz="1100">
                <a:solidFill>
                  <a:srgbClr val="4ECCA3"/>
                </a:solidFill>
                <a:latin typeface="Consolas"/>
              </a:defRPr>
            </a:pPr>
            <a:r>
              <a:t>        }</a:t>
            </a:r>
          </a:p>
          <a:p>
            <a:pPr algn="l">
              <a:defRPr sz="1100">
                <a:solidFill>
                  <a:srgbClr val="4ECCA3"/>
                </a:solidFill>
                <a:latin typeface="Consolas"/>
              </a:defRPr>
            </a:pPr>
          </a:p>
          <a:p>
            <a:pPr algn="l">
              <a:defRPr sz="1100">
                <a:solidFill>
                  <a:srgbClr val="4ECCA3"/>
                </a:solidFill>
                <a:latin typeface="Consolas"/>
              </a:defRPr>
            </a:pPr>
            <a:r>
              <a:t>        seen[currentNumber] = i // ذخیره در حافظه</a:t>
            </a:r>
          </a:p>
          <a:p>
            <a:pPr algn="l">
              <a:defRPr sz="1100">
                <a:solidFill>
                  <a:srgbClr val="4ECCA3"/>
                </a:solidFill>
                <a:latin typeface="Consolas"/>
              </a:defRPr>
            </a:pPr>
            <a:r>
              <a:t>    }</a:t>
            </a:r>
          </a:p>
          <a:p>
            <a:pPr algn="l">
              <a:defRPr sz="1100">
                <a:solidFill>
                  <a:srgbClr val="4ECCA3"/>
                </a:solidFill>
                <a:latin typeface="Consolas"/>
              </a:defRPr>
            </a:pPr>
          </a:p>
          <a:p>
            <a:pPr algn="l">
              <a:defRPr sz="1100">
                <a:solidFill>
                  <a:srgbClr val="4ECCA3"/>
                </a:solidFill>
                <a:latin typeface="Consolas"/>
              </a:defRPr>
            </a:pPr>
            <a:r>
              <a:t>    return intArrayOf() // اگر هیچ جفتی پیدا نشد</a:t>
            </a:r>
          </a:p>
          <a:p>
            <a:pPr algn="l">
              <a:defRPr sz="1100">
                <a:solidFill>
                  <a:srgbClr val="4ECCA3"/>
                </a:solidFill>
                <a:latin typeface="Consolas"/>
              </a:defRPr>
            </a:pPr>
            <a:r>
              <a:t>}</a:t>
            </a:r>
          </a:p>
        </p:txBody>
      </p:sp>
      <p:sp>
        <p:nvSpPr>
          <p:cNvPr id="5" name="TextBox 4"/>
          <p:cNvSpPr txBox="1"/>
          <p:nvPr/>
        </p:nvSpPr>
        <p:spPr>
          <a:xfrm>
            <a:off x="731520" y="4572000"/>
            <a:ext cx="10698480" cy="1463040"/>
          </a:xfrm>
          <a:prstGeom prst="rect">
            <a:avLst/>
          </a:prstGeom>
          <a:noFill/>
        </p:spPr>
        <p:txBody>
          <a:bodyPr wrap="square">
            <a:spAutoFit/>
          </a:bodyPr>
          <a:lstStyle/>
          <a:p>
            <a:pPr>
              <a:defRPr sz="1300">
                <a:solidFill>
                  <a:srgbClr val="DDE1F5"/>
                </a:solidFill>
              </a:defRPr>
            </a:pPr>
            <a:r>
              <a:t>• تفکیک صریح متغیرها: استخراج currentNumber، محاسبه neededNumber، و بازیابی complementIndex برای درک بلادرنگ.</a:t>
            </a:r>
          </a:p>
          <a:p>
            <a:pPr>
              <a:defRPr sz="1300">
                <a:solidFill>
                  <a:srgbClr val="DDE1F5"/>
                </a:solidFill>
              </a:defRPr>
            </a:pPr>
            <a:r>
              <a:t>• جستجوی O(1) با containsKey: بررسی وجود کلید در جدول هش در زمان ثابت (معادل neededNumber in seen).</a:t>
            </a:r>
          </a:p>
          <a:p>
            <a:pPr>
              <a:defRPr sz="1300">
                <a:solidFill>
                  <a:srgbClr val="DDE1F5"/>
                </a:solidFill>
              </a:defRPr>
            </a:pPr>
            <a:r>
              <a:t>• عدم تکرار عنصر: درج در Map بعد از شرط، تضمین می‌کند یک عنصر هرگز با خودش جمع نشود.</a:t>
            </a:r>
          </a:p>
          <a:p>
            <a:pPr>
              <a:defRPr sz="1300">
                <a:solidFill>
                  <a:srgbClr val="DDE1F5"/>
                </a:solidFill>
              </a:defRPr>
            </a:pPr>
            <a:r>
              <a:t>• پیچیدگی نهایی: زمان O(n) · حافظه 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شبیه‌ساز تعاملی · INTERACTIVE VISUALIZER  |  شبیه‌ساز تعاملی و گام‌به‌گام الگوریتم Two Sum</a:t>
            </a:r>
          </a:p>
          <a:p>
            <a:pPr>
              <a:defRPr sz="1400">
                <a:solidFill>
                  <a:srgbClr val="969EB4"/>
                </a:solidFill>
              </a:defRPr>
            </a:pPr>
            <a:r>
              <a:t>ردیابی زنده مقادیر در باکس ساده و متمرکز روی nums = [4, -2, 5, 0, 6, 3, 2, 7] و target = 1  |  LeetCode #1</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تکرار ۱: i=0 (عدد ۴)</a:t>
            </a:r>
          </a:p>
          <a:p>
            <a:pPr>
              <a:defRPr sz="1100">
                <a:solidFill>
                  <a:srgbClr val="DDE1F5"/>
                </a:solidFill>
              </a:defRPr>
            </a:pPr>
            <a:r>
              <a:t>مکمل = 3- (نیست) | افزودن به حافظه: seen = { 4: 0 }</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تکرار ۲: i=1 (عدد ۲-)</a:t>
            </a:r>
          </a:p>
          <a:p>
            <a:pPr>
              <a:defRPr sz="1100">
                <a:solidFill>
                  <a:srgbClr val="DDE1F5"/>
                </a:solidFill>
              </a:defRPr>
            </a:pPr>
            <a:r>
              <a:t>مکمل = 3 (نیست) | تفاضل منفی: 1 - (-2) = 3 | ثبت: seen[-2] = 1</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تکرار ۳ تا ۵: مقادیر ۵ و ۰ و ۶</a:t>
            </a:r>
          </a:p>
          <a:p>
            <a:pPr>
              <a:defRPr sz="1100">
                <a:solidFill>
                  <a:srgbClr val="DDE1F5"/>
                </a:solidFill>
              </a:defRPr>
            </a:pPr>
            <a:r>
              <a:t>مکمل‌ها در مپ نبودند ➔ ثبت در حافظه: { 4:0, -2:1, 5:2, 0:3, 6:4 }</a:t>
            </a:r>
          </a:p>
        </p:txBody>
      </p:sp>
      <p:sp>
        <p:nvSpPr>
          <p:cNvPr id="7" name="Rounded Rectangle 6"/>
          <p:cNvSpPr/>
          <p:nvPr/>
        </p:nvSpPr>
        <p:spPr>
          <a:xfrm>
            <a:off x="8926830"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تکرار ۶: i=5 (عدد ۳)</a:t>
            </a:r>
          </a:p>
          <a:p>
            <a:pPr>
              <a:defRPr sz="1100">
                <a:solidFill>
                  <a:srgbClr val="DDE1F5"/>
                </a:solidFill>
              </a:defRPr>
            </a:pPr>
            <a:r>
              <a:t>مکمل = 2- (استعلام O(1) ➔ در خانه ۲ هست!) 🎉 پاسخ: [1, 5]</a:t>
            </a:r>
          </a:p>
        </p:txBody>
      </p:sp>
      <p:sp>
        <p:nvSpPr>
          <p:cNvPr id="8" name="TextBox 7"/>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تک‌باکس متمرکز تریس: تمامی مقادیر (عنصر جاری، مکمل موردنیاز، استعلام و حافظه) در یک قالب منسجم خلاصه شده‌اند.</a:t>
            </a:r>
          </a:p>
          <a:p>
            <a:pPr>
              <a:defRPr sz="1300">
                <a:solidFill>
                  <a:srgbClr val="DDE1F5"/>
                </a:solidFill>
              </a:defRPr>
            </a:pPr>
            <a:r>
              <a:t>• کشف بنیادین: مسئله Two Sum «جمع کردن همه جفت‌ها» نیست؛ بلکه «جستجوی تفاضل یا مکمل (target - x)» در زمان میانگین O(1) است!</a:t>
            </a:r>
          </a:p>
          <a:p>
            <a:pPr>
              <a:defRPr sz="1300">
                <a:solidFill>
                  <a:srgbClr val="DDE1F5"/>
                </a:solidFill>
              </a:defRPr>
            </a:pPr>
            <a:r>
              <a:t>• پوشش طبیعی اعداد منفی: در اندیس ۱ با مقدار ۲-، مکمل مورد نیاز 1 - (-2) = 3 است که بدون شرط اضافی به درستی مدیریت می‌شود.</a:t>
            </a:r>
          </a:p>
          <a:p>
            <a:pPr>
              <a:defRPr sz="1300">
                <a:solidFill>
                  <a:srgbClr val="DDE1F5"/>
                </a:solidFill>
              </a:defRPr>
            </a:pPr>
            <a:r>
              <a:t>• توقف زودهنگام (Early Exit): خانه‌های ۶ و ۷ (اعداد ۲ و ۷) هرگز بررسی نشدند و از اتلاف زمان جلوگیری گردید.</a:t>
            </a:r>
          </a:p>
        </p:txBody>
      </p:sp>
      <p:sp>
        <p:nvSpPr>
          <p:cNvPr id="9" name="Rounded Rectangle 8"/>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«الگوریتم بدون بررسی خانه‌های پایانی، در تکرار ششم با استعلام O(1) پاسخ بهینه [1, 5] را تحویل داد!»</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الگوی دو نشانگر · TWO POINTERS  |  مسئله دوم: Two Sum II - آرایه مرتب‌شده (LeetCode #167)</a:t>
            </a:r>
          </a:p>
          <a:p>
            <a:pPr>
              <a:defRPr sz="1400">
                <a:solidFill>
                  <a:srgbClr val="969EB4"/>
                </a:solidFill>
              </a:defRPr>
            </a:pPr>
            <a:r>
              <a:t>ورودی به صورت غیرنزولی مرتب است | خروجی ۱-محور | حافظه کمکی باید O(1) باشد</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۱. آرایه از قبل مرتب است</a:t>
            </a:r>
          </a:p>
          <a:p>
            <a:pPr>
              <a:defRPr sz="1100">
                <a:solidFill>
                  <a:srgbClr val="DDE1F5"/>
                </a:solidFill>
              </a:defRPr>
            </a:pPr>
            <a:r>
              <a:t>اعداد صعودی هستند؛ عناصر سمت چپ کوچک‌ترین و عناصر راست بزرگ‌ترین مقادیرند.</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قید حیاتی حافظه: O(1)</a:t>
            </a:r>
          </a:p>
          <a:p>
            <a:pPr>
              <a:defRPr sz="1100">
                <a:solidFill>
                  <a:srgbClr val="DDE1F5"/>
                </a:solidFill>
              </a:defRPr>
            </a:pPr>
            <a:r>
              <a:t>استفاده از حافظه کمکی O(n) مانند Hash Map در این مسئله ممنوع است!</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خروجی ۱-محور (1-Indexed)</a:t>
            </a:r>
          </a:p>
          <a:p>
            <a:pPr>
              <a:defRPr sz="1100">
                <a:solidFill>
                  <a:srgbClr val="DDE1F5"/>
                </a:solidFill>
              </a:defRPr>
            </a:pPr>
            <a:r>
              <a:t>اندیس‌ها با ۱ شروع می‌شوند: [left + 1, right + 1].</a:t>
            </a:r>
          </a:p>
        </p:txBody>
      </p:sp>
      <p:sp>
        <p:nvSpPr>
          <p:cNvPr id="7" name="Rounded Rectangle 6"/>
          <p:cNvSpPr/>
          <p:nvPr/>
        </p:nvSpPr>
        <p:spPr>
          <a:xfrm>
            <a:off x="8926830"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۴. تضمین جواب یکتا</a:t>
            </a:r>
          </a:p>
          <a:p>
            <a:pPr>
              <a:defRPr sz="1100">
                <a:solidFill>
                  <a:srgbClr val="DDE1F5"/>
                </a:solidFill>
              </a:defRPr>
            </a:pPr>
            <a:r>
              <a:t>دقیقاً یک جفت پاسخ وجود دارد و استفاده دوباره از یک عنصر مجاز نیست.</a:t>
            </a:r>
          </a:p>
        </p:txBody>
      </p:sp>
      <p:sp>
        <p:nvSpPr>
          <p:cNvPr id="8" name="Rounded Rectangle 7"/>
          <p:cNvSpPr/>
          <p:nvPr/>
        </p:nvSpPr>
        <p:spPr>
          <a:xfrm>
            <a:off x="731520" y="370332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چرا Hash Map گزینه ایده‌آل نیست؟</a:t>
            </a:r>
          </a:p>
          <a:p>
            <a:pPr>
              <a:defRPr sz="1100">
                <a:solidFill>
                  <a:srgbClr val="DDE1F5"/>
                </a:solidFill>
              </a:defRPr>
            </a:pPr>
            <a:r>
              <a:t>اگرچه زمان O(n) دارد، اما با مصرف O(n) حافظه، ویژگی حیاتی مرتب بودن آرایه را هدر می‌دهد.</a:t>
            </a:r>
          </a:p>
        </p:txBody>
      </p:sp>
      <p:sp>
        <p:nvSpPr>
          <p:cNvPr id="9" name="Rounded Rectangle 8"/>
          <p:cNvSpPr/>
          <p:nvPr/>
        </p:nvSpPr>
        <p:spPr>
          <a:xfrm>
            <a:off x="6217920" y="370332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الگوی دو نشانگر (Two Pointers)</a:t>
            </a:r>
          </a:p>
          <a:p>
            <a:pPr>
              <a:defRPr sz="1100">
                <a:solidFill>
                  <a:srgbClr val="DDE1F5"/>
                </a:solidFill>
              </a:defRPr>
            </a:pPr>
            <a:r>
              <a:t>استقرار دو نشانگر در دو سر آرایه و هدایت همگرا بر اساس جمع مقادیر: زمان O(n) و حافظه O(1)!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روش‌های غیربهینه · NAIVE APPROACHES  |  راه‌حل‌های اولیه و غیربهینه: چرا بروت‌فورس و هش‌مپ در Two Sum II رد می‌شوند؟</a:t>
            </a:r>
          </a:p>
          <a:p>
            <a:pPr>
              <a:defRPr sz="1400">
                <a:solidFill>
                  <a:srgbClr val="969EB4"/>
                </a:solidFill>
              </a:defRPr>
            </a:pPr>
            <a:r>
              <a:t>کالبدشکافی دو راه‌حل دم‌دستی و علل رد شدن آن‌ها در الزامات LeetCode #167</a:t>
            </a:r>
          </a:p>
        </p:txBody>
      </p:sp>
      <p:sp>
        <p:nvSpPr>
          <p:cNvPr id="4" name="Rounded Rectangle 3"/>
          <p:cNvSpPr/>
          <p:nvPr/>
        </p:nvSpPr>
        <p:spPr>
          <a:xfrm>
            <a:off x="731520" y="1463040"/>
            <a:ext cx="2503170"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۱. بروت‌فورس دو حلقه</a:t>
            </a:r>
          </a:p>
          <a:p>
            <a:pPr>
              <a:defRPr sz="1100">
                <a:solidFill>
                  <a:srgbClr val="DDE1F5"/>
                </a:solidFill>
              </a:defRPr>
            </a:pPr>
            <a:r>
              <a:t>زمان O(n²) و حافظه O(1) ➔ برای n=30,000 نیاز به ۴۵۰ میلیون چک دارد و با TLE رد می‌شود.</a:t>
            </a:r>
          </a:p>
        </p:txBody>
      </p:sp>
      <p:sp>
        <p:nvSpPr>
          <p:cNvPr id="5" name="Rounded Rectangle 4"/>
          <p:cNvSpPr/>
          <p:nvPr/>
        </p:nvSpPr>
        <p:spPr>
          <a:xfrm>
            <a:off x="346328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۲. استفاده از Hash Map</a:t>
            </a:r>
          </a:p>
          <a:p>
            <a:pPr>
              <a:defRPr sz="1100">
                <a:solidFill>
                  <a:srgbClr val="DDE1F5"/>
                </a:solidFill>
              </a:defRPr>
            </a:pPr>
            <a:r>
              <a:t>زمان O(n) اما حافظه O(n) ➔ نقض صریح قید مسئله مبنی بر استفاده از حافظه ثابت O(1)!</a:t>
            </a:r>
          </a:p>
        </p:txBody>
      </p:sp>
      <p:sp>
        <p:nvSpPr>
          <p:cNvPr id="6" name="Rounded Rectangle 5"/>
          <p:cNvSpPr/>
          <p:nvPr/>
        </p:nvSpPr>
        <p:spPr>
          <a:xfrm>
            <a:off x="619505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۳. نادیده گرفتن سورت بودن</a:t>
            </a:r>
          </a:p>
          <a:p>
            <a:pPr>
              <a:defRPr sz="1100">
                <a:solidFill>
                  <a:srgbClr val="DDE1F5"/>
                </a:solidFill>
              </a:defRPr>
            </a:pPr>
            <a:r>
              <a:t>هر دو روش بالا از ویژگی طلایی صعودی بودن آرایه هیچ استفاده‌ای نمی‌کنند.</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جستجوی باینری (Binary Search)</a:t>
            </a:r>
          </a:p>
          <a:p>
            <a:pPr>
              <a:defRPr sz="1100">
                <a:solidFill>
                  <a:srgbClr val="DDE1F5"/>
                </a:solidFill>
              </a:defRPr>
            </a:pPr>
            <a:r>
              <a:t>جستجوی مکمل با O(n log n) و حافظه O(1)؛ مجاز است اما هنوز بهینه نیست!</a:t>
            </a:r>
          </a:p>
        </p:txBody>
      </p:sp>
      <p:sp>
        <p:nvSpPr>
          <p:cNvPr id="8" name="Rounded Rectangle 7"/>
          <p:cNvSpPr/>
          <p:nvPr/>
        </p:nvSpPr>
        <p:spPr>
          <a:xfrm>
            <a:off x="731520" y="370332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بن‌بست روش‌های اولیه</a:t>
            </a:r>
          </a:p>
          <a:p>
            <a:pPr>
              <a:defRPr sz="1100">
                <a:solidFill>
                  <a:srgbClr val="DDE1F5"/>
                </a:solidFill>
              </a:defRPr>
            </a:pPr>
            <a:r>
              <a:t>بروت‌فورس زمان را هدر می‌دهد (O(n²)) و هش‌مپ حافظه را هدر می‌دهد (O(n)).</a:t>
            </a:r>
          </a:p>
        </p:txBody>
      </p:sp>
      <p:sp>
        <p:nvSpPr>
          <p:cNvPr id="9" name="Rounded Rectangle 8"/>
          <p:cNvSpPr/>
          <p:nvPr/>
        </p:nvSpPr>
        <p:spPr>
          <a:xfrm>
            <a:off x="6217920" y="370332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جهش بهینه: الگوی دو نشانگر</a:t>
            </a:r>
          </a:p>
          <a:p>
            <a:pPr>
              <a:defRPr sz="1100">
                <a:solidFill>
                  <a:srgbClr val="DDE1F5"/>
                </a:solidFill>
              </a:defRPr>
            </a:pPr>
            <a:r>
              <a:t>با استفاده از آرایه مرتب، در زمان O(n) و بدون مصرف حافظه کمکی (O(1)) به پاسخ قطعی می‌رسیم.</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تریس آنالوگ · TWO POINTERS INTUITION  |  تحلیل آنالوگ روی کاغذ: تریس الگوریتم دو نشانگر</a:t>
            </a:r>
          </a:p>
          <a:p>
            <a:pPr>
              <a:defRPr sz="1400">
                <a:solidFill>
                  <a:srgbClr val="969EB4"/>
                </a:solidFill>
              </a:defRPr>
            </a:pPr>
            <a:r>
              <a:t>تریس نمونه روی numbers = [2, 7, 11, 15] و target = 9</a:t>
            </a:r>
          </a:p>
        </p:txBody>
      </p:sp>
      <p:sp>
        <p:nvSpPr>
          <p:cNvPr id="4" name="Rounded Rectangle 3"/>
          <p:cNvSpPr/>
          <p:nvPr/>
        </p:nvSpPr>
        <p:spPr>
          <a:xfrm>
            <a:off x="731520" y="1463040"/>
            <a:ext cx="3413759"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حالت اول: sum &gt; target</a:t>
            </a:r>
          </a:p>
          <a:p>
            <a:pPr>
              <a:defRPr sz="1100">
                <a:solidFill>
                  <a:srgbClr val="DDE1F5"/>
                </a:solidFill>
              </a:defRPr>
            </a:pPr>
            <a:r>
              <a:t>جمع بزرگ است! بزرگترین عدد با هیچ عنصری جور نمی‌شود ➔ right--</a:t>
            </a:r>
          </a:p>
        </p:txBody>
      </p:sp>
      <p:sp>
        <p:nvSpPr>
          <p:cNvPr id="5" name="Rounded Rectangle 4"/>
          <p:cNvSpPr/>
          <p:nvPr/>
        </p:nvSpPr>
        <p:spPr>
          <a:xfrm>
            <a:off x="4373880" y="1463040"/>
            <a:ext cx="3413759"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حالت دوم: sum &lt; target</a:t>
            </a:r>
          </a:p>
          <a:p>
            <a:pPr>
              <a:defRPr sz="1100">
                <a:solidFill>
                  <a:srgbClr val="DDE1F5"/>
                </a:solidFill>
              </a:defRPr>
            </a:pPr>
            <a:r>
              <a:t>جمع کوچک است! کوچکترین عدد با هیچ عنصری جور نمی‌شود ➔ left++</a:t>
            </a:r>
          </a:p>
        </p:txBody>
      </p:sp>
      <p:sp>
        <p:nvSpPr>
          <p:cNvPr id="6" name="Rounded Rectangle 5"/>
          <p:cNvSpPr/>
          <p:nvPr/>
        </p:nvSpPr>
        <p:spPr>
          <a:xfrm>
            <a:off x="8016239" y="1463040"/>
            <a:ext cx="3413759"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حالت سوم: sum == target</a:t>
            </a:r>
          </a:p>
          <a:p>
            <a:pPr>
              <a:defRPr sz="1100">
                <a:solidFill>
                  <a:srgbClr val="DDE1F5"/>
                </a:solidFill>
              </a:defRPr>
            </a:pPr>
            <a:r>
              <a:t>صید هدف! بازگرداندن [left + 1, right + 1] و توقف الگوریتم 🎉</a:t>
            </a:r>
          </a:p>
        </p:txBody>
      </p:sp>
      <p:sp>
        <p:nvSpPr>
          <p:cNvPr id="7" name="TextBox 6"/>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گام ۱: left=0 (۲), right=3 (۱۵) ➔ جمع = ۱۷ &gt; ۹ ➔ کاهش راست (right = 2)</a:t>
            </a:r>
          </a:p>
          <a:p>
            <a:pPr>
              <a:defRPr sz="1300">
                <a:solidFill>
                  <a:srgbClr val="DDE1F5"/>
                </a:solidFill>
              </a:defRPr>
            </a:pPr>
            <a:r>
              <a:t>• گام ۲: left=0 (۲), right=2 (۱۱) ➔ جمع = ۱۳ &gt; ۹ ➔ کاهش راست (right = 1)</a:t>
            </a:r>
          </a:p>
          <a:p>
            <a:pPr>
              <a:defRPr sz="1300">
                <a:solidFill>
                  <a:srgbClr val="DDE1F5"/>
                </a:solidFill>
              </a:defRPr>
            </a:pPr>
            <a:r>
              <a:t>• گام ۳: left=0 (۲), right=1 (۷) ➔ جمع = ۹ == ۹ ➔ صید پاسخ: [1, 2]</a:t>
            </a:r>
          </a:p>
          <a:p>
            <a:pPr>
              <a:defRPr sz="1300">
                <a:solidFill>
                  <a:srgbClr val="DDE1F5"/>
                </a:solidFill>
              </a:defRPr>
            </a:pPr>
            <a:r>
              <a:t>• اثبات بدون نقص: در هر گام یک عنصر به طور قطعی از فضای جستجو حذف می‌شود بدون اینکه جوابی از دست برود.</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«در حداکثر n گام با دو نشانگر، فضای جستجو به پاسخ بهینه همگرا می‌شود.»</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کدنویسی تمیز · CLEAN KOTLIN  |  پیاده‌سازی تمیز در کاتلین: Two Sum II</a:t>
            </a:r>
          </a:p>
          <a:p>
            <a:pPr>
              <a:defRPr sz="1400">
                <a:solidFill>
                  <a:srgbClr val="969EB4"/>
                </a:solidFill>
              </a:defRPr>
            </a:pPr>
            <a:r>
              <a:t>الگوریتم دو نشانگر با تفکیک صریح متغیرها و زمان O(n) و حافظه O(1)</a:t>
            </a:r>
          </a:p>
        </p:txBody>
      </p:sp>
      <p:sp>
        <p:nvSpPr>
          <p:cNvPr id="4" name="Rounded Rectangle 3"/>
          <p:cNvSpPr/>
          <p:nvPr/>
        </p:nvSpPr>
        <p:spPr>
          <a:xfrm>
            <a:off x="731520" y="1463040"/>
            <a:ext cx="10698480" cy="2926080"/>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fun twoSum(numbers: IntArray, target: Int): IntArray {</a:t>
            </a:r>
          </a:p>
          <a:p>
            <a:pPr algn="l">
              <a:defRPr sz="1100">
                <a:solidFill>
                  <a:srgbClr val="4ECCA3"/>
                </a:solidFill>
                <a:latin typeface="Consolas"/>
              </a:defRPr>
            </a:pPr>
            <a:r>
              <a:t>    var leftIndex = 0</a:t>
            </a:r>
          </a:p>
          <a:p>
            <a:pPr algn="l">
              <a:defRPr sz="1100">
                <a:solidFill>
                  <a:srgbClr val="4ECCA3"/>
                </a:solidFill>
                <a:latin typeface="Consolas"/>
              </a:defRPr>
            </a:pPr>
            <a:r>
              <a:t>    var rightIndex = numbers.size - 1</a:t>
            </a:r>
          </a:p>
          <a:p>
            <a:pPr algn="l">
              <a:defRPr sz="1100">
                <a:solidFill>
                  <a:srgbClr val="4ECCA3"/>
                </a:solidFill>
                <a:latin typeface="Consolas"/>
              </a:defRPr>
            </a:pPr>
          </a:p>
          <a:p>
            <a:pPr algn="l">
              <a:defRPr sz="1100">
                <a:solidFill>
                  <a:srgbClr val="4ECCA3"/>
                </a:solidFill>
                <a:latin typeface="Consolas"/>
              </a:defRPr>
            </a:pPr>
            <a:r>
              <a:t>    while (leftIndex &lt; rightIndex) {</a:t>
            </a:r>
          </a:p>
          <a:p>
            <a:pPr algn="l">
              <a:defRPr sz="1100">
                <a:solidFill>
                  <a:srgbClr val="4ECCA3"/>
                </a:solidFill>
                <a:latin typeface="Consolas"/>
              </a:defRPr>
            </a:pPr>
            <a:r>
              <a:t>        val currentSum = numbers[leftIndex] + numbers[rightIndex]</a:t>
            </a:r>
          </a:p>
          <a:p>
            <a:pPr algn="l">
              <a:defRPr sz="1100">
                <a:solidFill>
                  <a:srgbClr val="4ECCA3"/>
                </a:solidFill>
                <a:latin typeface="Consolas"/>
              </a:defRPr>
            </a:pPr>
          </a:p>
          <a:p>
            <a:pPr algn="l">
              <a:defRPr sz="1100">
                <a:solidFill>
                  <a:srgbClr val="4ECCA3"/>
                </a:solidFill>
                <a:latin typeface="Consolas"/>
              </a:defRPr>
            </a:pPr>
            <a:r>
              <a:t>        when {</a:t>
            </a:r>
          </a:p>
          <a:p>
            <a:pPr algn="l">
              <a:defRPr sz="1100">
                <a:solidFill>
                  <a:srgbClr val="4ECCA3"/>
                </a:solidFill>
                <a:latin typeface="Consolas"/>
              </a:defRPr>
            </a:pPr>
            <a:r>
              <a:t>            currentSum == target -&gt; {</a:t>
            </a:r>
          </a:p>
          <a:p>
            <a:pPr algn="l">
              <a:defRPr sz="1100">
                <a:solidFill>
                  <a:srgbClr val="4ECCA3"/>
                </a:solidFill>
                <a:latin typeface="Consolas"/>
              </a:defRPr>
            </a:pPr>
            <a:r>
              <a:t>                // مسئله ۱-محور است؛ ۱ واحد اضافه می‌کنیم</a:t>
            </a:r>
          </a:p>
          <a:p>
            <a:pPr algn="l">
              <a:defRPr sz="1100">
                <a:solidFill>
                  <a:srgbClr val="4ECCA3"/>
                </a:solidFill>
                <a:latin typeface="Consolas"/>
              </a:defRPr>
            </a:pPr>
            <a:r>
              <a:t>                return intArrayOf(leftIndex + 1, rightIndex + 1)</a:t>
            </a:r>
          </a:p>
          <a:p>
            <a:pPr algn="l">
              <a:defRPr sz="1100">
                <a:solidFill>
                  <a:srgbClr val="4ECCA3"/>
                </a:solidFill>
                <a:latin typeface="Consolas"/>
              </a:defRPr>
            </a:pPr>
            <a:r>
              <a:t>            }</a:t>
            </a:r>
          </a:p>
          <a:p>
            <a:pPr algn="l">
              <a:defRPr sz="1100">
                <a:solidFill>
                  <a:srgbClr val="4ECCA3"/>
                </a:solidFill>
                <a:latin typeface="Consolas"/>
              </a:defRPr>
            </a:pPr>
            <a:r>
              <a:t>            currentSum &lt; target -&gt; {</a:t>
            </a:r>
          </a:p>
          <a:p>
            <a:pPr algn="l">
              <a:defRPr sz="1100">
                <a:solidFill>
                  <a:srgbClr val="4ECCA3"/>
                </a:solidFill>
                <a:latin typeface="Consolas"/>
              </a:defRPr>
            </a:pPr>
            <a:r>
              <a:t>                // جمع کوچک است؛ حرکت به سمت اعداد بزرگ‌تر</a:t>
            </a:r>
          </a:p>
          <a:p>
            <a:pPr algn="l">
              <a:defRPr sz="1100">
                <a:solidFill>
                  <a:srgbClr val="4ECCA3"/>
                </a:solidFill>
                <a:latin typeface="Consolas"/>
              </a:defRPr>
            </a:pPr>
            <a:r>
              <a:t>                leftIndex++</a:t>
            </a:r>
          </a:p>
          <a:p>
            <a:pPr algn="l">
              <a:defRPr sz="1100">
                <a:solidFill>
                  <a:srgbClr val="4ECCA3"/>
                </a:solidFill>
                <a:latin typeface="Consolas"/>
              </a:defRPr>
            </a:pPr>
            <a:r>
              <a:t>            }</a:t>
            </a:r>
          </a:p>
          <a:p>
            <a:pPr algn="l">
              <a:defRPr sz="1100">
                <a:solidFill>
                  <a:srgbClr val="4ECCA3"/>
                </a:solidFill>
                <a:latin typeface="Consolas"/>
              </a:defRPr>
            </a:pPr>
            <a:r>
              <a:t>            else -&gt; {</a:t>
            </a:r>
          </a:p>
          <a:p>
            <a:pPr algn="l">
              <a:defRPr sz="1100">
                <a:solidFill>
                  <a:srgbClr val="4ECCA3"/>
                </a:solidFill>
                <a:latin typeface="Consolas"/>
              </a:defRPr>
            </a:pPr>
            <a:r>
              <a:t>                // جمع بزرگ است؛ حرکت به سمت اعداد کوچک‌تر</a:t>
            </a:r>
          </a:p>
          <a:p>
            <a:pPr algn="l">
              <a:defRPr sz="1100">
                <a:solidFill>
                  <a:srgbClr val="4ECCA3"/>
                </a:solidFill>
                <a:latin typeface="Consolas"/>
              </a:defRPr>
            </a:pPr>
            <a:r>
              <a:t>                rightIndex--</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p>
          <a:p>
            <a:pPr algn="l">
              <a:defRPr sz="1100">
                <a:solidFill>
                  <a:srgbClr val="4ECCA3"/>
                </a:solidFill>
                <a:latin typeface="Consolas"/>
              </a:defRPr>
            </a:pPr>
            <a:r>
              <a:t>    return intArrayOf()</a:t>
            </a:r>
          </a:p>
          <a:p>
            <a:pPr algn="l">
              <a:defRPr sz="1100">
                <a:solidFill>
                  <a:srgbClr val="4ECCA3"/>
                </a:solidFill>
                <a:latin typeface="Consolas"/>
              </a:defRPr>
            </a:pPr>
            <a:r>
              <a:t>}</a:t>
            </a:r>
          </a:p>
        </p:txBody>
      </p:sp>
      <p:sp>
        <p:nvSpPr>
          <p:cNvPr id="5" name="TextBox 4"/>
          <p:cNvSpPr txBox="1"/>
          <p:nvPr/>
        </p:nvSpPr>
        <p:spPr>
          <a:xfrm>
            <a:off x="731520" y="4572000"/>
            <a:ext cx="10698480" cy="1463040"/>
          </a:xfrm>
          <a:prstGeom prst="rect">
            <a:avLst/>
          </a:prstGeom>
          <a:noFill/>
        </p:spPr>
        <p:txBody>
          <a:bodyPr wrap="square">
            <a:spAutoFit/>
          </a:bodyPr>
          <a:lstStyle/>
          <a:p>
            <a:pPr>
              <a:defRPr sz="1300">
                <a:solidFill>
                  <a:srgbClr val="DDE1F5"/>
                </a:solidFill>
              </a:defRPr>
            </a:pPr>
            <a:r>
              <a:t>• تفکیک شفاف نام‌ها: leftIndex، rightIndex و currentSum برای وضوح حداکثری منطق.</a:t>
            </a:r>
          </a:p>
          <a:p>
            <a:pPr>
              <a:defRPr sz="1300">
                <a:solidFill>
                  <a:srgbClr val="DDE1F5"/>
                </a:solidFill>
              </a:defRPr>
            </a:pPr>
            <a:r>
              <a:t>• ساختار ۳ وضعیتی when: خوانایی بالا برای سنجش برابری، کوچکتری و بزرگتری مجموع.</a:t>
            </a:r>
          </a:p>
          <a:p>
            <a:pPr>
              <a:defRPr sz="1300">
                <a:solidFill>
                  <a:srgbClr val="DDE1F5"/>
                </a:solidFill>
              </a:defRPr>
            </a:pPr>
            <a:r>
              <a:t>• پیچیدگی زمانی: O(n) با حداکثر یک بار جابجایی دو نشانگر.</a:t>
            </a:r>
          </a:p>
          <a:p>
            <a:pPr>
              <a:defRPr sz="1300">
                <a:solidFill>
                  <a:srgbClr val="DDE1F5"/>
                </a:solidFill>
              </a:defRPr>
            </a:pPr>
            <a:r>
              <a:t>• پیچیدگی فضایی: O(1) بدون هیچ ساختار داده کمکی اضافی.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شبیه‌ساز تعاملی · TWO POINTERS VISUALIZER  |  شبیه‌ساز تعاملی و گام‌به‌گام Two Sum II</a:t>
            </a:r>
          </a:p>
          <a:p>
            <a:pPr>
              <a:defRPr sz="1400">
                <a:solidFill>
                  <a:srgbClr val="969EB4"/>
                </a:solidFill>
              </a:defRPr>
            </a:pPr>
            <a:r>
              <a:t>همگرایی گام‌به‌گام دو نشانگر روی numbers = [1, 2, 4, 6, 8, 11, 15] و target = 10  |  LeetCode #167</a:t>
            </a:r>
          </a:p>
        </p:txBody>
      </p:sp>
      <p:sp>
        <p:nvSpPr>
          <p:cNvPr id="4" name="Rounded Rectangle 3"/>
          <p:cNvSpPr/>
          <p:nvPr/>
        </p:nvSpPr>
        <p:spPr>
          <a:xfrm>
            <a:off x="731520"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تکرار ۱: L=0 (۱), R=6 (۱۵)</a:t>
            </a:r>
          </a:p>
          <a:p>
            <a:pPr>
              <a:defRPr sz="1100">
                <a:solidFill>
                  <a:srgbClr val="DDE1F5"/>
                </a:solidFill>
              </a:defRPr>
            </a:pPr>
            <a:r>
              <a:t>جمع = 16 &gt; 10 ➔ جمع خیلی بزرگ است، کاهش نشانگر راست: R = 5</a:t>
            </a:r>
          </a:p>
        </p:txBody>
      </p:sp>
      <p:sp>
        <p:nvSpPr>
          <p:cNvPr id="5" name="Rounded Rectangle 4"/>
          <p:cNvSpPr/>
          <p:nvPr/>
        </p:nvSpPr>
        <p:spPr>
          <a:xfrm>
            <a:off x="346328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تکرار ۲: L=0 (۱), R=5 (۱۱)</a:t>
            </a:r>
          </a:p>
          <a:p>
            <a:pPr>
              <a:defRPr sz="1100">
                <a:solidFill>
                  <a:srgbClr val="DDE1F5"/>
                </a:solidFill>
              </a:defRPr>
            </a:pPr>
            <a:r>
              <a:t>جمع = 12 &gt; 10 ➔ باز هم جمع بزرگ است، کاهش نشانگر راست: R = 4</a:t>
            </a:r>
          </a:p>
        </p:txBody>
      </p:sp>
      <p:sp>
        <p:nvSpPr>
          <p:cNvPr id="6" name="Rounded Rectangle 5"/>
          <p:cNvSpPr/>
          <p:nvPr/>
        </p:nvSpPr>
        <p:spPr>
          <a:xfrm>
            <a:off x="6195059"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تکرار ۳: L=0 (۱), R=4 (۸)</a:t>
            </a:r>
          </a:p>
          <a:p>
            <a:pPr>
              <a:defRPr sz="1100">
                <a:solidFill>
                  <a:srgbClr val="DDE1F5"/>
                </a:solidFill>
              </a:defRPr>
            </a:pPr>
            <a:r>
              <a:t>جمع = 9 &lt; 10 ➔ جمع خیلی کوچک است، افزایش نشانگر چپ: L = 1</a:t>
            </a:r>
          </a:p>
        </p:txBody>
      </p:sp>
      <p:sp>
        <p:nvSpPr>
          <p:cNvPr id="7" name="Rounded Rectangle 6"/>
          <p:cNvSpPr/>
          <p:nvPr/>
        </p:nvSpPr>
        <p:spPr>
          <a:xfrm>
            <a:off x="8926830"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تکرار ۴: L=1 (۲), R=4 (۸)</a:t>
            </a:r>
          </a:p>
          <a:p>
            <a:pPr>
              <a:defRPr sz="1100">
                <a:solidFill>
                  <a:srgbClr val="DDE1F5"/>
                </a:solidFill>
              </a:defRPr>
            </a:pPr>
            <a:r>
              <a:t>جمع = 10 == target ➔ صید هدف! تبدیل به اندیس‌های ۱-محور: [2, 5] 🎉</a:t>
            </a:r>
          </a:p>
        </p:txBody>
      </p:sp>
      <p:sp>
        <p:nvSpPr>
          <p:cNvPr id="8" name="TextBox 7"/>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تک‌باکس ساده و متمرکز: وضعیت L، R، مقادیر عددی، جمع جاری و تصمیم گام بعد همگی در یک نگاه تریس می‌شوند.</a:t>
            </a:r>
          </a:p>
          <a:p>
            <a:pPr>
              <a:defRPr sz="1300">
                <a:solidFill>
                  <a:srgbClr val="DDE1F5"/>
                </a:solidFill>
              </a:defRPr>
            </a:pPr>
            <a:r>
              <a:t>• همگرایی قطعی: در هر گام یک عنصر به طور قطعی حذف می‌شود و فضای جستجو مرتباً کوچک‌تر می‌گردد.</a:t>
            </a:r>
          </a:p>
          <a:p>
            <a:pPr>
              <a:defRPr sz="1300">
                <a:solidFill>
                  <a:srgbClr val="DDE1F5"/>
                </a:solidFill>
              </a:defRPr>
            </a:pPr>
            <a:r>
              <a:t>• صفر بایت حافظه کمکی: الگوریتم با پیچیدگی فضایی O(1) بدون هیچ ساختار داده اضافی پاسخ را می‌یابد.</a:t>
            </a:r>
          </a:p>
          <a:p>
            <a:pPr>
              <a:defRPr sz="1300">
                <a:solidFill>
                  <a:srgbClr val="DDE1F5"/>
                </a:solidFill>
              </a:defRPr>
            </a:pPr>
            <a:r>
              <a:t>• اندیس‌های ۱-محور: تبدیل اندیس‌های صفر-محور [1, 4] به [2, 5] مطابق با خواسته صورت مسئله.</a:t>
            </a:r>
          </a:p>
        </p:txBody>
      </p:sp>
      <p:sp>
        <p:nvSpPr>
          <p:cNvPr id="9" name="Rounded Rectangle 8"/>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«با ۴ گام ساده و بدون مصرف حتی یک بایت حافظه کمکی، جفت بهینه در آرایه مرتب کشف شد.»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مسئله چالشی · CHALLENGING PROBLEM  |  مسئله سوم (چالشی): 3Sum - مجموع سه عدد (LeetCode #15)</a:t>
            </a:r>
          </a:p>
          <a:p>
            <a:pPr>
              <a:defRPr sz="1400">
                <a:solidFill>
                  <a:srgbClr val="969EB4"/>
                </a:solidFill>
              </a:defRPr>
            </a:pPr>
            <a:r>
              <a:t>یافتن تمام سه‌تایی‌های یکتای با مجموع صفر (a + b + c = 0) بدون تکرار</a:t>
            </a:r>
          </a:p>
        </p:txBody>
      </p:sp>
      <p:sp>
        <p:nvSpPr>
          <p:cNvPr id="4" name="Rounded Rectangle 3"/>
          <p:cNvSpPr/>
          <p:nvPr/>
        </p:nvSpPr>
        <p:spPr>
          <a:xfrm>
            <a:off x="731520"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۱. معادله هدف</a:t>
            </a:r>
          </a:p>
          <a:p>
            <a:pPr>
              <a:defRPr sz="1100">
                <a:solidFill>
                  <a:srgbClr val="DDE1F5"/>
                </a:solidFill>
              </a:defRPr>
            </a:pPr>
            <a:r>
              <a:t>معادله a + b + c = 0 معادل است با b + c = -a (کاهش به Two Sum!).</a:t>
            </a:r>
          </a:p>
        </p:txBody>
      </p:sp>
      <p:sp>
        <p:nvSpPr>
          <p:cNvPr id="5" name="Rounded Rectangle 4"/>
          <p:cNvSpPr/>
          <p:nvPr/>
        </p:nvSpPr>
        <p:spPr>
          <a:xfrm>
            <a:off x="3463289" y="1463040"/>
            <a:ext cx="2503170"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۲. بن‌بست Brute Force</a:t>
            </a:r>
          </a:p>
          <a:p>
            <a:pPr>
              <a:defRPr sz="1100">
                <a:solidFill>
                  <a:srgbClr val="DDE1F5"/>
                </a:solidFill>
              </a:defRPr>
            </a:pPr>
            <a:r>
              <a:t>سه حلقه تو در تو با O(n³)؛ برای ۳۰۰۰ عنصر به ۲۷ میلیارد عملیات می‌رسد!</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چالش بزرگ تکرارها</a:t>
            </a:r>
          </a:p>
          <a:p>
            <a:pPr>
              <a:defRPr sz="1100">
                <a:solidFill>
                  <a:srgbClr val="DDE1F5"/>
                </a:solidFill>
              </a:defRPr>
            </a:pPr>
            <a:r>
              <a:t>قید اکید مسئله: خروجی نباید شامل هیچ سه‌تایی تکراری باشد.</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شاه‌کلید مرتب‌سازی</a:t>
            </a:r>
          </a:p>
          <a:p>
            <a:pPr>
              <a:defRPr sz="1100">
                <a:solidFill>
                  <a:srgbClr val="DDE1F5"/>
                </a:solidFill>
              </a:defRPr>
            </a:pPr>
            <a:r>
              <a:t>مرتب‌سازی در O(n log n) امکان استفاده از Two Pointers و پرش از تکرارها را فراهم می‌کند.</a:t>
            </a:r>
          </a:p>
        </p:txBody>
      </p:sp>
      <p:sp>
        <p:nvSpPr>
          <p:cNvPr id="8" name="Rounded Rectangle 7"/>
          <p:cNvSpPr/>
          <p:nvPr/>
        </p:nvSpPr>
        <p:spPr>
          <a:xfrm>
            <a:off x="731520" y="370332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تله رایج: استفاده از HashSet</a:t>
            </a:r>
          </a:p>
          <a:p>
            <a:pPr>
              <a:defRPr sz="1100">
                <a:solidFill>
                  <a:srgbClr val="DDE1F5"/>
                </a:solidFill>
              </a:defRPr>
            </a:pPr>
            <a:r>
              <a:t>ریختن پاسخ‌ها در HashSet برای رفع تکرار، مصرف حافظه و زمان مقایسه زیادی ایجاد می‌کند.</a:t>
            </a:r>
          </a:p>
        </p:txBody>
      </p:sp>
      <p:sp>
        <p:nvSpPr>
          <p:cNvPr id="9" name="Rounded Rectangle 8"/>
          <p:cNvSpPr/>
          <p:nvPr/>
        </p:nvSpPr>
        <p:spPr>
          <a:xfrm>
            <a:off x="6217920" y="370332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حذف تکرار درجا (In-Place)</a:t>
            </a:r>
          </a:p>
          <a:p>
            <a:pPr>
              <a:defRPr sz="1100">
                <a:solidFill>
                  <a:srgbClr val="DDE1F5"/>
                </a:solidFill>
              </a:defRPr>
            </a:pPr>
            <a:r>
              <a:t>با مرتب بودن آرایه، عناصر تکراری هم‌جوارند و با پرش ساده نشانگرها، بدون حافظه اضافی حذف می‌شوند.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روش غیربهینه · NAIVE APPROACH  |  راه‌حل ساده و غیربهینه: بن‌بست ۳ حلقه‌ای Brute Force و تله تکرارها با HashSet</a:t>
            </a:r>
          </a:p>
          <a:p>
            <a:pPr>
              <a:defRPr sz="1400">
                <a:solidFill>
                  <a:srgbClr val="969EB4"/>
                </a:solidFill>
              </a:defRPr>
            </a:pPr>
            <a:r>
              <a:t>چرا تلاش برای حل مستقیم 3Sum به فاجعه زمانی و خطاهای متعدد می‌انجامد؟ | LeetCode #15</a:t>
            </a:r>
          </a:p>
        </p:txBody>
      </p:sp>
      <p:sp>
        <p:nvSpPr>
          <p:cNvPr id="4" name="Rounded Rectangle 3"/>
          <p:cNvSpPr/>
          <p:nvPr/>
        </p:nvSpPr>
        <p:spPr>
          <a:xfrm>
            <a:off x="731520" y="1463040"/>
            <a:ext cx="2503170"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۱. انفجار زمانی O(n³)</a:t>
            </a:r>
          </a:p>
          <a:p>
            <a:pPr>
              <a:defRPr sz="1100">
                <a:solidFill>
                  <a:srgbClr val="DDE1F5"/>
                </a:solidFill>
              </a:defRPr>
            </a:pPr>
            <a:r>
              <a:t>سه حلقه تو در تو؛ برای n=3000 به ۴.۵ میلیارد عملیات می‌رسد و فوراً با خطای TLE متوقف می‌شود.</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۲. تله حافظه با HashSet</a:t>
            </a:r>
          </a:p>
          <a:p>
            <a:pPr>
              <a:defRPr sz="1100">
                <a:solidFill>
                  <a:srgbClr val="DDE1F5"/>
                </a:solidFill>
              </a:defRPr>
            </a:pPr>
            <a:r>
              <a:t>ریختن سه‌تایی‌ها در Set برای حذف تکرار، خطر بروز خطای Memory Limit Exceeded (MLE) دارد.</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۳. ضعف معماری کد</a:t>
            </a:r>
          </a:p>
          <a:p>
            <a:pPr>
              <a:defRPr sz="1100">
                <a:solidFill>
                  <a:srgbClr val="DDE1F5"/>
                </a:solidFill>
              </a:defRPr>
            </a:pPr>
            <a:r>
              <a:t>تکیه بر Set به جای مهار ریاضی اندیس‌ها، نشان‌دهنده ناتوانی الگوریتمی در کنترل داده‌هاست.</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۴. نقطه عطف: مرتب‌سازی</a:t>
            </a:r>
          </a:p>
          <a:p>
            <a:pPr>
              <a:defRPr sz="1100">
                <a:solidFill>
                  <a:srgbClr val="DDE1F5"/>
                </a:solidFill>
              </a:defRPr>
            </a:pPr>
            <a:r>
              <a:t>با مرتب‌سازی در O(n log n)، مسئله ۳ عنصری به تثبیت یک عدد و حل Two Sum II کاهش می‌یابد.</a:t>
            </a:r>
          </a:p>
        </p:txBody>
      </p:sp>
      <p:sp>
        <p:nvSpPr>
          <p:cNvPr id="8" name="Rounded Rectangle 7"/>
          <p:cNvSpPr/>
          <p:nvPr/>
        </p:nvSpPr>
        <p:spPr>
          <a:xfrm>
            <a:off x="731520" y="3703320"/>
            <a:ext cx="5212080" cy="1645920"/>
          </a:xfrm>
          <a:prstGeom prst="roundRect">
            <a:avLst/>
          </a:prstGeom>
          <a:solidFill>
            <a:srgbClr val="231216"/>
          </a:solidFill>
          <a:ln>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96C6C"/>
                </a:solidFill>
              </a:defRPr>
            </a:pPr>
            <a:r>
              <a:t>⚠️ شکست کامل Brute Force</a:t>
            </a:r>
          </a:p>
          <a:p>
            <a:pPr>
              <a:defRPr sz="1100">
                <a:solidFill>
                  <a:srgbClr val="DDE1F5"/>
                </a:solidFill>
              </a:defRPr>
            </a:pPr>
            <a:r>
              <a:t>زمان O(n³)، مصرف سرسام‌آور حافظه Heap با ساخت آبجکت‌های موقت، و افت وحشتناک پرفورمنس.</a:t>
            </a:r>
          </a:p>
        </p:txBody>
      </p:sp>
      <p:sp>
        <p:nvSpPr>
          <p:cNvPr id="9" name="Rounded Rectangle 8"/>
          <p:cNvSpPr/>
          <p:nvPr/>
        </p:nvSpPr>
        <p:spPr>
          <a:xfrm>
            <a:off x="6217920" y="3703320"/>
            <a:ext cx="5212080" cy="1645920"/>
          </a:xfrm>
          <a:prstGeom prst="roundRect">
            <a:avLst/>
          </a:prstGeom>
          <a:solidFill>
            <a:srgbClr val="10231E"/>
          </a:solidFill>
          <a:ln>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4ECCA3"/>
                </a:solidFill>
              </a:defRPr>
            </a:pPr>
            <a:r>
              <a:t>✅ راه نجات: کاهش مسئله به Two Sum II</a:t>
            </a:r>
          </a:p>
          <a:p>
            <a:pPr>
              <a:defRPr sz="1100">
                <a:solidFill>
                  <a:srgbClr val="DDE1F5"/>
                </a:solidFill>
              </a:defRPr>
            </a:pPr>
            <a:r>
              <a:t>رسیدن به زمان O(n²) و حافظه کمکی O(1) با پرش‌های درجا از روی عناصر تکراری بدون نیاز به Set!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کاهش الگو · PATTERN REDUCTION  |  کاهش الگو: تبدیل 3Sum به Two Sum II و حذف تکرارها</a:t>
            </a:r>
          </a:p>
          <a:p>
            <a:pPr>
              <a:defRPr sz="1400">
                <a:solidFill>
                  <a:srgbClr val="969EB4"/>
                </a:solidFill>
              </a:defRPr>
            </a:pPr>
            <a:r>
              <a:t>استراتژی ۴ گانه: مرتب‌سازی + تثبیت عنصر اول + دو نشانگر + پرش از تکرارها</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گام ۱: مرتب‌سازی</a:t>
            </a:r>
          </a:p>
          <a:p>
            <a:pPr>
              <a:defRPr sz="1100">
                <a:solidFill>
                  <a:srgbClr val="DDE1F5"/>
                </a:solidFill>
              </a:defRPr>
            </a:pPr>
            <a:r>
              <a:t>nums.sort() در O(n log n)؛ مقادیر مساوی کنار هم می‌نشینند.</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گام ۲: توقف زودهنگام</a:t>
            </a:r>
          </a:p>
          <a:p>
            <a:pPr>
              <a:defRPr sz="1100">
                <a:solidFill>
                  <a:srgbClr val="DDE1F5"/>
                </a:solidFill>
              </a:defRPr>
            </a:pPr>
            <a:r>
              <a:t>اگر nums[i] &gt; 0 باشد، جمع سه عدد مثبت هرگز صفر نمی‌شود (break).</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گام ۳: پرش در حلقه بیرونی</a:t>
            </a:r>
          </a:p>
          <a:p>
            <a:pPr>
              <a:defRPr sz="1100">
                <a:solidFill>
                  <a:srgbClr val="DDE1F5"/>
                </a:solidFill>
              </a:defRPr>
            </a:pPr>
            <a:r>
              <a:t>اگر nums[i] == nums[i-1] باشد، با continue از عدد تکراری می‌گذریم.</a:t>
            </a:r>
          </a:p>
        </p:txBody>
      </p:sp>
      <p:sp>
        <p:nvSpPr>
          <p:cNvPr id="7" name="Rounded Rectangle 6"/>
          <p:cNvSpPr/>
          <p:nvPr/>
        </p:nvSpPr>
        <p:spPr>
          <a:xfrm>
            <a:off x="8926830"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گام ۴: پرش در دو نشانگر</a:t>
            </a:r>
          </a:p>
          <a:p>
            <a:pPr>
              <a:defRPr sz="1100">
                <a:solidFill>
                  <a:srgbClr val="DDE1F5"/>
                </a:solidFill>
              </a:defRPr>
            </a:pPr>
            <a:r>
              <a:t>پس از ثبت پاسخ، left و right از روی عناصر تکراری مجاور رد می‌شوند.</a:t>
            </a:r>
          </a:p>
        </p:txBody>
      </p:sp>
      <p:sp>
        <p:nvSpPr>
          <p:cNvPr id="8" name="TextBox 7"/>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تبدیل مسئله ۳ متغیره به ۲ متغیره: تثبیت firstNum = nums[i] و جستجوی جفت با جمع -firstNum.</a:t>
            </a:r>
          </a:p>
          <a:p>
            <a:pPr>
              <a:defRPr sz="1300">
                <a:solidFill>
                  <a:srgbClr val="DDE1F5"/>
                </a:solidFill>
              </a:defRPr>
            </a:pPr>
            <a:r>
              <a:t>• چون آرایه مرتب است، جستجوی جفت در باقی‌مانده آرایه دقیقاً همان Two Sum II است!</a:t>
            </a:r>
          </a:p>
          <a:p>
            <a:pPr>
              <a:defRPr sz="1300">
                <a:solidFill>
                  <a:srgbClr val="DDE1F5"/>
                </a:solidFill>
              </a:defRPr>
            </a:pPr>
            <a:r>
              <a:t>• حذف کامل سربار حافظه: مدیریت هوشمندانه اندیس‌ها نیاز به Set را کاملاً منتفی می‌کند.</a:t>
            </a:r>
          </a:p>
          <a:p>
            <a:pPr>
              <a:defRPr sz="1300">
                <a:solidFill>
                  <a:srgbClr val="DDE1F5"/>
                </a:solidFill>
              </a:defRPr>
            </a:pPr>
            <a:r>
              <a:t>• پیچیدگی زمانی کلی: O(n log n + n²) = O(n²) با جهش از مرتبه O(n³).</a:t>
            </a:r>
          </a:p>
        </p:txBody>
      </p:sp>
      <p:sp>
        <p:nvSpPr>
          <p:cNvPr id="9" name="Rounded Rectangle 8"/>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«مسائل سخت‌تر، تنها ترکیبی هنرمندانه از الگوهای پایه قبلی هستند.»</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کدنویسی تمیز · CLEAN KOTLIN  |  پیاده‌سازی تمیز در کاتلین: 3Sum</a:t>
            </a:r>
          </a:p>
          <a:p>
            <a:pPr>
              <a:defRPr sz="1400">
                <a:solidFill>
                  <a:srgbClr val="969EB4"/>
                </a:solidFill>
              </a:defRPr>
            </a:pPr>
            <a:r>
              <a:t>مرتب‌سازی + حلقه بیرونی + الگوی Two Pointers با پرش کامل از عناصر تکراری</a:t>
            </a:r>
          </a:p>
        </p:txBody>
      </p:sp>
      <p:sp>
        <p:nvSpPr>
          <p:cNvPr id="4" name="Rounded Rectangle 3"/>
          <p:cNvSpPr/>
          <p:nvPr/>
        </p:nvSpPr>
        <p:spPr>
          <a:xfrm>
            <a:off x="731520" y="1463040"/>
            <a:ext cx="10698480" cy="2926080"/>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fun threeSum(nums: IntArray): List&lt;List&lt;Int&gt;&gt; {</a:t>
            </a:r>
          </a:p>
          <a:p>
            <a:pPr algn="l">
              <a:defRPr sz="1100">
                <a:solidFill>
                  <a:srgbClr val="4ECCA3"/>
                </a:solidFill>
                <a:latin typeface="Consolas"/>
              </a:defRPr>
            </a:pPr>
            <a:r>
              <a:t>    val result = mutableListOf&lt;List&lt;Int&gt;&gt;()</a:t>
            </a:r>
          </a:p>
          <a:p>
            <a:pPr algn="l">
              <a:defRPr sz="1100">
                <a:solidFill>
                  <a:srgbClr val="4ECCA3"/>
                </a:solidFill>
                <a:latin typeface="Consolas"/>
              </a:defRPr>
            </a:pPr>
            <a:r>
              <a:t>    nums.sort() // مرتب‌سازی O(n log n)</a:t>
            </a:r>
          </a:p>
          <a:p>
            <a:pPr algn="l">
              <a:defRPr sz="1100">
                <a:solidFill>
                  <a:srgbClr val="4ECCA3"/>
                </a:solidFill>
                <a:latin typeface="Consolas"/>
              </a:defRPr>
            </a:pPr>
          </a:p>
          <a:p>
            <a:pPr algn="l">
              <a:defRPr sz="1100">
                <a:solidFill>
                  <a:srgbClr val="4ECCA3"/>
                </a:solidFill>
                <a:latin typeface="Consolas"/>
              </a:defRPr>
            </a:pPr>
            <a:r>
              <a:t>    for (i in 0 until nums.size - 2) {</a:t>
            </a:r>
          </a:p>
          <a:p>
            <a:pPr algn="l">
              <a:defRPr sz="1100">
                <a:solidFill>
                  <a:srgbClr val="4ECCA3"/>
                </a:solidFill>
                <a:latin typeface="Consolas"/>
              </a:defRPr>
            </a:pPr>
            <a:r>
              <a:t>        val firstNum = nums[i]</a:t>
            </a:r>
          </a:p>
          <a:p>
            <a:pPr algn="l">
              <a:defRPr sz="1100">
                <a:solidFill>
                  <a:srgbClr val="4ECCA3"/>
                </a:solidFill>
                <a:latin typeface="Consolas"/>
              </a:defRPr>
            </a:pPr>
            <a:r>
              <a:t>        if (firstNum &gt; 0) break // توقف زودهنگام</a:t>
            </a:r>
          </a:p>
          <a:p>
            <a:pPr algn="l">
              <a:defRPr sz="1100">
                <a:solidFill>
                  <a:srgbClr val="4ECCA3"/>
                </a:solidFill>
                <a:latin typeface="Consolas"/>
              </a:defRPr>
            </a:pPr>
            <a:r>
              <a:t>        if (i &gt; 0 &amp;&amp; firstNum == nums[i - 1]) continue // پرش تکراری بیرونی</a:t>
            </a:r>
          </a:p>
          <a:p>
            <a:pPr algn="l">
              <a:defRPr sz="1100">
                <a:solidFill>
                  <a:srgbClr val="4ECCA3"/>
                </a:solidFill>
                <a:latin typeface="Consolas"/>
              </a:defRPr>
            </a:pPr>
          </a:p>
          <a:p>
            <a:pPr algn="l">
              <a:defRPr sz="1100">
                <a:solidFill>
                  <a:srgbClr val="4ECCA3"/>
                </a:solidFill>
                <a:latin typeface="Consolas"/>
              </a:defRPr>
            </a:pPr>
            <a:r>
              <a:t>        var leftIndex = i + 1</a:t>
            </a:r>
          </a:p>
          <a:p>
            <a:pPr algn="l">
              <a:defRPr sz="1100">
                <a:solidFill>
                  <a:srgbClr val="4ECCA3"/>
                </a:solidFill>
                <a:latin typeface="Consolas"/>
              </a:defRPr>
            </a:pPr>
            <a:r>
              <a:t>        var rightIndex = nums.size - 1</a:t>
            </a:r>
          </a:p>
          <a:p>
            <a:pPr algn="l">
              <a:defRPr sz="1100">
                <a:solidFill>
                  <a:srgbClr val="4ECCA3"/>
                </a:solidFill>
                <a:latin typeface="Consolas"/>
              </a:defRPr>
            </a:pPr>
          </a:p>
          <a:p>
            <a:pPr algn="l">
              <a:defRPr sz="1100">
                <a:solidFill>
                  <a:srgbClr val="4ECCA3"/>
                </a:solidFill>
                <a:latin typeface="Consolas"/>
              </a:defRPr>
            </a:pPr>
            <a:r>
              <a:t>        while (leftIndex &lt; rightIndex) {</a:t>
            </a:r>
          </a:p>
          <a:p>
            <a:pPr algn="l">
              <a:defRPr sz="1100">
                <a:solidFill>
                  <a:srgbClr val="4ECCA3"/>
                </a:solidFill>
                <a:latin typeface="Consolas"/>
              </a:defRPr>
            </a:pPr>
            <a:r>
              <a:t>            val currentSum = firstNum + nums[leftIndex] + nums[rightIndex]</a:t>
            </a:r>
          </a:p>
          <a:p>
            <a:pPr algn="l">
              <a:defRPr sz="1100">
                <a:solidFill>
                  <a:srgbClr val="4ECCA3"/>
                </a:solidFill>
                <a:latin typeface="Consolas"/>
              </a:defRPr>
            </a:pPr>
            <a:r>
              <a:t>            when {</a:t>
            </a:r>
          </a:p>
          <a:p>
            <a:pPr algn="l">
              <a:defRPr sz="1100">
                <a:solidFill>
                  <a:srgbClr val="4ECCA3"/>
                </a:solidFill>
                <a:latin typeface="Consolas"/>
              </a:defRPr>
            </a:pPr>
            <a:r>
              <a:t>                currentSum == 0 -&gt; {</a:t>
            </a:r>
          </a:p>
          <a:p>
            <a:pPr algn="l">
              <a:defRPr sz="1100">
                <a:solidFill>
                  <a:srgbClr val="4ECCA3"/>
                </a:solidFill>
                <a:latin typeface="Consolas"/>
              </a:defRPr>
            </a:pPr>
            <a:r>
              <a:t>                    result.add(listOf(firstNum, nums[leftIndex], nums[rightIndex]))</a:t>
            </a:r>
          </a:p>
          <a:p>
            <a:pPr algn="l">
              <a:defRPr sz="1100">
                <a:solidFill>
                  <a:srgbClr val="4ECCA3"/>
                </a:solidFill>
                <a:latin typeface="Consolas"/>
              </a:defRPr>
            </a:pPr>
            <a:r>
              <a:t>                    while (leftIndex &lt; rightIndex &amp;&amp; nums[leftIndex] == nums[leftIndex + 1]) leftIndex++</a:t>
            </a:r>
          </a:p>
          <a:p>
            <a:pPr algn="l">
              <a:defRPr sz="1100">
                <a:solidFill>
                  <a:srgbClr val="4ECCA3"/>
                </a:solidFill>
                <a:latin typeface="Consolas"/>
              </a:defRPr>
            </a:pPr>
            <a:r>
              <a:t>                    while (leftIndex &lt; rightIndex &amp;&amp; nums[rightIndex] == nums[rightIndex - 1]) rightIndex--</a:t>
            </a:r>
          </a:p>
          <a:p>
            <a:pPr algn="l">
              <a:defRPr sz="1100">
                <a:solidFill>
                  <a:srgbClr val="4ECCA3"/>
                </a:solidFill>
                <a:latin typeface="Consolas"/>
              </a:defRPr>
            </a:pPr>
            <a:r>
              <a:t>                    leftIndex++</a:t>
            </a:r>
          </a:p>
          <a:p>
            <a:pPr algn="l">
              <a:defRPr sz="1100">
                <a:solidFill>
                  <a:srgbClr val="4ECCA3"/>
                </a:solidFill>
                <a:latin typeface="Consolas"/>
              </a:defRPr>
            </a:pPr>
            <a:r>
              <a:t>                    rightIndex--</a:t>
            </a:r>
          </a:p>
          <a:p>
            <a:pPr algn="l">
              <a:defRPr sz="1100">
                <a:solidFill>
                  <a:srgbClr val="4ECCA3"/>
                </a:solidFill>
                <a:latin typeface="Consolas"/>
              </a:defRPr>
            </a:pPr>
            <a:r>
              <a:t>                }</a:t>
            </a:r>
          </a:p>
          <a:p>
            <a:pPr algn="l">
              <a:defRPr sz="1100">
                <a:solidFill>
                  <a:srgbClr val="4ECCA3"/>
                </a:solidFill>
                <a:latin typeface="Consolas"/>
              </a:defRPr>
            </a:pPr>
            <a:r>
              <a:t>                currentSum &lt; 0 -&gt; leftIndex++</a:t>
            </a:r>
          </a:p>
          <a:p>
            <a:pPr algn="l">
              <a:defRPr sz="1100">
                <a:solidFill>
                  <a:srgbClr val="4ECCA3"/>
                </a:solidFill>
                <a:latin typeface="Consolas"/>
              </a:defRPr>
            </a:pPr>
            <a:r>
              <a:t>                else -&gt; rightIndex--</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r>
              <a:t>    }</a:t>
            </a:r>
          </a:p>
          <a:p>
            <a:pPr algn="l">
              <a:defRPr sz="1100">
                <a:solidFill>
                  <a:srgbClr val="4ECCA3"/>
                </a:solidFill>
                <a:latin typeface="Consolas"/>
              </a:defRPr>
            </a:pPr>
            <a:r>
              <a:t>    return result</a:t>
            </a:r>
          </a:p>
          <a:p>
            <a:pPr algn="l">
              <a:defRPr sz="1100">
                <a:solidFill>
                  <a:srgbClr val="4ECCA3"/>
                </a:solidFill>
                <a:latin typeface="Consolas"/>
              </a:defRPr>
            </a:pPr>
            <a:r>
              <a:t>}</a:t>
            </a:r>
          </a:p>
        </p:txBody>
      </p:sp>
      <p:sp>
        <p:nvSpPr>
          <p:cNvPr id="5" name="TextBox 4"/>
          <p:cNvSpPr txBox="1"/>
          <p:nvPr/>
        </p:nvSpPr>
        <p:spPr>
          <a:xfrm>
            <a:off x="731520" y="4572000"/>
            <a:ext cx="10698480" cy="1463040"/>
          </a:xfrm>
          <a:prstGeom prst="rect">
            <a:avLst/>
          </a:prstGeom>
          <a:noFill/>
        </p:spPr>
        <p:txBody>
          <a:bodyPr wrap="square">
            <a:spAutoFit/>
          </a:bodyPr>
          <a:lstStyle/>
          <a:p>
            <a:pPr>
              <a:defRPr sz="1300">
                <a:solidFill>
                  <a:srgbClr val="DDE1F5"/>
                </a:solidFill>
              </a:defRPr>
            </a:pPr>
            <a:r>
              <a:t>• بهینه‌سازی firstNum &gt; 0: جلوگیری فوری از محاسبات بی‌فایده در اعداد مثبت.</a:t>
            </a:r>
          </a:p>
          <a:p>
            <a:pPr>
              <a:defRPr sz="1300">
                <a:solidFill>
                  <a:srgbClr val="DDE1F5"/>
                </a:solidFill>
              </a:defRPr>
            </a:pPr>
            <a:r>
              <a:t>• مدیریت دوگانه تکرار: شرط continue در حلقه بیرونی و دو حلقه while درونی.</a:t>
            </a:r>
          </a:p>
          <a:p>
            <a:pPr>
              <a:defRPr sz="1300">
                <a:solidFill>
                  <a:srgbClr val="DDE1F5"/>
                </a:solidFill>
              </a:defRPr>
            </a:pPr>
            <a:r>
              <a:t>• پیچیدگی زمانی: O(n²) — کاهش فوق‌العاده از O(n³).</a:t>
            </a:r>
          </a:p>
          <a:p>
            <a:pPr>
              <a:defRPr sz="1300">
                <a:solidFill>
                  <a:srgbClr val="DDE1F5"/>
                </a:solidFill>
              </a:defRPr>
            </a:pPr>
            <a:r>
              <a:t>• پیچیدگی فضایی: O(1) حافظه کمکی (بدون احتساب لیست خروجی).</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شبیه‌ساز تعاملی · 3SUM REDUCTION VISUALIZER  |  شبیه‌ساز تعاملی و گام‌به‌گام الگوریتم 3Sum</a:t>
            </a:r>
          </a:p>
          <a:p>
            <a:pPr>
              <a:defRPr sz="1400">
                <a:solidFill>
                  <a:srgbClr val="969EB4"/>
                </a:solidFill>
              </a:defRPr>
            </a:pPr>
            <a:r>
              <a:t>تثبیت عنصر اول، دو نشانگر و پرش از تکرارها روی nums = [-4, -1, -1, 0, 1, 2]  |  LeetCode #15</a:t>
            </a:r>
          </a:p>
        </p:txBody>
      </p:sp>
      <p:sp>
        <p:nvSpPr>
          <p:cNvPr id="4" name="Rounded Rectangle 3"/>
          <p:cNvSpPr/>
          <p:nvPr/>
        </p:nvSpPr>
        <p:spPr>
          <a:xfrm>
            <a:off x="731520"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تکرار ۱: i=0 (عنصر ۴-)</a:t>
            </a:r>
          </a:p>
          <a:p>
            <a:pPr>
              <a:defRPr sz="1100">
                <a:solidFill>
                  <a:srgbClr val="DDE1F5"/>
                </a:solidFill>
              </a:defRPr>
            </a:pPr>
            <a:r>
              <a:t>بازه [1..5] بررسی شد؛ حتی با بزرگ‌ترین عناصر، مجموع به صفر نمی‌رسد.</a:t>
            </a:r>
          </a:p>
        </p:txBody>
      </p:sp>
      <p:sp>
        <p:nvSpPr>
          <p:cNvPr id="5" name="Rounded Rectangle 4"/>
          <p:cNvSpPr/>
          <p:nvPr/>
        </p:nvSpPr>
        <p:spPr>
          <a:xfrm>
            <a:off x="3463289"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تکرار ۲: i=1 (عنصر ۱-)</a:t>
            </a:r>
          </a:p>
          <a:p>
            <a:pPr>
              <a:defRPr sz="1100">
                <a:solidFill>
                  <a:srgbClr val="DDE1F5"/>
                </a:solidFill>
              </a:defRPr>
            </a:pPr>
            <a:r>
              <a:t>L=2 (-1), R=5 (2) ➔ جمع = ۰ ➔ شکار اولین سه‌تایی: [-1, -1, 2] 🎉</a:t>
            </a:r>
          </a:p>
        </p:txBody>
      </p:sp>
      <p:sp>
        <p:nvSpPr>
          <p:cNvPr id="6" name="Rounded Rectangle 5"/>
          <p:cNvSpPr/>
          <p:nvPr/>
        </p:nvSpPr>
        <p:spPr>
          <a:xfrm>
            <a:off x="6195059" y="1463040"/>
            <a:ext cx="2503170" cy="2011680"/>
          </a:xfrm>
          <a:prstGeom prst="roundRect">
            <a:avLst/>
          </a:prstGeom>
          <a:solidFill>
            <a:srgbClr val="14142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تکرار ۳: ادامه i=1</a:t>
            </a:r>
          </a:p>
          <a:p>
            <a:pPr>
              <a:defRPr sz="1100">
                <a:solidFill>
                  <a:srgbClr val="DDE1F5"/>
                </a:solidFill>
              </a:defRPr>
            </a:pPr>
            <a:r>
              <a:t>L=3 (0), R=4 (1) ➔ جمع = ۰ ➔ شکار دومین سه‌تایی: [-1, 0, 1] 🎉</a:t>
            </a:r>
          </a:p>
        </p:txBody>
      </p:sp>
      <p:sp>
        <p:nvSpPr>
          <p:cNvPr id="7" name="Rounded Rectangle 6"/>
          <p:cNvSpPr/>
          <p:nvPr/>
        </p:nvSpPr>
        <p:spPr>
          <a:xfrm>
            <a:off x="8926830"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تکرار ۴ و ۵: پرش و خروج</a:t>
            </a:r>
          </a:p>
          <a:p>
            <a:pPr>
              <a:defRPr sz="1100">
                <a:solidFill>
                  <a:srgbClr val="DDE1F5"/>
                </a:solidFill>
              </a:defRPr>
            </a:pPr>
            <a:r>
              <a:t>در i=2 پرش با continue (تکراری با i=1)؛ در i=4 خروج زودهنگام با break (عدد مثبت)</a:t>
            </a:r>
          </a:p>
        </p:txBody>
      </p:sp>
      <p:sp>
        <p:nvSpPr>
          <p:cNvPr id="8" name="TextBox 7"/>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باکس یکپارچه تریس: متغیرهای i، L، R، مقادیر سه‌تایی و وضعیت تصمیم‌گیری در یک قالب شسته‌رفته قرار دارند.</a:t>
            </a:r>
          </a:p>
          <a:p>
            <a:pPr>
              <a:defRPr sz="1300">
                <a:solidFill>
                  <a:srgbClr val="DDE1F5"/>
                </a:solidFill>
              </a:defRPr>
            </a:pPr>
            <a:r>
              <a:t>• تثبیت عنصر اول و دو نشانگر: نمایش زنده کاهش مسئله 3Sum به الگوی Two Sum II در هر دور حلقه.</a:t>
            </a:r>
          </a:p>
          <a:p>
            <a:pPr>
              <a:defRPr sz="1300">
                <a:solidFill>
                  <a:srgbClr val="DDE1F5"/>
                </a:solidFill>
              </a:defRPr>
            </a:pPr>
            <a:r>
              <a:t>• پرش بدون هزینه حافظه: حذف سه‌تایی‌های تکراری با شرط continue و پرش‌های حلقه داخلی بدون نیاز به Set.</a:t>
            </a:r>
          </a:p>
          <a:p>
            <a:pPr>
              <a:defRPr sz="1300">
                <a:solidFill>
                  <a:srgbClr val="DDE1F5"/>
                </a:solidFill>
              </a:defRPr>
            </a:pPr>
            <a:r>
              <a:t>• توقف زودهنگام (Early Exit): توقف فوری به محض مثبت شدن عنصر اول (firstNum &gt; 0) به دلیل سورت بودن داده‌ها.</a:t>
            </a:r>
          </a:p>
        </p:txBody>
      </p:sp>
      <p:sp>
        <p:nvSpPr>
          <p:cNvPr id="9" name="Rounded Rectangle 8"/>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«با مرتب‌سازی و پرش‌های هوشمندانه، الگوریتم از O(n³) به O(n²) ارتقا یافت بدون تولید هیچ پاسخ تکراری!»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تجربه عملی مهندسی · REAL-WORLD CASE STUDY  |  مطالعه موردی در پروداکشن: چالش CardStack در سپینو</a:t>
            </a:r>
          </a:p>
          <a:p>
            <a:pPr>
              <a:defRPr sz="1400">
                <a:solidFill>
                  <a:srgbClr val="969EB4"/>
                </a:solidFill>
              </a:defRPr>
            </a:pPr>
            <a:r>
              <a:t>الگوریتم‌ها فقط برای مصاحبه نیستند؛ انتخاب درست داده ضامن روانی رابط کاربری است:</a:t>
            </a:r>
          </a:p>
        </p:txBody>
      </p:sp>
      <p:sp>
        <p:nvSpPr>
          <p:cNvPr id="4" name="Rounded Rectangle 3"/>
          <p:cNvSpPr/>
          <p:nvPr/>
        </p:nvSpPr>
        <p:spPr>
          <a:xfrm>
            <a:off x="731520" y="1463040"/>
            <a:ext cx="523494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۱. داده‌های ورودی</a:t>
            </a:r>
          </a:p>
          <a:p>
            <a:pPr>
              <a:defRPr sz="1100">
                <a:solidFill>
                  <a:srgbClr val="DDE1F5"/>
                </a:solidFill>
              </a:defRPr>
            </a:pPr>
            <a:r>
              <a:t>دو لیست currentItems (در حال نمایش) و newCardsList (تازه از سرور).</a:t>
            </a:r>
          </a:p>
        </p:txBody>
      </p:sp>
      <p:sp>
        <p:nvSpPr>
          <p:cNvPr id="5" name="Rounded Rectangle 4"/>
          <p:cNvSpPr/>
          <p:nvPr/>
        </p:nvSpPr>
        <p:spPr>
          <a:xfrm>
            <a:off x="6195059" y="1463040"/>
            <a:ext cx="523494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۲. رفتار مورد انتظار</a:t>
            </a:r>
          </a:p>
          <a:p>
            <a:pPr>
              <a:defRPr sz="1100">
                <a:solidFill>
                  <a:srgbClr val="DDE1F5"/>
                </a:solidFill>
              </a:defRPr>
            </a:pPr>
            <a:r>
              <a:t>حفظ کارت‌های مشترک بدون فلیکر، حذف قدیمی‌ها، و اضافه کردن جدیدها به انتها.</a:t>
            </a:r>
          </a:p>
        </p:txBody>
      </p:sp>
      <p:sp>
        <p:nvSpPr>
          <p:cNvPr id="6" name="TextBox 5"/>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چالش در کامپوز: پاک‌کردن و ساخت مجدد لیست باعث Recomposition سنگین و نابودی انیمیشن کارت‌ها (Jank) می‌شود.</a:t>
            </a:r>
          </a:p>
          <a:p>
            <a:pPr>
              <a:defRPr sz="1300">
                <a:solidFill>
                  <a:srgbClr val="DDE1F5"/>
                </a:solidFill>
              </a:defRPr>
            </a:pPr>
            <a:r>
              <a:t>• نیاز به تابع خالص: پیاده‌سازی syncCardStackState برای هماهنگ‌سازی بهینه پشته کارت‌ها.</a:t>
            </a:r>
          </a:p>
        </p:txBody>
      </p:sp>
      <p:sp>
        <p:nvSpPr>
          <p:cNvPr id="7" name="Rounded Rectangle 6"/>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«تفاوت مهندس ارشد با کدنویس معمولی در توانایی شناسایی پیچیدگی الگوریتمی کدهای به ظاهر ساده کاتلین است.»</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کد غیربهینه · BRUTE FORCE O(N²)  |  راه‌حل اول (غیربهینه): فیلتر مستقیم روی List</a:t>
            </a:r>
          </a:p>
          <a:p>
            <a:pPr>
              <a:defRPr sz="1400">
                <a:solidFill>
                  <a:srgbClr val="969EB4"/>
                </a:solidFill>
              </a:defRPr>
            </a:pPr>
            <a:r>
              <a:t>استفاده فریبنده از ابزارهای اعلانی کاتلین بدون توجه به پیچیدگی زیر کاپوت:</a:t>
            </a:r>
          </a:p>
        </p:txBody>
      </p:sp>
      <p:sp>
        <p:nvSpPr>
          <p:cNvPr id="4" name="Rounded Rectangle 3"/>
          <p:cNvSpPr/>
          <p:nvPr/>
        </p:nvSpPr>
        <p:spPr>
          <a:xfrm>
            <a:off x="731520" y="1463040"/>
            <a:ext cx="3413759"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ظاهر فریبنده کاتلین</a:t>
            </a:r>
          </a:p>
          <a:p>
            <a:pPr>
              <a:defRPr sz="1100">
                <a:solidFill>
                  <a:srgbClr val="DDE1F5"/>
                </a:solidFill>
              </a:defRPr>
            </a:pPr>
            <a:r>
              <a:t>کد فقط ۲ خط و بسیار خواناست و تست‌های کوچک را به راحتی پاس می‌کند.</a:t>
            </a:r>
          </a:p>
        </p:txBody>
      </p:sp>
      <p:sp>
        <p:nvSpPr>
          <p:cNvPr id="5" name="Rounded Rectangle 4"/>
          <p:cNvSpPr/>
          <p:nvPr/>
        </p:nvSpPr>
        <p:spPr>
          <a:xfrm>
            <a:off x="4373880" y="1463040"/>
            <a:ext cx="3413759"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زیر کاپوت عملگر in</a:t>
            </a:r>
          </a:p>
          <a:p>
            <a:pPr>
              <a:defRPr sz="1100">
                <a:solidFill>
                  <a:srgbClr val="DDE1F5"/>
                </a:solidFill>
              </a:defRPr>
            </a:pPr>
            <a:r>
              <a:t>در List، عملگر in معادل contains() با پیمایش خطی O(M) است.</a:t>
            </a:r>
          </a:p>
        </p:txBody>
      </p:sp>
      <p:sp>
        <p:nvSpPr>
          <p:cNvPr id="6" name="Rounded Rectangle 5"/>
          <p:cNvSpPr/>
          <p:nvPr/>
        </p:nvSpPr>
        <p:spPr>
          <a:xfrm>
            <a:off x="8016239" y="1463040"/>
            <a:ext cx="3413759"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پیچیدگی نمایی</a:t>
            </a:r>
          </a:p>
          <a:p>
            <a:pPr>
              <a:defRPr sz="1100">
                <a:solidFill>
                  <a:srgbClr val="DDE1F5"/>
                </a:solidFill>
              </a:defRPr>
            </a:pPr>
            <a:r>
              <a:t>برای دو لیست با اندازه N و M، کل مقایسه‌ها O(N × M) یعنی O(N²) است!</a:t>
            </a:r>
          </a:p>
        </p:txBody>
      </p:sp>
      <p:sp>
        <p:nvSpPr>
          <p:cNvPr id="7" name="Rounded Rectangle 6"/>
          <p:cNvSpPr/>
          <p:nvPr/>
        </p:nvSpPr>
        <p:spPr>
          <a:xfrm>
            <a:off x="731520" y="3703320"/>
            <a:ext cx="10698480" cy="2212848"/>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 ❌ رویکرد کُند: جستجوی مستقیم در List با O(N²)</a:t>
            </a:r>
          </a:p>
          <a:p>
            <a:pPr algn="l">
              <a:defRPr sz="1100">
                <a:solidFill>
                  <a:srgbClr val="4ECCA3"/>
                </a:solidFill>
                <a:latin typeface="Consolas"/>
              </a:defRPr>
            </a:pPr>
            <a:r>
              <a:t>internal fun &lt;T&gt; syncCardStackState(</a:t>
            </a:r>
          </a:p>
          <a:p>
            <a:pPr algn="l">
              <a:defRPr sz="1100">
                <a:solidFill>
                  <a:srgbClr val="4ECCA3"/>
                </a:solidFill>
                <a:latin typeface="Consolas"/>
              </a:defRPr>
            </a:pPr>
            <a:r>
              <a:t>    currentItems: List&lt;T&gt;,</a:t>
            </a:r>
          </a:p>
          <a:p>
            <a:pPr algn="l">
              <a:defRPr sz="1100">
                <a:solidFill>
                  <a:srgbClr val="4ECCA3"/>
                </a:solidFill>
                <a:latin typeface="Consolas"/>
              </a:defRPr>
            </a:pPr>
            <a:r>
              <a:t>    newCardsList: List&lt;T&gt;,</a:t>
            </a:r>
          </a:p>
          <a:p>
            <a:pPr algn="l">
              <a:defRPr sz="1100">
                <a:solidFill>
                  <a:srgbClr val="4ECCA3"/>
                </a:solidFill>
                <a:latin typeface="Consolas"/>
              </a:defRPr>
            </a:pPr>
            <a:r>
              <a:t>): List&lt;T&gt; {</a:t>
            </a:r>
          </a:p>
          <a:p>
            <a:pPr algn="l">
              <a:defRPr sz="1100">
                <a:solidFill>
                  <a:srgbClr val="4ECCA3"/>
                </a:solidFill>
                <a:latin typeface="Consolas"/>
              </a:defRPr>
            </a:pPr>
            <a:r>
              <a:t>    val remainingOldItems = currentItems.filter { it in newCardsList }</a:t>
            </a:r>
          </a:p>
          <a:p>
            <a:pPr algn="l">
              <a:defRPr sz="1100">
                <a:solidFill>
                  <a:srgbClr val="4ECCA3"/>
                </a:solidFill>
                <a:latin typeface="Consolas"/>
              </a:defRPr>
            </a:pPr>
            <a:r>
              <a:t>    val newItems = newCardsList.filter { it !in currentItems }</a:t>
            </a:r>
          </a:p>
          <a:p>
            <a:pPr algn="l">
              <a:defRPr sz="1100">
                <a:solidFill>
                  <a:srgbClr val="4ECCA3"/>
                </a:solidFill>
                <a:latin typeface="Consolas"/>
              </a:defRPr>
            </a:pPr>
            <a:r>
              <a:t>    return remainingOldItems + newItems</a:t>
            </a:r>
          </a:p>
          <a:p>
            <a:pPr algn="l">
              <a:defRPr sz="1100">
                <a:solidFill>
                  <a:srgbClr val="4ECCA3"/>
                </a:solidFill>
                <a:latin typeface="Consolas"/>
              </a:defRPr>
            </a:pPr>
            <a: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تحلیل گلوگاه · BOTTLENECK ANALYSIS  |  کالبدشکافی ایراد: هزینه پنهان و افت فریم در UI</a:t>
            </a:r>
          </a:p>
          <a:p>
            <a:pPr>
              <a:defRPr sz="1400">
                <a:solidFill>
                  <a:srgbClr val="969EB4"/>
                </a:solidFill>
              </a:defRPr>
            </a:pPr>
            <a:r>
              <a:t>چرا این کد در محیط پروداکشن باعث لگ و مصرف غیرعادی باتری می‌شود؟</a:t>
            </a:r>
          </a:p>
        </p:txBody>
      </p:sp>
      <p:sp>
        <p:nvSpPr>
          <p:cNvPr id="4" name="Rounded Rectangle 3"/>
          <p:cNvSpPr/>
          <p:nvPr/>
        </p:nvSpPr>
        <p:spPr>
          <a:xfrm>
            <a:off x="731520" y="1463040"/>
            <a:ext cx="5234940" cy="2011680"/>
          </a:xfrm>
          <a:prstGeom prst="roundRect">
            <a:avLst/>
          </a:prstGeom>
          <a:solidFill>
            <a:srgbClr val="141428"/>
          </a:solidFill>
          <a:ln w="19050">
            <a:solidFill>
              <a:srgbClr val="E96C6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6C6C"/>
                </a:solidFill>
              </a:defRPr>
            </a:pPr>
            <a:r>
              <a:t>❌ پیمایش خطی مداوم (Linear Scan)</a:t>
            </a:r>
          </a:p>
          <a:p>
            <a:pPr>
              <a:defRPr sz="1100">
                <a:solidFill>
                  <a:srgbClr val="DDE1F5"/>
                </a:solidFill>
              </a:defRPr>
            </a:pPr>
            <a:r>
              <a:t>ساختار List ترتیبی است؛ ترکیب آن با filter یک حلقه تو در تو (Nested Loop) پنهان است.</a:t>
            </a:r>
          </a:p>
        </p:txBody>
      </p:sp>
      <p:sp>
        <p:nvSpPr>
          <p:cNvPr id="5" name="Rounded Rectangle 4"/>
          <p:cNvSpPr/>
          <p:nvPr/>
        </p:nvSpPr>
        <p:spPr>
          <a:xfrm>
            <a:off x="6195059" y="1463040"/>
            <a:ext cx="523494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 افت فریم و لگ در کامپوز (Jank)</a:t>
            </a:r>
          </a:p>
          <a:p>
            <a:pPr>
              <a:defRPr sz="1100">
                <a:solidFill>
                  <a:srgbClr val="DDE1F5"/>
                </a:solidFill>
              </a:defRPr>
            </a:pPr>
            <a:r>
              <a:t>در Compose محاسبه State روی Main Thread است؛ هزاران مقایسه باعث گذر از بودجه ۱۶ میلی‌ثانیه‌ای فریم می‌شود.</a:t>
            </a:r>
          </a:p>
        </p:txBody>
      </p:sp>
      <p:sp>
        <p:nvSpPr>
          <p:cNvPr id="6" name="TextBox 5"/>
          <p:cNvSpPr txBox="1"/>
          <p:nvPr/>
        </p:nvSpPr>
        <p:spPr>
          <a:xfrm>
            <a:off x="731520" y="3703320"/>
            <a:ext cx="10698480" cy="1463040"/>
          </a:xfrm>
          <a:prstGeom prst="rect">
            <a:avLst/>
          </a:prstGeom>
          <a:noFill/>
        </p:spPr>
        <p:txBody>
          <a:bodyPr wrap="square">
            <a:spAutoFit/>
          </a:bodyPr>
          <a:lstStyle/>
          <a:p>
            <a:pPr>
              <a:defRPr sz="1300">
                <a:solidFill>
                  <a:srgbClr val="DDE1F5"/>
                </a:solidFill>
              </a:defRPr>
            </a:pPr>
            <a:r>
              <a:t>• پنهان از چشم لینترها: Detekt و کامپایلر ایراد سینتکسی نمی‌گیرند؛ اما Profiler فریز فریم‌ها را ثبت می‌کند.</a:t>
            </a:r>
          </a:p>
          <a:p>
            <a:pPr>
              <a:defRPr sz="1300">
                <a:solidFill>
                  <a:srgbClr val="DDE1F5"/>
                </a:solidFill>
              </a:defRPr>
            </a:pPr>
            <a:r>
              <a:t>• در مقیاس ۵۰ تا ۱۰۰ کارت: ۲۰,۰۰۰ عملیات مقایسه سنگین شیء رخ می‌دهد.</a:t>
            </a:r>
          </a:p>
        </p:txBody>
      </p:sp>
      <p:sp>
        <p:nvSpPr>
          <p:cNvPr id="7" name="Rounded Rectangle 6"/>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«در ۶۰ فریم بر ثانیه، هر فریم فقط ۱۶ میلی‌ثانیه زمان دارد؛ حلقه‌های O(N²) اولین قاتل روانی UI هستند.»</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کدنویسی تمیز · OPTIMAL O(N)  |  راه‌حل بهینه: جهش به O(N) با HashSet و تحلیل چرایی</a:t>
            </a:r>
          </a:p>
          <a:p>
            <a:pPr>
              <a:defRPr sz="1400">
                <a:solidFill>
                  <a:srgbClr val="969EB4"/>
                </a:solidFill>
              </a:defRPr>
            </a:pPr>
            <a:r>
              <a:t>به‌کارگیری جدول هش برای جستجوی آنی O(1) و کاهش زمان کل به خطی O(N + M):</a:t>
            </a:r>
          </a:p>
        </p:txBody>
      </p:sp>
      <p:sp>
        <p:nvSpPr>
          <p:cNvPr id="4" name="Rounded Rectangle 3"/>
          <p:cNvSpPr/>
          <p:nvPr/>
        </p:nvSpPr>
        <p:spPr>
          <a:xfrm>
            <a:off x="731520" y="1463040"/>
            <a:ext cx="523494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 جستجوی آنی O(1)</a:t>
            </a:r>
          </a:p>
          <a:p>
            <a:pPr>
              <a:defRPr sz="1100">
                <a:solidFill>
                  <a:srgbClr val="DDE1F5"/>
                </a:solidFill>
              </a:defRPr>
            </a:pPr>
            <a:r>
              <a:t>با toSet() جدول هش ساخته می‌شود و جستجو با تابع هش در زمان ثابت انجام می‌گیرد.</a:t>
            </a:r>
          </a:p>
        </p:txBody>
      </p:sp>
      <p:sp>
        <p:nvSpPr>
          <p:cNvPr id="5" name="Rounded Rectangle 4"/>
          <p:cNvSpPr/>
          <p:nvPr/>
        </p:nvSpPr>
        <p:spPr>
          <a:xfrm>
            <a:off x="6195059" y="1463040"/>
            <a:ext cx="523494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 کاهش به خطی O(N + M)</a:t>
            </a:r>
          </a:p>
          <a:p>
            <a:pPr>
              <a:defRPr sz="1100">
                <a:solidFill>
                  <a:srgbClr val="DDE1F5"/>
                </a:solidFill>
              </a:defRPr>
            </a:pPr>
            <a:r>
              <a:t>کل هزینه به O(N + M) تبدیل شده و حتی برای ۱۰,۰۰۰ کارت در کسری از میلی‌ثانیه اجرا می‌شود.</a:t>
            </a:r>
          </a:p>
        </p:txBody>
      </p:sp>
      <p:sp>
        <p:nvSpPr>
          <p:cNvPr id="6" name="Rounded Rectangle 5"/>
          <p:cNvSpPr/>
          <p:nvPr/>
        </p:nvSpPr>
        <p:spPr>
          <a:xfrm>
            <a:off x="731520" y="3703320"/>
            <a:ext cx="10698480" cy="2633472"/>
          </a:xfrm>
          <a:prstGeom prst="roundRect">
            <a:avLst/>
          </a:prstGeom>
          <a:solidFill>
            <a:srgbClr val="08080F"/>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l">
              <a:defRPr sz="1100">
                <a:solidFill>
                  <a:srgbClr val="4ECCA3"/>
                </a:solidFill>
                <a:latin typeface="Consolas"/>
              </a:defRPr>
            </a:pPr>
            <a:r>
              <a:t>// ✅ رویکرد بهینه: تبدیل به Set و جستجوی آنی O(1)</a:t>
            </a:r>
          </a:p>
          <a:p>
            <a:pPr algn="l">
              <a:defRPr sz="1100">
                <a:solidFill>
                  <a:srgbClr val="4ECCA3"/>
                </a:solidFill>
                <a:latin typeface="Consolas"/>
              </a:defRPr>
            </a:pPr>
            <a:r>
              <a:t>internal fun &lt;T&gt; syncCardStackState(</a:t>
            </a:r>
          </a:p>
          <a:p>
            <a:pPr algn="l">
              <a:defRPr sz="1100">
                <a:solidFill>
                  <a:srgbClr val="4ECCA3"/>
                </a:solidFill>
                <a:latin typeface="Consolas"/>
              </a:defRPr>
            </a:pPr>
            <a:r>
              <a:t>    currentItems: List&lt;T&gt;,</a:t>
            </a:r>
          </a:p>
          <a:p>
            <a:pPr algn="l">
              <a:defRPr sz="1100">
                <a:solidFill>
                  <a:srgbClr val="4ECCA3"/>
                </a:solidFill>
                <a:latin typeface="Consolas"/>
              </a:defRPr>
            </a:pPr>
            <a:r>
              <a:t>    newCardsList: List&lt;T&gt;,</a:t>
            </a:r>
          </a:p>
          <a:p>
            <a:pPr algn="l">
              <a:defRPr sz="1100">
                <a:solidFill>
                  <a:srgbClr val="4ECCA3"/>
                </a:solidFill>
                <a:latin typeface="Consolas"/>
              </a:defRPr>
            </a:pPr>
            <a:r>
              <a:t>): List&lt;T&gt; {</a:t>
            </a:r>
          </a:p>
          <a:p>
            <a:pPr algn="l">
              <a:defRPr sz="1100">
                <a:solidFill>
                  <a:srgbClr val="4ECCA3"/>
                </a:solidFill>
                <a:latin typeface="Consolas"/>
              </a:defRPr>
            </a:pPr>
            <a:r>
              <a:t>    val newCardsSet = newCardsList.toSet()</a:t>
            </a:r>
          </a:p>
          <a:p>
            <a:pPr algn="l">
              <a:defRPr sz="1100">
                <a:solidFill>
                  <a:srgbClr val="4ECCA3"/>
                </a:solidFill>
                <a:latin typeface="Consolas"/>
              </a:defRPr>
            </a:pPr>
            <a:r>
              <a:t>    val currentItemsSet = currentItems.toSet()</a:t>
            </a:r>
          </a:p>
          <a:p>
            <a:pPr algn="l">
              <a:defRPr sz="1100">
                <a:solidFill>
                  <a:srgbClr val="4ECCA3"/>
                </a:solidFill>
                <a:latin typeface="Consolas"/>
              </a:defRPr>
            </a:pPr>
            <a:r>
              <a:t>    val remainingOldItems = currentItems.filter { it in newCardsSet }</a:t>
            </a:r>
          </a:p>
          <a:p>
            <a:pPr algn="l">
              <a:defRPr sz="1100">
                <a:solidFill>
                  <a:srgbClr val="4ECCA3"/>
                </a:solidFill>
                <a:latin typeface="Consolas"/>
              </a:defRPr>
            </a:pPr>
            <a:r>
              <a:t>    val newItems = newCardsList.filter { it !in currentItemsSet }</a:t>
            </a:r>
          </a:p>
          <a:p>
            <a:pPr algn="l">
              <a:defRPr sz="1100">
                <a:solidFill>
                  <a:srgbClr val="4ECCA3"/>
                </a:solidFill>
                <a:latin typeface="Consolas"/>
              </a:defRPr>
            </a:pPr>
            <a:r>
              <a:t>    return remainingOldItems + newItems</a:t>
            </a:r>
          </a:p>
          <a:p>
            <a:pPr algn="l">
              <a:defRPr sz="1100">
                <a:solidFill>
                  <a:srgbClr val="4ECCA3"/>
                </a:solidFill>
                <a:latin typeface="Consolas"/>
              </a:defRPr>
            </a:pPr>
            <a:r>
              <a:t>}</a:t>
            </a:r>
          </a:p>
        </p:txBody>
      </p:sp>
      <p:sp>
        <p:nvSpPr>
          <p:cNvPr id="7" name="Rounded Rectangle 6"/>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«قاعده طلایی: همیشه پیش از فیلتر یا مقایسه اشتراک دو لیست در کاتلین، لیست مرجع را به Set تبدیل کنید.»</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a:spAutoFit/>
          </a:bodyPr>
          <a:lstStyle/>
          <a:p>
            <a:pPr>
              <a:defRPr sz="2400" b="1">
                <a:solidFill>
                  <a:srgbClr val="4ECCA3"/>
                </a:solidFill>
              </a:defRPr>
            </a:pPr>
            <a:r>
              <a:t>برنامه اقدام · ACTION PLAN  |  جمع‌بندی و برنامه ۳۰ روزه آینده</a:t>
            </a:r>
          </a:p>
          <a:p>
            <a:pPr>
              <a:defRPr sz="1400">
                <a:solidFill>
                  <a:srgbClr val="969EB4"/>
                </a:solidFill>
              </a:defRPr>
            </a:pPr>
            <a:r>
              <a:t>نقشه راه ۴ هفته‌ای برای رسیدن به آمادگی در جلسات ارزیابی:</a:t>
            </a:r>
          </a:p>
        </p:txBody>
      </p:sp>
      <p:sp>
        <p:nvSpPr>
          <p:cNvPr id="4" name="Rounded Rectangle 3"/>
          <p:cNvSpPr/>
          <p:nvPr/>
        </p:nvSpPr>
        <p:spPr>
          <a:xfrm>
            <a:off x="73152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هفته اول: مبانی آرایه و هش</a:t>
            </a:r>
          </a:p>
          <a:p>
            <a:pPr>
              <a:defRPr sz="1100">
                <a:solidFill>
                  <a:srgbClr val="DDE1F5"/>
                </a:solidFill>
              </a:defRPr>
            </a:pPr>
            <a:r>
              <a:t>حل ۵ مسئله Easy اول Blind 75 مانند Two Sum و Contains Duplicate.</a:t>
            </a:r>
          </a:p>
        </p:txBody>
      </p:sp>
      <p:sp>
        <p:nvSpPr>
          <p:cNvPr id="5" name="Rounded Rectangle 4"/>
          <p:cNvSpPr/>
          <p:nvPr/>
        </p:nvSpPr>
        <p:spPr>
          <a:xfrm>
            <a:off x="3463289" y="1463040"/>
            <a:ext cx="2503170" cy="2011680"/>
          </a:xfrm>
          <a:prstGeom prst="roundRect">
            <a:avLst/>
          </a:prstGeom>
          <a:solidFill>
            <a:srgbClr val="141428"/>
          </a:solidFill>
          <a:ln w="1905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7C8FF5"/>
                </a:solidFill>
              </a:defRPr>
            </a:pPr>
            <a:r>
              <a:t>هفته دوم: نشانگرها و پنجره</a:t>
            </a:r>
          </a:p>
          <a:p>
            <a:pPr>
              <a:defRPr sz="1100">
                <a:solidFill>
                  <a:srgbClr val="DDE1F5"/>
                </a:solidFill>
              </a:defRPr>
            </a:pPr>
            <a:r>
              <a:t>الگوهای Two Pointers و Sliding Window با مرور منظم مسائل هفته اول.</a:t>
            </a:r>
          </a:p>
        </p:txBody>
      </p:sp>
      <p:sp>
        <p:nvSpPr>
          <p:cNvPr id="6" name="Rounded Rectangle 5"/>
          <p:cNvSpPr/>
          <p:nvPr/>
        </p:nvSpPr>
        <p:spPr>
          <a:xfrm>
            <a:off x="6195059" y="1463040"/>
            <a:ext cx="2503170" cy="2011680"/>
          </a:xfrm>
          <a:prstGeom prst="roundRect">
            <a:avLst/>
          </a:prstGeom>
          <a:solidFill>
            <a:srgbClr val="141428"/>
          </a:solidFill>
          <a:ln w="19050">
            <a:solidFill>
              <a:srgbClr val="E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9A84C"/>
                </a:solidFill>
              </a:defRPr>
            </a:pPr>
            <a:r>
              <a:t>هفته سوم: ساختارها و پشته</a:t>
            </a:r>
          </a:p>
          <a:p>
            <a:pPr>
              <a:defRPr sz="1100">
                <a:solidFill>
                  <a:srgbClr val="DDE1F5"/>
                </a:solidFill>
              </a:defRPr>
            </a:pPr>
            <a:r>
              <a:t>درخت‌ها، پشته (Stack) و پیمایش‌های DFS و BFS پایه با رسم روی کاغذ.</a:t>
            </a:r>
          </a:p>
        </p:txBody>
      </p:sp>
      <p:sp>
        <p:nvSpPr>
          <p:cNvPr id="7" name="Rounded Rectangle 6"/>
          <p:cNvSpPr/>
          <p:nvPr/>
        </p:nvSpPr>
        <p:spPr>
          <a:xfrm>
            <a:off x="8926830" y="1463040"/>
            <a:ext cx="2503170" cy="2011680"/>
          </a:xfrm>
          <a:prstGeom prst="roundRect">
            <a:avLst/>
          </a:prstGeom>
          <a:solidFill>
            <a:srgbClr val="141428"/>
          </a:solidFill>
          <a:ln w="19050">
            <a:solidFill>
              <a:srgbClr val="4ECCA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4ECCA3"/>
                </a:solidFill>
              </a:defRPr>
            </a:pPr>
            <a:r>
              <a:t>هفته چهارم: تست‌های Medium</a:t>
            </a:r>
          </a:p>
          <a:p>
            <a:pPr>
              <a:defRPr sz="1100">
                <a:solidFill>
                  <a:srgbClr val="DDE1F5"/>
                </a:solidFill>
              </a:defRPr>
            </a:pPr>
            <a:r>
              <a:t>ورود به مسائل سطح Medium و تمرین با تایمر ۳۰ دقیقه‌ای ارزیابی.</a:t>
            </a:r>
          </a:p>
        </p:txBody>
      </p:sp>
      <p:sp>
        <p:nvSpPr>
          <p:cNvPr id="8" name="Rounded Rectangle 7"/>
          <p:cNvSpPr/>
          <p:nvPr/>
        </p:nvSpPr>
        <p:spPr>
          <a:xfrm>
            <a:off x="731520" y="5486400"/>
            <a:ext cx="10698480" cy="822960"/>
          </a:xfrm>
          <a:prstGeom prst="roundRect">
            <a:avLst/>
          </a:prstGeom>
          <a:solidFill>
            <a:srgbClr val="1C1C38"/>
          </a:solidFill>
          <a:ln w="12700">
            <a:solidFill>
              <a:srgbClr val="7C8FF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i="1">
                <a:solidFill>
                  <a:srgbClr val="7C8FF5"/>
                </a:solidFill>
              </a:defRPr>
            </a:pPr>
            <a:r>
              <a:t>«پیوستگی روزانه ۴۵ دقیقه تمرین عمیق، معجزه‌ای خلق می‌کند که تمرین‌های ۱۰ ساعته‌ی بی‌هدف هرگز نخواهد کرد.»</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D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18320" cy="3657600"/>
          </a:xfrm>
          <a:prstGeom prst="rect">
            <a:avLst/>
          </a:prstGeom>
          <a:noFill/>
        </p:spPr>
        <p:txBody>
          <a:bodyPr wrap="square">
            <a:spAutoFit/>
          </a:bodyPr>
          <a:lstStyle/>
          <a:p>
            <a:pPr algn="ctr">
              <a:defRPr sz="4600" b="1">
                <a:solidFill>
                  <a:srgbClr val="4ECCA3"/>
                </a:solidFill>
              </a:defRPr>
            </a:pPr>
            <a:r>
              <a:t>متشکرم از همراهی شما</a:t>
            </a:r>
          </a:p>
          <a:p>
            <a:pPr algn="ctr">
              <a:defRPr sz="2800">
                <a:solidFill>
                  <a:srgbClr val="7C8FF5"/>
                </a:solidFill>
              </a:defRPr>
            </a:pPr>
            <a:r>
              <a:t>پرسش و پاسخ (Q&amp;A)</a:t>
            </a:r>
          </a:p>
          <a:p>
            <a:br/>
            <a:pPr algn="ctr">
              <a:defRPr sz="2000">
                <a:solidFill>
                  <a:srgbClr val="DDE1F5"/>
                </a:solidFill>
              </a:defRPr>
            </a:pPr>
            <a:r>
              <a:t>Milad Faridnia</a:t>
            </a:r>
          </a:p>
          <a:p>
            <a:pPr algn="ctr">
              <a:defRPr sz="1400">
                <a:solidFill>
                  <a:srgbClr val="E9A84C"/>
                </a:solidFill>
              </a:defRPr>
            </a:pPr>
            <a:r>
              <a:t>LeetCode.com · NeetCode.io · Blind 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