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theme/re_theme1.xml" ContentType="application/vnd.openxmlformats-officedocument.theme+xml"/>
  <Override PartName="/ppt/slideMasters/re_slideMaster1.xml" ContentType="application/vnd.openxmlformats-officedocument.presentationml.slideMaster+xml"/>
  <Override PartName="/ppt/slideMasters/theme/re_theme2.xml" ContentType="application/vnd.openxmlformats-officedocument.theme+xml"/>
  <Override PartName="/ppt/slideLayouts/re_slideLayout1.xml" ContentType="application/vnd.openxmlformats-officedocument.presentationml.slideLayout+xml"/>
  <Override PartName="/ppt/slideLayouts/re_slideLayout2.xml" ContentType="application/vnd.openxmlformats-officedocument.presentationml.slideLayout+xml"/>
  <Override PartName="/ppt/slideLayouts/re_slideLayout3.xml" ContentType="application/vnd.openxmlformats-officedocument.presentationml.slideLayout+xml"/>
  <Override PartName="/ppt/slideLayouts/re_slideLayout4.xml" ContentType="application/vnd.openxmlformats-officedocument.presentationml.slideLayout+xml"/>
  <Override PartName="/ppt/slideLayouts/re_slideLayout5.xml" ContentType="application/vnd.openxmlformats-officedocument.presentationml.slideLayout+xml"/>
  <Override PartName="/ppt/slideLayouts/re_slideLayout6.xml" ContentType="application/vnd.openxmlformats-officedocument.presentationml.slideLayout+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 id="2147483649" r:id="rId67"/>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310" r:id="rId62"/>
    <p:sldId id="311" r:id="rId63"/>
    <p:sldId id="312" r:id="rId64"/>
    <p:sldId id="313" r:id="rId65"/>
    <p:sldId id="314" r:id="rId66"/>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ns0:Relationships xmlns:ns0="http://schemas.openxmlformats.org/package/2006/relationships"><ns0:Relationship Id="rId1" Type="http://schemas.openxmlformats.org/officeDocument/2006/relationships/slideMaster" Target="slideMasters/slideMaster1.xml" /><ns0:Relationship Id="rId2" Type="http://schemas.openxmlformats.org/officeDocument/2006/relationships/printerSettings" Target="printerSettings/printerSettings1.bin" /><ns0:Relationship Id="rId3" Type="http://schemas.openxmlformats.org/officeDocument/2006/relationships/presProps" Target="presProps.xml" /><ns0:Relationship Id="rId4" Type="http://schemas.openxmlformats.org/officeDocument/2006/relationships/viewProps" Target="viewProps.xml" /><ns0:Relationship Id="rId5" Type="http://schemas.openxmlformats.org/officeDocument/2006/relationships/theme" Target="theme/theme1.xml" /><ns0:Relationship Id="rId6" Type="http://schemas.openxmlformats.org/officeDocument/2006/relationships/tableStyles" Target="tableStyles.xml" /><ns0:Relationship Id="rId7" Type="http://schemas.openxmlformats.org/officeDocument/2006/relationships/slide" Target="slides/slide1.xml" /><ns0:Relationship Id="rId8" Type="http://schemas.openxmlformats.org/officeDocument/2006/relationships/notesMaster" Target="notesMasters/notesMaster1.xml" /><ns0:Relationship Id="rId9" Type="http://schemas.openxmlformats.org/officeDocument/2006/relationships/slide" Target="slides/slide2.xml" /><ns0:Relationship Id="rId10" Type="http://schemas.openxmlformats.org/officeDocument/2006/relationships/slide" Target="slides/slide3.xml" /><ns0:Relationship Id="rId11" Type="http://schemas.openxmlformats.org/officeDocument/2006/relationships/slide" Target="slides/slide4.xml" /><ns0:Relationship Id="rId12" Type="http://schemas.openxmlformats.org/officeDocument/2006/relationships/slide" Target="slides/slide5.xml" /><ns0:Relationship Id="rId13" Type="http://schemas.openxmlformats.org/officeDocument/2006/relationships/slide" Target="slides/slide6.xml" /><ns0:Relationship Id="rId14" Type="http://schemas.openxmlformats.org/officeDocument/2006/relationships/slide" Target="slides/slide7.xml" /><ns0:Relationship Id="rId15" Type="http://schemas.openxmlformats.org/officeDocument/2006/relationships/slide" Target="slides/slide8.xml" /><ns0:Relationship Id="rId16" Type="http://schemas.openxmlformats.org/officeDocument/2006/relationships/slide" Target="slides/slide9.xml" /><ns0:Relationship Id="rId17" Type="http://schemas.openxmlformats.org/officeDocument/2006/relationships/slide" Target="slides/slide10.xml" /><ns0:Relationship Id="rId18" Type="http://schemas.openxmlformats.org/officeDocument/2006/relationships/slide" Target="slides/slide11.xml" /><ns0:Relationship Id="rId19" Type="http://schemas.openxmlformats.org/officeDocument/2006/relationships/slide" Target="slides/slide12.xml" /><ns0:Relationship Id="rId20" Type="http://schemas.openxmlformats.org/officeDocument/2006/relationships/slide" Target="slides/slide13.xml" /><ns0:Relationship Id="rId21" Type="http://schemas.openxmlformats.org/officeDocument/2006/relationships/slide" Target="slides/slide14.xml" /><ns0:Relationship Id="rId22" Type="http://schemas.openxmlformats.org/officeDocument/2006/relationships/slide" Target="slides/slide15.xml" /><ns0:Relationship Id="rId23" Type="http://schemas.openxmlformats.org/officeDocument/2006/relationships/slide" Target="slides/slide16.xml" /><ns0:Relationship Id="rId24" Type="http://schemas.openxmlformats.org/officeDocument/2006/relationships/slide" Target="slides/slide17.xml" /><ns0:Relationship Id="rId25" Type="http://schemas.openxmlformats.org/officeDocument/2006/relationships/slide" Target="slides/slide18.xml" /><ns0:Relationship Id="rId26" Type="http://schemas.openxmlformats.org/officeDocument/2006/relationships/slide" Target="slides/slide19.xml" /><ns0:Relationship Id="rId27" Type="http://schemas.openxmlformats.org/officeDocument/2006/relationships/slide" Target="slides/slide20.xml" /><ns0:Relationship Id="rId28" Type="http://schemas.openxmlformats.org/officeDocument/2006/relationships/slide" Target="slides/slide21.xml" /><ns0:Relationship Id="rId29" Type="http://schemas.openxmlformats.org/officeDocument/2006/relationships/slide" Target="slides/slide22.xml" /><ns0:Relationship Id="rId30" Type="http://schemas.openxmlformats.org/officeDocument/2006/relationships/slide" Target="slides/slide23.xml" /><ns0:Relationship Id="rId31" Type="http://schemas.openxmlformats.org/officeDocument/2006/relationships/slide" Target="slides/slide24.xml" /><ns0:Relationship Id="rId32" Type="http://schemas.openxmlformats.org/officeDocument/2006/relationships/slide" Target="slides/slide25.xml" /><ns0:Relationship Id="rId33" Type="http://schemas.openxmlformats.org/officeDocument/2006/relationships/slide" Target="slides/slide26.xml" /><ns0:Relationship Id="rId34" Type="http://schemas.openxmlformats.org/officeDocument/2006/relationships/slide" Target="slides/slide27.xml" /><ns0:Relationship Id="rId35" Type="http://schemas.openxmlformats.org/officeDocument/2006/relationships/slide" Target="slides/slide28.xml" /><ns0:Relationship Id="rId36" Type="http://schemas.openxmlformats.org/officeDocument/2006/relationships/slide" Target="slides/slide29.xml" /><ns0:Relationship Id="rId37" Type="http://schemas.openxmlformats.org/officeDocument/2006/relationships/slide" Target="slides/slide30.xml" /><ns0:Relationship Id="rId38" Type="http://schemas.openxmlformats.org/officeDocument/2006/relationships/slide" Target="slides/slide31.xml" /><ns0:Relationship Id="rId39" Type="http://schemas.openxmlformats.org/officeDocument/2006/relationships/slide" Target="slides/slide32.xml" /><ns0:Relationship Id="rId40" Type="http://schemas.openxmlformats.org/officeDocument/2006/relationships/slide" Target="slides/slide33.xml" /><ns0:Relationship Id="rId41" Type="http://schemas.openxmlformats.org/officeDocument/2006/relationships/slide" Target="slides/slide34.xml" /><ns0:Relationship Id="rId42" Type="http://schemas.openxmlformats.org/officeDocument/2006/relationships/slide" Target="slides/slide35.xml" /><ns0:Relationship Id="rId43" Type="http://schemas.openxmlformats.org/officeDocument/2006/relationships/slide" Target="slides/slide36.xml" /><ns0:Relationship Id="rId44" Type="http://schemas.openxmlformats.org/officeDocument/2006/relationships/slide" Target="slides/slide37.xml" /><ns0:Relationship Id="rId45" Type="http://schemas.openxmlformats.org/officeDocument/2006/relationships/slide" Target="slides/slide38.xml" /><ns0:Relationship Id="rId46" Type="http://schemas.openxmlformats.org/officeDocument/2006/relationships/slide" Target="slides/slide39.xml" /><ns0:Relationship Id="rId47" Type="http://schemas.openxmlformats.org/officeDocument/2006/relationships/slide" Target="slides/slide40.xml" /><ns0:Relationship Id="rId48" Type="http://schemas.openxmlformats.org/officeDocument/2006/relationships/slide" Target="slides/slide41.xml" /><ns0:Relationship Id="rId49" Type="http://schemas.openxmlformats.org/officeDocument/2006/relationships/slide" Target="slides/slide42.xml" /><ns0:Relationship Id="rId50" Type="http://schemas.openxmlformats.org/officeDocument/2006/relationships/slide" Target="slides/slide43.xml" /><ns0:Relationship Id="rId51" Type="http://schemas.openxmlformats.org/officeDocument/2006/relationships/slide" Target="slides/slide44.xml" /><ns0:Relationship Id="rId52" Type="http://schemas.openxmlformats.org/officeDocument/2006/relationships/slide" Target="slides/slide45.xml" /><ns0:Relationship Id="rId53" Type="http://schemas.openxmlformats.org/officeDocument/2006/relationships/slide" Target="slides/slide46.xml" /><ns0:Relationship Id="rId54" Type="http://schemas.openxmlformats.org/officeDocument/2006/relationships/slide" Target="slides/slide47.xml" /><ns0:Relationship Id="rId55" Type="http://schemas.openxmlformats.org/officeDocument/2006/relationships/slide" Target="slides/slide48.xml" /><ns0:Relationship Id="rId56" Type="http://schemas.openxmlformats.org/officeDocument/2006/relationships/slide" Target="slides/slide49.xml" /><ns0:Relationship Id="rId57" Type="http://schemas.openxmlformats.org/officeDocument/2006/relationships/slide" Target="slides/slide50.xml" /><ns0:Relationship Id="rId58" Type="http://schemas.openxmlformats.org/officeDocument/2006/relationships/slide" Target="slides/slide51.xml" /><ns0:Relationship Id="rId59" Type="http://schemas.openxmlformats.org/officeDocument/2006/relationships/slide" Target="slides/slide52.xml" /><ns0:Relationship Id="rId60" Type="http://schemas.openxmlformats.org/officeDocument/2006/relationships/slide" Target="slides/slide53.xml" /><ns0:Relationship Id="rId61" Type="http://schemas.openxmlformats.org/officeDocument/2006/relationships/slide" Target="slides/slide54.xml" /><ns0:Relationship Id="rId62" Type="http://schemas.openxmlformats.org/officeDocument/2006/relationships/slide" Target="slides/slide55.xml" /><ns0:Relationship Id="rId63" Type="http://schemas.openxmlformats.org/officeDocument/2006/relationships/slide" Target="slides/slide56.xml" /><ns0:Relationship Id="rId64" Type="http://schemas.openxmlformats.org/officeDocument/2006/relationships/slide" Target="slides/slide57.xml" /><ns0:Relationship Id="rId65" Type="http://schemas.openxmlformats.org/officeDocument/2006/relationships/slide" Target="slides/slide58.xml" /><ns0:Relationship Id="rId66" Type="http://schemas.openxmlformats.org/officeDocument/2006/relationships/slide" Target="slides/slide59.xml" /><ns0:Relationship Id="rId67" Type="http://schemas.openxmlformats.org/officeDocument/2006/relationships/slideMaster" Target="slideMasters/re_slideMaster1.xml" /></ns0: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ns0:Relationships xmlns:ns0="http://schemas.openxmlformats.org/package/2006/relationships"><ns0:Relationship Type="http://schemas.openxmlformats.org/officeDocument/2006/relationships/slide" Target="../slides/slide55.xml" Id="R3dabe7c48eee42a4" /><ns0:Relationship Type="http://schemas.openxmlformats.org/officeDocument/2006/relationships/notesMaster" Target="../notesMasters/notesMaster1.xml" Id="R53bc108792b1402d" /></ns0:Relationships>
</file>

<file path=ppt/notesSlides/_rels/notesSlide56.xml.rels><?xml version='1.0' encoding='utf-8'?>
<ns0:Relationships xmlns:ns0="http://schemas.openxmlformats.org/package/2006/relationships"><ns0:Relationship Type="http://schemas.openxmlformats.org/officeDocument/2006/relationships/slide" Target="../slides/slide56.xml" Id="R6379a7f1e024490b" /><ns0:Relationship Type="http://schemas.openxmlformats.org/officeDocument/2006/relationships/notesMaster" Target="../notesMasters/notesMaster1.xml" Id="R0c08203b37bf4fb0" /></ns0:Relationships>
</file>

<file path=ppt/notesSlides/_rels/notesSlide57.xml.rels><?xml version='1.0' encoding='utf-8'?>
<ns0:Relationships xmlns:ns0="http://schemas.openxmlformats.org/package/2006/relationships"><ns0:Relationship Type="http://schemas.openxmlformats.org/officeDocument/2006/relationships/slide" Target="../slides/slide57.xml" Id="R6b079dc0ab654cfc" /><ns0:Relationship Type="http://schemas.openxmlformats.org/officeDocument/2006/relationships/notesMaster" Target="../notesMasters/notesMaster1.xml" Id="R476b9469481a4aae" /></ns0:Relationships>
</file>

<file path=ppt/notesSlides/_rels/notesSlide58.xml.rels><?xml version='1.0' encoding='utf-8'?>
<ns0:Relationships xmlns:ns0="http://schemas.openxmlformats.org/package/2006/relationships"><ns0:Relationship Type="http://schemas.openxmlformats.org/officeDocument/2006/relationships/slide" Target="../slides/slide58.xml" Id="R7d49b91c2a554a9a" /><ns0:Relationship Type="http://schemas.openxmlformats.org/officeDocument/2006/relationships/notesMaster" Target="../notesMasters/notesMaster1.xml" Id="Rd911d2074c4e4fc5" /></ns0:Relationships>
</file>

<file path=ppt/notesSlides/_rels/notesSlide59.xml.rels><?xml version='1.0' encoding='utf-8'?>
<ns0:Relationships xmlns:ns0="http://schemas.openxmlformats.org/package/2006/relationships"><ns0:Relationship Type="http://schemas.openxmlformats.org/officeDocument/2006/relationships/slide" Target="../slides/slide59.xml" Id="Rcc8ce213eec141b9" /><ns0:Relationship Type="http://schemas.openxmlformats.org/officeDocument/2006/relationships/notesMaster" Target="../notesMasters/notesMaster1.xml" Id="R8ad7e24c035441ee" /></ns0: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جلسه را با این سوال شروع کنید: چند نفر تا حالا لیت‌کد را باز کردند و احساس ناتوانی کردند؟ تأکید کنید که لیت‌کد آزمون هوش نیست، بلکه مهارتی تمرین‌پذیر است.</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این اسلاید ساختار کلی ارائه را شرح دهید: ارائه شامل سه بخش اصلی است: متدولوژی و اصول یادگیری، حل گام‌به‌گام هشت مسئله، و در نهایت یک نمونه واقعی از ارزش این مفاهیم در پروداکشن واقعی پروژه سپینو.</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خیلی از برنامه‌نویسان شکایت دارند که چرا باید الگوریتم حل کنیم وقتی در کار روزمره فریم‌ورک استفاده می‌کنیم. توضیح دهید که فریم‌ورک‌ها تغییر می‌کنند، اما مبانی علوم کامپیوتر برای دهه‌ها پایدارند.</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استرس حضار را از بین ببرید. تشبیه به ورزش و موسیقی بزنید: هیچ‌کس در روز اول ماراتن ندویده و پیانو ننواخته است.</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تأکید کنید تا وقتی ارورهای کامپایلر و خطاهای مرزی را خودتان رفع نکنید، آن راه‌حل در حافظه شما تثبیت نمی‌شود.</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مسئله‌ای که ۲ ماه پیش حل کردید اگر مرور نشده باشد، در روز ارزیابی دقیقاً مثل روز اول شما را زمین خواهد زد.</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اگر سر سینتکس باینری سرچ یا پیمایش درخت دستپاچه شوید، دیگر توانی برای حل معمای اصلی مسئله باقی نمی‌ماند.</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برای حضار توضیح دهید چرا زمان را با ثانیه نمی‌سنجیم (تفاوت سخت‌افزارها و زبان‌ها). مثال دفترچه تلفن، مرتب‌سازی و قانون ۱۰ به توان ۸ برای عبور از تست‌های لیت‌کد را باز کنید.</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داستان Two Pointers را برای حضار تعریف کنید. نشان دهید که چطور درک چرایی باعث می‌شود در برابر سوالات غافلگیرکننده پرسشگر ایمن شوند.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تایپ زودهنگام ذهن را در سینتکس و ارورهای ادیتور اسیر می‌کند. ابتدا معمای روی کاغذ را حل کنید، سپس تایپ کنید.</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مسیر رسمی لیت‌کد را معرفی کنید: LeetCode 75 برای شروع سریع، و Top Interview 150 برای آمادگی همه‌جانبه.</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نقطه عطف ارائه: تغییر پارادایم از نگاه به آینده به حافظه گذشته. توضیح دهید چطور با یک سوال ساده «چرا؟» الگوریتم متحول شد.</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بسیاری از داوطلبان به خاطر استرس و هول شدن در جلسه ارزیابی آسیب می‌بینند. داشتن این چک‌لیست ذهن را منظم و آرام نگه می‌دارد. در اسلاید بعد این مراحل را روی جمع دو تایی پیاده می‌کنیم.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جمع دو تایی بهترین نمونه برای نمایش قدرت تفکر الگوریتمی و معجزه Trade-off فضا در برابر زمان است.</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نشان دهید چگونه تریس Brute Force روی کاغذ با شمارش ۱۱ مقایسه، زمینه ذهنی حضار را برای تحلیل کد این روش و سپس درک ضرورت جهش به سمت Hash Map فراهم می‌سازد.</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همیشه در جلسه ارزیابی ابتدا راه‌حل خام را توضیح دهید تا نشان دهید مسئله را متوجه شده‌اید و می‌توانید ضعف آن را نقد کنید.</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خط به خط کد کاتلین را توضیح دهید و نشان دهید چقدر تمیز، ایمن و فشرده است.</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https://leetcode.com/problems/two-sum/description/  -- شبیه‌ساز تک‌باکسی با تمرکز بر متغیرهای کلیدی و پایش وضعیت حافظه Hash Map در زمان O(1).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تفاوت کلیدی با جمع دو تایی اول در مرتب بودن آرایه و قید سخت‌گیرانه حافظه O(1) است.</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جلسه ارزیابی نشان دهید که چرا روش‌های اولیه شکست می‌خورند و چطور قید حافظه O(1) ما را به Two Pointers هدایت می‌کند.</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شهود ریاضی حرکت نشانگرها را روی کاغذ نشان دهید و اثبات کنید چرا هیچ پاسخی از دست نمی‌رود.</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کد کاتلین را خط به خط تشریح کنید و تأکید کنید که چقدر ساختار when خوانا و مطمئن است.</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https://leetcode.com/problems/two-sum-ii-input-array-is-sorted/description/  -- در این شبیه‌ساز نشان دهید که چطور مقایسه currentSum با target به تصمیم قطعی حرکت یکی از دو نشانگر می‌انجامد.</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مسئله جمع سه تایی آزمون سنجش عیار مهندسی است زیرا مدیریت بدون باگ تکرارها نیاز به دقت دارد.</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کالبدشکافی کنید که چرا رویکرد ۳ حلقه و Set در جلسات ارزیابی مردود است و کاهش مسئله چقدر ظریف و قدرتمند عمل می‌کند.</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نشان دهید که چطور جمع سه تایی با تثبیت عنصر اول به جمع دو تایی ۲ کاهش پیدا می‌کند.</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کد کاتلین را گام به گام توضیح دهید و تأکید کنید که چقدر پیاده‌سازی تمیز و حرفه‌ای است.</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https://leetcode.com/problems/3sum/description/  -- شبیه‌سازی گام‌به‌گام کاهش مسئله جمع سه تایی و نحوه خروج زودهنگام و پرش‌های بدون هزینه حافظه.</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https://leetcode.com/problems/move-zeroes/description/  -- اولین و پایه‌ای‌ترین مسئله استادی پلن LeetCode 75 در بخش Two Pointers. تأکید کنید که چطور الگوی Read/Write بدون یک بایت حافظه اضافه کار می‌کند.</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جلسه ارزیابی اگر داوطلب بدون دقت به قید In-Place بگوید یک آرایه دیگر می‌سازم، نشان می‌دهد صورت مسئله را نخوانده است. نقد این کد تسلط بر قیود حافظه را نشان می‌دهد.</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نشان دهید که چطور در ۵ گام ساده و بدون هیچ آرایه کمکی، تمام صفرها به انتهای آرایه رانده شدند و ترتیب ۱، ۳، ۱۲ کاملاً حفظ شد.</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کد فوق‌العاده کوتاه و تمیز است. بهینه‌سازی شرط slow != fast نکته بسیار مثبتی در نگاه ارزیاب است چون عملیات نوشتن روی رم را به حداقل می‌رساند.</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https://leetcode.com/problems/move-zeroes/description/  -- شبیه‌سازی گام‌به‌گام و تریس متغیرها در زمان 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https://leetcode.com/problems/is-subsequence/description/  -- مسئله دوم استادی پلن LeetCode 75 در بخش Two Pointers. الگوی نشانگرهای مستقل روی دو داده مجزا.</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جلسه ارزیابی مطرح کردن این نکته که «چرا نیازی به بک‌ترکینگ نداریم؟ چون تطابق اولین رخداد حریصانه بهینه است» دید الگوریتمی شما را به رخ می‌کشد.</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اثبات ریاضی تصمیم حریصانه را بیان کنید: اگر b اول را در اندیس ۲ انتخاب نکنیم و دنبال بعدی بگردیم، فقط فضای جستجوی حروف بعدی را محدودتر کرده‌ایم.</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توضیح دهید که چگونه این تابع بسیار سبک، با کمترین تعداد دستورالعمل پردازنده، رشته‌های عظیم را پردازش می‌کند.</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https://leetcode.com/problems/is-subsequence/description/  -- شبیه‌سازی گام‌به‌گام و تریس دو رشته مستقل در زمان خطی O(|t|).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مسئله ۱۱ لیت‌کد از استادی پلن LeetCode 75. توضیح دهید که چرا این مسئله آزمون مهم تفکر حریصانه است.</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بیان کنید که چطور مطرح کردن و نقد هوشمندانه Brute Force در کمتر از ۱ دقیقه، تسلط شما بر تحلیل Big-O را به رخ می‌کشد.</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اثبات حریصانه را با مثال روی تخته یا اسلاید برای حضار جا بیندازید.</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کد کاتلین را خط‌به‌خط توضیح دهید و بر سادگی و زیبایی پیاده‌سازی تأکید کنید.</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https://leetcode.com/problems/container-with-most-water/description/  -- شبیه‌سازی گام‌به‌گام و نمایش بصری ستون‌ها و حجم آب.</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https://leetcode.com/problems/max-number-of-k-sum-pairs/description/  -- مسئله پنجم استادی پلن LeetCode 75 در بخش Two Pointers. مقایسه حل با Two Pointers در برابر Hash Map فرکانسی.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نشان دهید که حتی استفاده از break هم مانع O(n²) شدن در بدترین حالت (آرایه‌ای با جفت‌های در انتها یا بدون جفت) نمی‌شود.</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اثبات کنید چرا حرکت همزمان هر دو نشانگر موقع برابری sum == k کاملاً صحیح و بدون نقص است.</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جلسه ارزیابی نشان دهید چطور می‌توانید توازن بین زمان O(n log n) با حافظه O(1) را در برابر زمان O(n) با حافظه O(n) مقایسه و دفاع کنید.</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https://leetcode.com/problems/max-number-of-k-sum-pairs/description/  -- شبیه‌سازی گام‌به‌گام جفت‌یابی و حذف عناصر با سورت و دو نشانگر.</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تشریح کامل صورت مسئله CardStack در سپینو، چرایی نیاز به تابع خالص همگام‌ساز، و نمایش کل کد ابتدایی پیاده‌سازی شده.</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کالبدشکافی مکانیسم عملگر in روی کالکشن List و تبدیل شدن ناخواسته کد به O(N²).</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بررسی فنی علت افت فریم و نقض بودجه ۱۶ میلی‌ثانیه‌ای در اثر اجرای الگوریتم O(N²).</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پیاده‌سازی بهینه با toSet() و توضیح تفاوت جستجوی O(1) در جدول هش با جستجوی خطی در لیست.</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ارائه را با انرژی مثبت تمام کنید و حضار را تشویق کنید که همین امروز اولین مسئله را حل کنند.</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پاسخ به سوالات متداول: بهترین زبان (کاتلین / پایتون)، تعداد مسئله کافی (۷۵ تا ۱۰۰ مسئله عمیق).</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اول آرایهٔ نمونه را بنویسید. دو عدد 3 را خط بزنید. از مخاطب بخواهید جواب و تعدادش را بگوید. «حذف» به معنای کوتاه شدن IntArray نیست. فقط پیشوند معتبر بررسی می‌شود. لینک: https://leetcode.com/problems/remove-element/description/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روی [3, 3, 2] نشان دهید چرا بعد از شیفت نباید readIndex را جلو برد. این روش جواب درست می‌دهد؛ برای محدودیت کوچک مسئله ادعای قطعی TLE نکنید. سپس بپرسید آیا می‌توان هر عدد مطلوب را فقط یک بار نوشت؟ https://leetcode.com/problems/remove-element/description/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آرایه را رسم کنید؛ خانه‌های قبل از writeIndex را سبز کنید. بعد از نوشتن اولین 2 تأکید کنید که مقدار قدیمی خانهٔ ۱ هنوز وجود دارد؛ اشکالی ندارد چون آن بخش هنوز جواب نهایی نیست. writeIndex هرگز از readIndex جلو نمی‌زند، پس دادهٔ نخوانده را خراب نمی‌کنیم. https://leetcode.com/problems/remove-element/description/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ابتدا فقط بدنهٔ if را توضیح دهید: بنویس، سپس جای نوشتن را جلو ببر. مقدار بازگشتی تعداد عناصر معتبر است، نه آرایهٔ جدید. nums.indices روی آرایهٔ خالی تکراری ندارد. https://leetcode.com/problems/remove-element/description/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با گام بعد، نمونه را تا انتها اجرا کنید؛ سپس نمونه‌های مرزی را از منوی شبیه‌ساز انتخاب کنید. در Remove Element انتهای آرایه اهمیتی ندارد؛ در Move Zeroes باید صفر باشد. راه‌حل فعلی انتقال صفرها با swap همین نتیجه را در یک پیمایش می‌سازد. منبع: https://leetcode.com/problems/remove-element/description/ و https://leetcode.com/problems/move-zeroes/description/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re_slideLayout1.xml.rels><?xml version='1.0' encoding='utf-8'?>
<ns0:Relationships xmlns:ns0="http://schemas.openxmlformats.org/package/2006/relationships"><ns0:Relationship Type="http://schemas.openxmlformats.org/officeDocument/2006/relationships/slideMaster" Target="../slideMasters/re_slideMaster1.xml" Id="R7704b17e964a4df5" /></ns0:Relationships>
</file>

<file path=ppt/slideLayouts/_rels/re_slideLayout2.xml.rels><?xml version='1.0' encoding='utf-8'?>
<ns0:Relationships xmlns:ns0="http://schemas.openxmlformats.org/package/2006/relationships"><ns0:Relationship Type="http://schemas.openxmlformats.org/officeDocument/2006/relationships/slideMaster" Target="../slideMasters/re_slideMaster1.xml" Id="Reb1dba6059ab4bf8" /></ns0:Relationships>
</file>

<file path=ppt/slideLayouts/_rels/re_slideLayout3.xml.rels><?xml version='1.0' encoding='utf-8'?>
<ns0:Relationships xmlns:ns0="http://schemas.openxmlformats.org/package/2006/relationships"><ns0:Relationship Type="http://schemas.openxmlformats.org/officeDocument/2006/relationships/slideMaster" Target="../slideMasters/re_slideMaster1.xml" Id="Rfe389fbeefd9417e" /></ns0:Relationships>
</file>

<file path=ppt/slideLayouts/_rels/re_slideLayout4.xml.rels><?xml version='1.0' encoding='utf-8'?>
<ns0:Relationships xmlns:ns0="http://schemas.openxmlformats.org/package/2006/relationships"><ns0:Relationship Type="http://schemas.openxmlformats.org/officeDocument/2006/relationships/slideMaster" Target="../slideMasters/re_slideMaster1.xml" Id="R14c93aea36394b7d" /></ns0:Relationships>
</file>

<file path=ppt/slideLayouts/_rels/re_slideLayout5.xml.rels><?xml version='1.0' encoding='utf-8'?>
<ns0:Relationships xmlns:ns0="http://schemas.openxmlformats.org/package/2006/relationships"><ns0:Relationship Type="http://schemas.openxmlformats.org/officeDocument/2006/relationships/slideMaster" Target="../slideMasters/re_slideMaster1.xml" Id="R74593f1003f24847" /></ns0:Relationships>
</file>

<file path=ppt/slideLayouts/_rels/re_slideLayout6.xml.rels><?xml version='1.0' encoding='utf-8'?>
<ns0:Relationships xmlns:ns0="http://schemas.openxmlformats.org/package/2006/relationships"><ns0:Relationship Type="http://schemas.openxmlformats.org/officeDocument/2006/relationships/slideMaster" Target="../slideMasters/re_slideMaster1.xml" Id="R2458aaf62a614037" /></ns0: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re_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E17D8F2-1689-412D-992D-CCBA19B4E0D4}"/>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68FE63D-FE44-4694-9089-F66B517FA7B7}"/>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re_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6F7694F-F4F3-4BD0-8D4B-FF67E5F48055}"/>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re_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EF8A272-4231-4F42-ACDD-1C4FB7C00B3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BB59154-A0CD-46B1-BB60-5FD3C193B751}"/>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re_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B7E07B8-E9DE-4DDB-842E-4474152CDD9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6D84262-FC9E-47A6-92ED-ECB2AB557B7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E08F069-7CDE-4EB5-B5CA-3A771ACC211F}"/>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re_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99A643C-EA7F-4997-994B-DE7EFB22551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7E8B171-A22E-4369-B344-B1F3E5FCE86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re_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re_slideMaster1.xml.rels><?xml version='1.0' encoding='utf-8'?>
<ns0:Relationships xmlns:ns0="http://schemas.openxmlformats.org/package/2006/relationships"><ns0:Relationship Type="http://schemas.openxmlformats.org/officeDocument/2006/relationships/theme" Target="theme/re_theme2.xml" Id="Rdad89b78154a4558" /><ns0:Relationship Type="http://schemas.openxmlformats.org/officeDocument/2006/relationships/slideLayout" Target="../slideLayouts/re_slideLayout1.xml" Id="R1b98d45224354c29" /><ns0:Relationship Type="http://schemas.openxmlformats.org/officeDocument/2006/relationships/slideLayout" Target="../slideLayouts/re_slideLayout2.xml" Id="R429975467b794aaa" /><ns0:Relationship Type="http://schemas.openxmlformats.org/officeDocument/2006/relationships/slideLayout" Target="../slideLayouts/re_slideLayout3.xml" Id="R228a8750f37d4e96" /><ns0:Relationship Type="http://schemas.openxmlformats.org/officeDocument/2006/relationships/slideLayout" Target="../slideLayouts/re_slideLayout4.xml" Id="Rf4d18f5b8c0d437b" /><ns0:Relationship Type="http://schemas.openxmlformats.org/officeDocument/2006/relationships/slideLayout" Target="../slideLayouts/re_slideLayout5.xml" Id="R08b5a171ed184d0f" /><ns0:Relationship Type="http://schemas.openxmlformats.org/officeDocument/2006/relationships/slideLayout" Target="../slideLayouts/re_slideLayout6.xml" Id="R9320ad457ca3469e" /></ns0:Relationships>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re_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b98d45224354c29"/>
    <p:sldLayoutId xmlns:r="http://schemas.openxmlformats.org/officeDocument/2006/relationships" id="2147483650" r:id="R429975467b794aaa"/>
    <p:sldLayoutId xmlns:r="http://schemas.openxmlformats.org/officeDocument/2006/relationships" id="2147483651" r:id="R228a8750f37d4e96"/>
    <p:sldLayoutId xmlns:r="http://schemas.openxmlformats.org/officeDocument/2006/relationships" id="2147483652" r:id="Rf4d18f5b8c0d437b"/>
    <p:sldLayoutId xmlns:r="http://schemas.openxmlformats.org/officeDocument/2006/relationships" id="2147483653" r:id="R08b5a171ed184d0f"/>
    <p:sldLayoutId xmlns:r="http://schemas.openxmlformats.org/officeDocument/2006/relationships" id="2147483654" r:id="R9320ad457ca3469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theme/re_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ns0:Relationships xmlns:ns0="http://schemas.openxmlformats.org/package/2006/relationships"><ns0:Relationship Type="http://schemas.openxmlformats.org/officeDocument/2006/relationships/slideLayout" Target="../slideLayouts/re_slideLayout6.xml" Id="R0cc4c10c54414760" /><ns0:Relationship Type="http://schemas.openxmlformats.org/officeDocument/2006/relationships/notesSlide" Target="../notesSlides/notesSlide55.xml" Id="Rbf9afca8b1274446" /></ns0:Relationships>
</file>

<file path=ppt/slides/_rels/slide56.xml.rels><?xml version='1.0' encoding='utf-8'?>
<ns0:Relationships xmlns:ns0="http://schemas.openxmlformats.org/package/2006/relationships"><ns0:Relationship Type="http://schemas.openxmlformats.org/officeDocument/2006/relationships/slideLayout" Target="../slideLayouts/re_slideLayout6.xml" Id="R1e1e58d171e445c6" /><ns0:Relationship Type="http://schemas.openxmlformats.org/officeDocument/2006/relationships/notesSlide" Target="../notesSlides/notesSlide56.xml" Id="R0735b9bcecd94c21" /></ns0:Relationships>
</file>

<file path=ppt/slides/_rels/slide57.xml.rels><?xml version='1.0' encoding='utf-8'?>
<ns0:Relationships xmlns:ns0="http://schemas.openxmlformats.org/package/2006/relationships"><ns0:Relationship Type="http://schemas.openxmlformats.org/officeDocument/2006/relationships/slideLayout" Target="../slideLayouts/re_slideLayout6.xml" Id="R4220fe3eba854cf0" /><ns0:Relationship Type="http://schemas.openxmlformats.org/officeDocument/2006/relationships/notesSlide" Target="../notesSlides/notesSlide57.xml" Id="R428782c1a0cc478c" /></ns0:Relationships>
</file>

<file path=ppt/slides/_rels/slide58.xml.rels><?xml version='1.0' encoding='utf-8'?>
<ns0:Relationships xmlns:ns0="http://schemas.openxmlformats.org/package/2006/relationships"><ns0:Relationship Type="http://schemas.openxmlformats.org/officeDocument/2006/relationships/slideLayout" Target="../slideLayouts/re_slideLayout6.xml" Id="R2773f9ea17b146f2" /><ns0:Relationship Type="http://schemas.openxmlformats.org/officeDocument/2006/relationships/notesSlide" Target="../notesSlides/notesSlide58.xml" Id="Re86f4e5a68e74140" /></ns0:Relationships>
</file>

<file path=ppt/slides/_rels/slide59.xml.rels><?xml version='1.0' encoding='utf-8'?>
<ns0:Relationships xmlns:ns0="http://schemas.openxmlformats.org/package/2006/relationships"><ns0:Relationship Type="http://schemas.openxmlformats.org/officeDocument/2006/relationships/slideLayout" Target="../slideLayouts/re_slideLayout6.xml" Id="R2f57dea934d84a06" /><ns0:Relationship Type="http://schemas.openxmlformats.org/officeDocument/2006/relationships/notesSlide" Target="../notesSlides/notesSlide59.xml" Id="R7d2b3467fad74e17" /></ns0: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097280"/>
            <a:ext cx="9418320" cy="4572000"/>
          </a:xfrm>
          <a:prstGeom prst="rect">
            <a:avLst/>
          </a:prstGeom>
          <a:noFill/>
        </p:spPr>
        <p:txBody>
          <a:bodyPr wrap="square">
            <a:spAutoFit/>
          </a:bodyPr>
          <a:lstStyle/>
          <a:p>
            <a:pPr algn="ctr">
              <a:defRPr sz="1400" b="1">
                <a:solidFill>
                  <a:srgbClr val="4ECCA3"/>
                </a:solidFill>
              </a:defRPr>
            </a:pPr>
            <a:r>
              <a:t>ارائه تخصصی جلسات ارزیابی فنی · ALGORITHMIC PROBLEM SOLVING</a:t>
            </a:r>
          </a:p>
          <a:p>
            <a:pPr algn="ctr">
              <a:defRPr sz="4400" b="1">
                <a:solidFill>
                  <a:srgbClr val="DDE1F5"/>
                </a:solidFill>
              </a:defRPr>
            </a:pPr>
            <a:r>
              <a:t>راهنمای جامع شروع LeetCode</a:t>
            </a:r>
          </a:p>
          <a:p>
            <a:pPr algn="ctr">
              <a:defRPr sz="2000">
                <a:solidFill>
                  <a:srgbClr val="969EB4"/>
                </a:solidFill>
              </a:defRPr>
            </a:pPr>
            <a:r>
              <a:t>چرا لیت‌کد ضروری است؟ چگونه اصولی مطالعه کنیم و حل عملی اولین مسئله</a:t>
            </a:r>
          </a:p>
          <a:p>
            <a:br/>
            <a:pPr algn="ctr">
              <a:defRPr sz="1800" b="1">
                <a:solidFill>
                  <a:srgbClr val="7C8FF5"/>
                </a:solidFill>
              </a:defRPr>
            </a:pPr>
            <a:r>
              <a:t>Milad Faridnia · ارائه‌دهنده</a:t>
            </a:r>
          </a:p>
          <a:p>
            <a:pPr algn="ctr">
              <a:defRPr sz="1400">
                <a:solidFill>
                  <a:srgbClr val="E9A84C"/>
                </a:solidFill>
              </a:defRPr>
            </a:pPr>
            <a:r>
              <a:t>تفکر الگوریتمی · متدولوژی مطالعه</a:t>
            </a:r>
          </a:p>
        </p:txBody>
      </p:sp>
    </p:spTree>
  </p:cSld>
  <p:clrMapOvr>
    <a:masterClrMapping/>
  </p:clrMapOvr>
</p:sld>
</file>

<file path=ppt/slides/slide2.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ECC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500" b="1">
                <a:solidFill>
                  <a:srgbClr val="4ECCA3"/>
                </a:solidFill>
              </a:defRPr>
            </a:pPr>
            <a:r>
              <a:t>ساختار جامع · AGENDA  |  نقشه راه و فهرست سرفصل‌های ارائه</a:t>
            </a:r>
          </a:p>
          <a:p>
            <a:pPr>
              <a:defRPr sz="1300">
                <a:solidFill>
                  <a:srgbClr val="969EB4"/>
                </a:solidFill>
              </a:defRPr>
            </a:pPr>
            <a:r>
              <a:t>مرور مسیر یادگیری از مبانی و چک‌لیست تا هشت مسئلهٔ لیت‌کد و چالش پروداکشن</a:t>
            </a:r>
          </a:p>
        </p:txBody>
      </p:sp>
      <p:sp>
        <p:nvSpPr>
          <p:cNvPr id="5" name="Rounded Rectangle 4"/>
          <p:cNvSpPr/>
          <p:nvPr/>
        </p:nvSpPr>
        <p:spPr>
          <a:xfrm>
            <a:off x="731520" y="1371600"/>
            <a:ext cx="5212080" cy="1051560"/>
          </a:xfrm>
          <a:prstGeom prst="roundRect">
            <a:avLst/>
          </a:prstGeom>
          <a:solidFill>
            <a:srgbClr val="141428"/>
          </a:solidFill>
          <a:ln w="152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DDE1F5"/>
                </a:solidFill>
              </a:defRPr>
            </a:pPr>
            <a:r>
              <a:t>۱. مبانی، ذهنیت و متدولوژی یادگیری</a:t>
            </a:r>
          </a:p>
          <a:p>
            <a:pPr>
              <a:defRPr sz="1000">
                <a:solidFill>
                  <a:srgbClr val="969EB4"/>
                </a:solidFill>
              </a:defRPr>
            </a:pPr>
            <a:r>
              <a:t>چرا لیت‌کد؟ · رفع سد روانی · ۵ اصل مطالعه فعال و تکرار فاصله‌دار · تحلیل Big-O</a:t>
            </a:r>
          </a:p>
          <a:p>
            <a:pPr>
              <a:defRPr sz="950" b="1">
                <a:solidFill>
                  <a:srgbClr val="4ECCA3"/>
                </a:solidFill>
              </a:defRPr>
            </a:pPr>
            <a:r>
              <a:t>اسلایدهای ۲ تا ۱۱</a:t>
            </a:r>
          </a:p>
        </p:txBody>
      </p:sp>
      <p:sp>
        <p:nvSpPr>
          <p:cNvPr id="6" name="Rounded Rectangle 5"/>
          <p:cNvSpPr/>
          <p:nvPr/>
        </p:nvSpPr>
        <p:spPr>
          <a:xfrm>
            <a:off x="6217920" y="1371600"/>
            <a:ext cx="5212080" cy="1051560"/>
          </a:xfrm>
          <a:prstGeom prst="roundRect">
            <a:avLst/>
          </a:prstGeom>
          <a:solidFill>
            <a:srgbClr val="141428"/>
          </a:solidFill>
          <a:ln w="152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DDE1F5"/>
                </a:solidFill>
              </a:defRPr>
            </a:pPr>
            <a:r>
              <a:t>۲. چک‌لیست طلایی ارزیابی فنی</a:t>
            </a:r>
          </a:p>
          <a:p>
            <a:pPr>
              <a:defRPr sz="1000">
                <a:solidFill>
                  <a:srgbClr val="969EB4"/>
                </a:solidFill>
              </a:defRPr>
            </a:pPr>
            <a:r>
              <a:t>چارچوب ۴ مرحله‌ای مواجهه با مسئله، تفکر آنالوگ روی کاغذ و مدیریت Edge Caseها</a:t>
            </a:r>
          </a:p>
          <a:p>
            <a:pPr>
              <a:defRPr sz="950" b="1">
                <a:solidFill>
                  <a:srgbClr val="7C8FF5"/>
                </a:solidFill>
              </a:defRPr>
            </a:pPr>
            <a:r>
              <a:t>اسلاید ۱۲</a:t>
            </a:r>
          </a:p>
        </p:txBody>
      </p:sp>
      <p:sp>
        <p:nvSpPr>
          <p:cNvPr id="7" name="Rounded Rectangle 6"/>
          <p:cNvSpPr/>
          <p:nvPr/>
        </p:nvSpPr>
        <p:spPr>
          <a:xfrm>
            <a:off x="731520" y="2532888"/>
            <a:ext cx="5212080" cy="1051560"/>
          </a:xfrm>
          <a:prstGeom prst="roundRect">
            <a:avLst/>
          </a:prstGeom>
          <a:solidFill>
            <a:srgbClr val="1C1C3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۳. پایه: جمع دو تایی و سه تایی</a:t>
            </a:r>
          </a:p>
          <a:p>
            <a:pPr>
              <a:defRPr sz="1000">
                <a:solidFill>
                  <a:srgbClr val="969EB4"/>
                </a:solidFill>
              </a:defRPr>
            </a:pPr>
            <a:r>
              <a:t>کشف Hash Map با O(n) در Two Sum، و کاهش بعد در Two Sum II و 3Sum</a:t>
            </a:r>
          </a:p>
          <a:p>
            <a:pPr>
              <a:defRPr sz="950" b="1">
                <a:solidFill>
                  <a:srgbClr val="4ECCA3"/>
                </a:solidFill>
              </a:defRPr>
            </a:pPr>
            <a:r>
              <a:t>اسلایدهای ۱۳ تا ۲۷</a:t>
            </a:r>
          </a:p>
        </p:txBody>
      </p:sp>
      <p:sp>
        <p:nvSpPr>
          <p:cNvPr id="8" name="Rounded Rectangle 7"/>
          <p:cNvSpPr/>
          <p:nvPr/>
        </p:nvSpPr>
        <p:spPr>
          <a:xfrm>
            <a:off x="6217920" y="2532888"/>
            <a:ext cx="5212080" cy="1051560"/>
          </a:xfrm>
          <a:prstGeom prst="roundRect">
            <a:avLst/>
          </a:prstGeom>
          <a:solidFill>
            <a:srgbClr val="1C1C3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۴. حذف یک مقدار ← انتقال صفرها</a:t>
            </a:r>
          </a:p>
          <a:p>
            <a:pPr>
              <a:defRPr sz="1000">
                <a:solidFill>
                  <a:srgbClr val="969EB4"/>
                </a:solidFill>
              </a:defRPr>
            </a:pPr>
            <a:r>
              <a:t>Remove Element #27 سپس Move Zeroes #283؛ دو نشانگر خواندن و نوشتن</a:t>
            </a:r>
          </a:p>
          <a:p>
            <a:pPr>
              <a:defRPr sz="950" b="1">
                <a:solidFill>
                  <a:srgbClr val="4ECCA3"/>
                </a:solidFill>
              </a:defRPr>
            </a:pPr>
            <a:r>
              <a:t>اسلایدهای ۲۸ تا ۳۷</a:t>
            </a:r>
          </a:p>
        </p:txBody>
      </p:sp>
      <p:sp>
        <p:nvSpPr>
          <p:cNvPr id="9" name="Rounded Rectangle 8"/>
          <p:cNvSpPr/>
          <p:nvPr/>
        </p:nvSpPr>
        <p:spPr>
          <a:xfrm>
            <a:off x="731520" y="3694176"/>
            <a:ext cx="5212080" cy="1051560"/>
          </a:xfrm>
          <a:prstGeom prst="roundRect">
            <a:avLst/>
          </a:prstGeom>
          <a:solidFill>
            <a:srgbClr val="1C1C3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7C8FF5"/>
                </a:solidFill>
              </a:defRPr>
            </a:pPr>
            <a:r>
              <a:t>⚡ ۵. زیردنباله (Is Subsequence #392)</a:t>
            </a:r>
          </a:p>
          <a:p>
            <a:pPr>
              <a:defRPr sz="1000">
                <a:solidFill>
                  <a:srgbClr val="969EB4"/>
                </a:solidFill>
              </a:defRPr>
            </a:pPr>
            <a:r>
              <a:t>الگوی دو نشانگر روی دو رشته مجزا · تطابق حریصانه در زمان خطی O(|t|)</a:t>
            </a:r>
          </a:p>
          <a:p>
            <a:pPr>
              <a:defRPr sz="950" b="1">
                <a:solidFill>
                  <a:srgbClr val="7C8FF5"/>
                </a:solidFill>
              </a:defRPr>
            </a:pPr>
            <a:r>
              <a:t>اسلایدهای ۳۸ تا ۴۲</a:t>
            </a:r>
          </a:p>
        </p:txBody>
      </p:sp>
      <p:sp>
        <p:nvSpPr>
          <p:cNvPr id="10" name="Rounded Rectangle 9"/>
          <p:cNvSpPr/>
          <p:nvPr/>
        </p:nvSpPr>
        <p:spPr>
          <a:xfrm>
            <a:off x="6217920" y="3694176"/>
            <a:ext cx="5212080" cy="1051560"/>
          </a:xfrm>
          <a:prstGeom prst="roundRect">
            <a:avLst/>
          </a:prstGeom>
          <a:solidFill>
            <a:srgbClr val="1C1C38"/>
          </a:solidFill>
          <a:ln w="279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38BDF8"/>
                </a:solidFill>
              </a:defRPr>
            </a:pPr>
            <a:r>
              <a:t>🌊 ۶. ظرف با بیشترین آب (Container #11)</a:t>
            </a:r>
          </a:p>
          <a:p>
            <a:pPr>
              <a:defRPr sz="1000">
                <a:solidFill>
                  <a:srgbClr val="969EB4"/>
                </a:solidFill>
              </a:defRPr>
            </a:pPr>
            <a:r>
              <a:t>الگوی همگرایی از دو انتها با تصمیم حریصانه (Greedy Choice) و اثبات ریاضی</a:t>
            </a:r>
          </a:p>
          <a:p>
            <a:pPr>
              <a:defRPr sz="950" b="1">
                <a:solidFill>
                  <a:srgbClr val="38BDF8"/>
                </a:solidFill>
              </a:defRPr>
            </a:pPr>
            <a:r>
              <a:t>اسلایدهای ۴۳ تا ۴۷</a:t>
            </a:r>
          </a:p>
        </p:txBody>
      </p:sp>
      <p:sp>
        <p:nvSpPr>
          <p:cNvPr id="11" name="Rounded Rectangle 10"/>
          <p:cNvSpPr/>
          <p:nvPr/>
        </p:nvSpPr>
        <p:spPr>
          <a:xfrm>
            <a:off x="731520" y="4855464"/>
            <a:ext cx="5212080" cy="1051560"/>
          </a:xfrm>
          <a:prstGeom prst="roundRect">
            <a:avLst/>
          </a:prstGeom>
          <a:solidFill>
            <a:srgbClr val="1C1C38"/>
          </a:solidFill>
          <a:ln w="2794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A84C"/>
                </a:solidFill>
              </a:defRPr>
            </a:pPr>
            <a:r>
              <a:t>💥 ۷. بیشینه جفت‌های k (K-Sum Pairs)</a:t>
            </a:r>
          </a:p>
          <a:p>
            <a:pPr>
              <a:defRPr sz="1000">
                <a:solidFill>
                  <a:srgbClr val="969EB4"/>
                </a:solidFill>
              </a:defRPr>
            </a:pPr>
            <a:r>
              <a:t>سورت و جفت‌یابی همگرا در K-Sum Pairs (#1679) و مقایسه با روش فرکانسی</a:t>
            </a:r>
          </a:p>
          <a:p>
            <a:pPr>
              <a:defRPr sz="950" b="1">
                <a:solidFill>
                  <a:srgbClr val="E9A84C"/>
                </a:solidFill>
              </a:defRPr>
            </a:pPr>
            <a:r>
              <a:t>اسلایدهای ۴۸ تا ۵۲</a:t>
            </a:r>
          </a:p>
        </p:txBody>
      </p:sp>
      <p:sp>
        <p:nvSpPr>
          <p:cNvPr id="12" name="Rounded Rectangle 11"/>
          <p:cNvSpPr/>
          <p:nvPr/>
        </p:nvSpPr>
        <p:spPr>
          <a:xfrm>
            <a:off x="6217920" y="4855464"/>
            <a:ext cx="5212080" cy="1051560"/>
          </a:xfrm>
          <a:prstGeom prst="roundRect">
            <a:avLst/>
          </a:prstGeom>
          <a:solidFill>
            <a:srgbClr val="1C1C38"/>
          </a:solidFill>
          <a:ln w="279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38BDF8"/>
                </a:solidFill>
              </a:defRPr>
            </a:pPr>
            <a:r>
              <a:t>🚀 ۸. پروداکشن CardStack و نقشه راه</a:t>
            </a:r>
          </a:p>
          <a:p>
            <a:pPr>
              <a:defRPr sz="1000">
                <a:solidFill>
                  <a:srgbClr val="969EB4"/>
                </a:solidFill>
              </a:defRPr>
            </a:pPr>
            <a:r>
              <a:t>حل افت فریم انیمیشن در سپینو (تبدیل O(N²) به O(N)) و برنامه تمرین ۳۰ روزه</a:t>
            </a:r>
          </a:p>
          <a:p>
            <a:pPr>
              <a:defRPr sz="950" b="1">
                <a:solidFill>
                  <a:srgbClr val="38BDF8"/>
                </a:solidFill>
              </a:defRPr>
            </a:pPr>
            <a:r>
              <a:t>اسلایدهای ۵۳ تا ۵۹</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ضرورت · WHY LEETCODE  |  چرا لیت‌کد؟ ضرورت و واقعیت بازار کار</a:t>
            </a:r>
          </a:p>
          <a:p>
            <a:pPr>
              <a:defRPr sz="1400">
                <a:solidFill>
                  <a:srgbClr val="969EB4"/>
                </a:solidFill>
              </a:defRPr>
            </a:pPr>
            <a:r>
              <a:t>امروزه LeetCode به زبان استاندارد ارزیابی مهندسان در شرکت‌های معتبر تبدیل شده است.</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مدیریت فشار و ابهام</a:t>
            </a:r>
          </a:p>
          <a:p>
            <a:pPr>
              <a:defRPr sz="1100">
                <a:solidFill>
                  <a:srgbClr val="DDE1F5"/>
                </a:solidFill>
              </a:defRPr>
            </a:pPr>
            <a:r>
              <a:t>سنجش تفکر ساختاریافته و توانایی شکستن مسئله در شرایط پرفشار جلسه ارزیابی.</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کشف Edge Cases</a:t>
            </a:r>
          </a:p>
          <a:p>
            <a:pPr>
              <a:defRPr sz="1100">
                <a:solidFill>
                  <a:srgbClr val="DDE1F5"/>
                </a:solidFill>
              </a:defRPr>
            </a:pPr>
            <a:r>
              <a:t>پیش‌بینی پیش‌دستانه ورودی‌های خالی، مقادیر منفی و اعداد تکراری قبل از کدنویسی.</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ارزیابی Trade-offs</a:t>
            </a:r>
          </a:p>
          <a:p>
            <a:pPr>
              <a:defRPr sz="1100">
                <a:solidFill>
                  <a:srgbClr val="DDE1F5"/>
                </a:solidFill>
              </a:defRPr>
            </a:pPr>
            <a:r>
              <a:t>تحلیل هوشمندانه توازن بین زمان اجرا (Time) و مصرف حافظه (Space).</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استانداردهای Clean Code</a:t>
            </a:r>
          </a:p>
          <a:p>
            <a:pPr>
              <a:defRPr sz="1100">
                <a:solidFill>
                  <a:srgbClr val="DDE1F5"/>
                </a:solidFill>
              </a:defRPr>
            </a:pPr>
            <a:r>
              <a:t>نوشتن کدی خوانا، ماژولار و قابل دفاع در محیط تیمی.</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«هیچ‌کس به دنبال یادگیری سینتکس زبان نیست؛ نحوه رویارویی شما با مسائل مبهم معیار اصلی ارزیابی است.»</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تغییر نگرش · MINDSET  |  افسانه‌زدایی: لیت‌کد آزمون هوش نیست!</a:t>
            </a:r>
          </a:p>
          <a:p>
            <a:pPr>
              <a:defRPr sz="1400">
                <a:solidFill>
                  <a:srgbClr val="969EB4"/>
                </a:solidFill>
              </a:defRPr>
            </a:pPr>
            <a:r>
              <a:t>بزرگ‌ترین مانع در شروع لیت‌کد، باورهای بازدارنده ذهنی است.</a:t>
            </a:r>
          </a:p>
        </p:txBody>
      </p:sp>
      <p:sp>
        <p:nvSpPr>
          <p:cNvPr id="4" name="Rounded Rectangle 3"/>
          <p:cNvSpPr/>
          <p:nvPr/>
        </p:nvSpPr>
        <p:spPr>
          <a:xfrm>
            <a:off x="731520" y="146304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باور نادرست و بازدارنده</a:t>
            </a:r>
          </a:p>
          <a:p>
            <a:pPr>
              <a:defRPr sz="1100">
                <a:solidFill>
                  <a:srgbClr val="DDE1F5"/>
                </a:solidFill>
              </a:defRPr>
            </a:pPr>
            <a:r>
              <a:t>«برای لیت‌کد باید نابغه ریاضی یا مدال‌آور المپیاد بود. اگر نتوانستم مسئله‌ای را حل کنم یعنی برنامه‌نویس خوبی نیستم.»</a:t>
            </a:r>
          </a:p>
        </p:txBody>
      </p:sp>
      <p:sp>
        <p:nvSpPr>
          <p:cNvPr id="5" name="Rounded Rectangle 4"/>
          <p:cNvSpPr/>
          <p:nvPr/>
        </p:nvSpPr>
        <p:spPr>
          <a:xfrm>
            <a:off x="6217920" y="146304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واقعیت علمی و روان‌شناختی</a:t>
            </a:r>
          </a:p>
          <a:p>
            <a:pPr>
              <a:defRPr sz="1100">
                <a:solidFill>
                  <a:srgbClr val="DDE1F5"/>
                </a:solidFill>
              </a:defRPr>
            </a:pPr>
            <a:r>
              <a:t>«لیت‌کد مهارتی کاملاً اکتسابی (Learnable Skill) مبتنی بر شناسایی الگوها (Pattern Recognition) است، درست مثل یادگیری پیانو.»</a:t>
            </a:r>
          </a:p>
        </p:txBody>
      </p:sp>
      <p:sp>
        <p:nvSpPr>
          <p:cNvPr id="6" name="TextBox 5"/>
          <p:cNvSpPr txBox="1"/>
          <p:nvPr/>
        </p:nvSpPr>
        <p:spPr>
          <a:xfrm>
            <a:off x="731520" y="3291840"/>
            <a:ext cx="10698480" cy="1463040"/>
          </a:xfrm>
          <a:prstGeom prst="rect">
            <a:avLst/>
          </a:prstGeom>
          <a:noFill/>
        </p:spPr>
        <p:txBody>
          <a:bodyPr wrap="square">
            <a:spAutoFit/>
          </a:bodyPr>
          <a:lstStyle/>
          <a:p>
            <a:pPr>
              <a:defRPr sz="1300">
                <a:solidFill>
                  <a:srgbClr val="DDE1F5"/>
                </a:solidFill>
              </a:defRPr>
            </a:pPr>
            <a:r>
              <a:t>• فاز ۱ (شوک اولیه): احساس سردرگمی در اولین مسائل Easy کاملاً طبیعی است.</a:t>
            </a:r>
          </a:p>
          <a:p>
            <a:pPr>
              <a:defRPr sz="1300">
                <a:solidFill>
                  <a:srgbClr val="DDE1F5"/>
                </a:solidFill>
              </a:defRPr>
            </a:pPr>
            <a:r>
              <a:t>• فاز ۲ (کشف الگوها): با حل عمیق ۲۰ تا ۳۰ مسئله، شباهت ساختارها آشکار می‌شود.</a:t>
            </a:r>
          </a:p>
          <a:p>
            <a:pPr>
              <a:defRPr sz="1300">
                <a:solidFill>
                  <a:srgbClr val="DDE1F5"/>
                </a:solidFill>
              </a:defRPr>
            </a:pPr>
            <a:r>
              <a:t>• فاز ۳ (شهود و تسلط): نگاه به صورت مسئله بلافاصله ساختار داده مناسب را در ذهن ترسیم می‌کند.</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۱ · ACTIVE CODING  |  اصل اول: فراتر از فقط خواندن راه‌حل‌ها بروید</a:t>
            </a:r>
          </a:p>
          <a:p>
            <a:pPr>
              <a:defRPr sz="1400">
                <a:solidFill>
                  <a:srgbClr val="969EB4"/>
                </a:solidFill>
              </a:defRPr>
            </a:pPr>
            <a:r>
              <a:t>دام بزرگ: توهم دانایی (Illusion of Competence) با دیدن ویدیوهای آموزشی.</a:t>
            </a:r>
          </a:p>
        </p:txBody>
      </p:sp>
      <p:sp>
        <p:nvSpPr>
          <p:cNvPr id="4" name="Rounded Rectangle 3"/>
          <p:cNvSpPr/>
          <p:nvPr/>
        </p:nvSpPr>
        <p:spPr>
          <a:xfrm>
            <a:off x="731520" y="146304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رویکرد منفعل (Passive)</a:t>
            </a:r>
          </a:p>
          <a:p>
            <a:pPr>
              <a:defRPr sz="1100">
                <a:solidFill>
                  <a:srgbClr val="DDE1F5"/>
                </a:solidFill>
              </a:defRPr>
            </a:pPr>
            <a:r>
              <a:t>تماشای حل مسئله در یوتیوب یا خواندن راه‌حل و گفتن «آها، فهمیدم!»؛ اما قفل شدن دست‌ها روی صفحه خالی.</a:t>
            </a:r>
          </a:p>
        </p:txBody>
      </p:sp>
      <p:sp>
        <p:nvSpPr>
          <p:cNvPr id="5" name="Rounded Rectangle 4"/>
          <p:cNvSpPr/>
          <p:nvPr/>
        </p:nvSpPr>
        <p:spPr>
          <a:xfrm>
            <a:off x="6217920" y="146304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رویکرد فعال (Active)</a:t>
            </a:r>
          </a:p>
          <a:p>
            <a:pPr>
              <a:defRPr sz="1100">
                <a:solidFill>
                  <a:srgbClr val="DDE1F5"/>
                </a:solidFill>
              </a:defRPr>
            </a:pPr>
            <a:r>
              <a:t>بستن تمام تب‌ها، باز کردن ادیتور خالی و پیاده‌سازی مستقل خط به خط کد تا رسیدن به وضعیت Accepted.</a:t>
            </a:r>
          </a:p>
        </p:txBody>
      </p:sp>
      <p:sp>
        <p:nvSpPr>
          <p:cNvPr id="6" name="TextBox 5"/>
          <p:cNvSpPr txBox="1"/>
          <p:nvPr/>
        </p:nvSpPr>
        <p:spPr>
          <a:xfrm>
            <a:off x="731520" y="3291840"/>
            <a:ext cx="10698480" cy="1463040"/>
          </a:xfrm>
          <a:prstGeom prst="rect">
            <a:avLst/>
          </a:prstGeom>
          <a:noFill/>
        </p:spPr>
        <p:txBody>
          <a:bodyPr wrap="square">
            <a:spAutoFit/>
          </a:bodyPr>
          <a:lstStyle/>
          <a:p>
            <a:pPr>
              <a:defRPr sz="1300">
                <a:solidFill>
                  <a:srgbClr val="DDE1F5"/>
                </a:solidFill>
              </a:defRPr>
            </a:pPr>
            <a:r>
              <a:t>• قانون ۲۵ دقیقه: ۲۰ تا ۲۵ دقیقه تلاش انفرادی متمرکز روی کاغذ و ادیتور.</a:t>
            </a:r>
          </a:p>
          <a:p>
            <a:pPr>
              <a:defRPr sz="1300">
                <a:solidFill>
                  <a:srgbClr val="DDE1F5"/>
                </a:solidFill>
              </a:defRPr>
            </a:pPr>
            <a:r>
              <a:t>• در صورت بن‌بست: فقط یک هینت یا ۲ دقیقه از ویدیو را برای درک ایده اصلی ببینید.</a:t>
            </a:r>
          </a:p>
          <a:p>
            <a:pPr>
              <a:defRPr sz="1300">
                <a:solidFill>
                  <a:srgbClr val="DDE1F5"/>
                </a:solidFill>
              </a:defRPr>
            </a:pPr>
            <a:r>
              <a:t>• قانون صفحه خالی: تب را کامل ببندید، ۱۵ دقیقه استراحت کنید، سپس از صفر کد بزنید.</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۲ · REPETITION  |  اصل دوم: قدرت تکرار فاصله‌دار (Spaced Repetition)</a:t>
            </a:r>
          </a:p>
          <a:p>
            <a:pPr>
              <a:defRPr sz="1400">
                <a:solidFill>
                  <a:srgbClr val="969EB4"/>
                </a:solidFill>
              </a:defRPr>
            </a:pPr>
            <a:r>
              <a:t>مسئله لیت‌کد یک‌بار حل‌شدنی نیست؛ حافظه انسان الگوها را فراموش می‌کند.</a:t>
            </a:r>
          </a:p>
        </p:txBody>
      </p:sp>
      <p:sp>
        <p:nvSpPr>
          <p:cNvPr id="4" name="Rounded Rectangle 3"/>
          <p:cNvSpPr/>
          <p:nvPr/>
        </p:nvSpPr>
        <p:spPr>
          <a:xfrm>
            <a:off x="731520" y="1463040"/>
            <a:ext cx="3413759"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مرور اول: ۳ روز بعد</a:t>
            </a:r>
          </a:p>
          <a:p>
            <a:pPr>
              <a:defRPr sz="1100">
                <a:solidFill>
                  <a:srgbClr val="DDE1F5"/>
                </a:solidFill>
              </a:defRPr>
            </a:pPr>
            <a:r>
              <a:t>تست یادآوری ایده اصلی و ساختار داده بدون نگاه به راه‌حل قبلی.</a:t>
            </a:r>
          </a:p>
        </p:txBody>
      </p:sp>
      <p:sp>
        <p:nvSpPr>
          <p:cNvPr id="5" name="Rounded Rectangle 4"/>
          <p:cNvSpPr/>
          <p:nvPr/>
        </p:nvSpPr>
        <p:spPr>
          <a:xfrm>
            <a:off x="4373880" y="1463040"/>
            <a:ext cx="3413759"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مرور دوم: ۱ هفته بعد</a:t>
            </a:r>
          </a:p>
          <a:p>
            <a:pPr>
              <a:defRPr sz="1100">
                <a:solidFill>
                  <a:srgbClr val="DDE1F5"/>
                </a:solidFill>
              </a:defRPr>
            </a:pPr>
            <a:r>
              <a:t>حل کامل و مستقل مسئله روی صفحه خالی با هدف افزایش سرعت زیر ۱۵ دقیقه.</a:t>
            </a:r>
          </a:p>
        </p:txBody>
      </p:sp>
      <p:sp>
        <p:nvSpPr>
          <p:cNvPr id="6" name="Rounded Rectangle 5"/>
          <p:cNvSpPr/>
          <p:nvPr/>
        </p:nvSpPr>
        <p:spPr>
          <a:xfrm>
            <a:off x="8016239" y="1463040"/>
            <a:ext cx="3413759"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مرور سوم: ۳ هفته بعد</a:t>
            </a:r>
          </a:p>
          <a:p>
            <a:pPr>
              <a:defRPr sz="1100">
                <a:solidFill>
                  <a:srgbClr val="DDE1F5"/>
                </a:solidFill>
              </a:defRPr>
            </a:pPr>
            <a:r>
              <a:t>تثبیت نهایی در حافظه بلندمدت با تست دستی موارد مرزی و تحلیل پیچیدگی.</a:t>
            </a:r>
          </a:p>
        </p:txBody>
      </p:sp>
      <p:sp>
        <p:nvSpPr>
          <p:cNvPr id="7" name="TextBox 6"/>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سیستم برچسب‌گذاری: 🔴 نیاز به مرور فوری | 🟡 در حال یادگیری | 🟢 ملکه ذهن شده</a:t>
            </a:r>
          </a:p>
          <a:p>
            <a:pPr>
              <a:defRPr sz="1300">
                <a:solidFill>
                  <a:srgbClr val="DDE1F5"/>
                </a:solidFill>
              </a:defRPr>
            </a:pPr>
            <a:r>
              <a:t>• ثبت تاریخچه مرور در اکسل، Notion یا اپلیکیشن‌های مرور فاصله‌دار (مانند Anki).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۳ · CORE PATTERNS  |  اصل سوم: تسلط برق‌آسا بر الگوریتم‌ها و ساختارهای پایه</a:t>
            </a:r>
          </a:p>
          <a:p>
            <a:pPr>
              <a:defRPr sz="1400">
                <a:solidFill>
                  <a:srgbClr val="969EB4"/>
                </a:solidFill>
              </a:defRPr>
            </a:pPr>
            <a:r>
              <a:t>اشتباه رایج: حل تصادفی ۴۰۰ مسئله بدون تسلط بر الفبای بنیادین!</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Binary Search</a:t>
            </a:r>
          </a:p>
          <a:p>
            <a:pPr>
              <a:defRPr sz="1100">
                <a:solidFill>
                  <a:srgbClr val="DDE1F5"/>
                </a:solidFill>
              </a:defRPr>
            </a:pPr>
            <a:r>
              <a:t>جستجوی لگاریتمی O(log n)، مدیریت دقیق شرط low &lt;= high و حرکت مرزها.</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Two Pointers &amp; Window</a:t>
            </a:r>
          </a:p>
          <a:p>
            <a:pPr>
              <a:defRPr sz="1100">
                <a:solidFill>
                  <a:srgbClr val="DDE1F5"/>
                </a:solidFill>
              </a:defRPr>
            </a:pPr>
            <a:r>
              <a:t>تکنیک پنجره لغزان پویا، جستجو در آرایه و حذف حلقه‌های تودرتو.</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DFS &amp; BFS</a:t>
            </a:r>
          </a:p>
          <a:p>
            <a:pPr>
              <a:defRPr sz="1100">
                <a:solidFill>
                  <a:srgbClr val="DDE1F5"/>
                </a:solidFill>
              </a:defRPr>
            </a:pPr>
            <a:r>
              <a:t>پیمایش پشته‌ای (عمقی) و صفی (سطحی) برای درخت‌ها، گراف‌ها و ماتریس‌ها.</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Hash Map &amp; Set</a:t>
            </a:r>
          </a:p>
          <a:p>
            <a:pPr>
              <a:defRPr sz="1100">
                <a:solidFill>
                  <a:srgbClr val="DDE1F5"/>
                </a:solidFill>
              </a:defRPr>
            </a:pPr>
            <a:r>
              <a:t>جستجو و درج با میانگین زمانی O(1)؛ ابزار طلایی Trade-off حافظه در برابر زمان.</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«وقتی پیاده‌سازی الگوهای پایه زیر ۳ دقیقه باشد، ۱۰۰٪ توان پردازش مغز صرف منطق چالش‌برانگیز مسئله Medium/Hard می‌شود.»</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تحلیل کارایی · TIME COMPLEXITY  |  مفهوم کلیدی: پیچیدگی زمانی (Big-O) و تحلیل کارایی</a:t>
            </a:r>
          </a:p>
          <a:p>
            <a:pPr>
              <a:defRPr sz="1400">
                <a:solidFill>
                  <a:srgbClr val="969EB4"/>
                </a:solidFill>
              </a:defRPr>
            </a:pPr>
            <a:r>
              <a:t>پیچیدگی زمانی نرخ رشد عملیات با بزرگ شدن اندازه ورودی (n) است، نه ثانیه‌شماری با کرونومتر.</a:t>
            </a:r>
          </a:p>
        </p:txBody>
      </p:sp>
      <p:sp>
        <p:nvSpPr>
          <p:cNvPr id="4" name="Rounded Rectangle 3"/>
          <p:cNvSpPr/>
          <p:nvPr/>
        </p:nvSpPr>
        <p:spPr>
          <a:xfrm>
            <a:off x="731520" y="1463040"/>
            <a:ext cx="1956815"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O(1) · ثابت</a:t>
            </a:r>
          </a:p>
          <a:p>
            <a:pPr>
              <a:defRPr sz="1100">
                <a:solidFill>
                  <a:srgbClr val="DDE1F5"/>
                </a:solidFill>
              </a:defRPr>
            </a:pPr>
            <a:r>
              <a:t>دسترسی مستقیم با اندیس یا دیکشنری؛ همیشه ۱ گام.</a:t>
            </a:r>
          </a:p>
        </p:txBody>
      </p:sp>
      <p:sp>
        <p:nvSpPr>
          <p:cNvPr id="5" name="Rounded Rectangle 4"/>
          <p:cNvSpPr/>
          <p:nvPr/>
        </p:nvSpPr>
        <p:spPr>
          <a:xfrm>
            <a:off x="2916935" y="1463040"/>
            <a:ext cx="1956815"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O(log n) · لگاریتمی</a:t>
            </a:r>
          </a:p>
          <a:p>
            <a:pPr>
              <a:defRPr sz="1100">
                <a:solidFill>
                  <a:srgbClr val="DDE1F5"/>
                </a:solidFill>
              </a:defRPr>
            </a:pPr>
            <a:r>
              <a:t>جستجوی دودویی؛ نصف شدن داده‌ها (۱M ورودی ➔ ۲۰ گام!).</a:t>
            </a:r>
          </a:p>
        </p:txBody>
      </p:sp>
      <p:sp>
        <p:nvSpPr>
          <p:cNvPr id="6" name="Rounded Rectangle 5"/>
          <p:cNvSpPr/>
          <p:nvPr/>
        </p:nvSpPr>
        <p:spPr>
          <a:xfrm>
            <a:off x="5102351" y="1463040"/>
            <a:ext cx="1956815"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۳. O(n) · خطی</a:t>
            </a:r>
          </a:p>
          <a:p>
            <a:pPr>
              <a:defRPr sz="1100">
                <a:solidFill>
                  <a:srgbClr val="DDE1F5"/>
                </a:solidFill>
              </a:defRPr>
            </a:pPr>
            <a:r>
              <a:t>پیمایش ساده آرایه؛ رشد مستقیم متناسب با تعداد عناصر (n گام).</a:t>
            </a:r>
          </a:p>
        </p:txBody>
      </p:sp>
      <p:sp>
        <p:nvSpPr>
          <p:cNvPr id="7" name="Rounded Rectangle 6"/>
          <p:cNvSpPr/>
          <p:nvPr/>
        </p:nvSpPr>
        <p:spPr>
          <a:xfrm>
            <a:off x="7287767" y="1463040"/>
            <a:ext cx="1956815"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۴. O(n log n) · شبه‌خطی</a:t>
            </a:r>
          </a:p>
          <a:p>
            <a:pPr>
              <a:defRPr sz="1100">
                <a:solidFill>
                  <a:srgbClr val="DDE1F5"/>
                </a:solidFill>
              </a:defRPr>
            </a:pPr>
            <a:r>
              <a:t>مرتب‌سازی‌های بهینه (Merge Sort و .sort())؛ استاندارد پردازش.</a:t>
            </a:r>
          </a:p>
        </p:txBody>
      </p:sp>
      <p:sp>
        <p:nvSpPr>
          <p:cNvPr id="8" name="Rounded Rectangle 7"/>
          <p:cNvSpPr/>
          <p:nvPr/>
        </p:nvSpPr>
        <p:spPr>
          <a:xfrm>
            <a:off x="9473184" y="1463040"/>
            <a:ext cx="1956815" cy="20116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۵. O(n²) · درجه دو</a:t>
            </a:r>
          </a:p>
          <a:p>
            <a:pPr>
              <a:defRPr sz="1100">
                <a:solidFill>
                  <a:srgbClr val="DDE1F5"/>
                </a:solidFill>
              </a:defRPr>
            </a:pPr>
            <a:r>
              <a:t>دو حلقه تودرتو (Brute Force)؛ برای ورودی بزرگ فوراً TLE می‌گیرد.</a:t>
            </a:r>
          </a:p>
        </p:txBody>
      </p:sp>
      <p:sp>
        <p:nvSpPr>
          <p:cNvPr id="9" name="TextBox 8"/>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قانون طلایی ۱۰⁸: پردازنده در ثانیه ~۱۰⁸ عملیات می‌زند. برای n=10⁵: روش O(n) در ۰.۰۰۱ ثانیه، روش O(n log n) در ۰.۰۲ ثانیه اما O(n²) در ۱۰۰ ثانیه (TLE)!</a:t>
            </a:r>
          </a:p>
          <a:p>
            <a:pPr>
              <a:defRPr sz="1300">
                <a:solidFill>
                  <a:srgbClr val="DDE1F5"/>
                </a:solidFill>
              </a:defRPr>
            </a:pPr>
            <a:r>
              <a:t>• تله ارزیابی: خروجی درست کافی نیست؛ پرسشگر حتماً می‌پرسد «Big-O چقدر است و چطور آن را بهینه می‌کنی؟»</a:t>
            </a:r>
          </a:p>
        </p:txBody>
      </p:sp>
      <p:sp>
        <p:nvSpPr>
          <p:cNvPr id="10" name="Rounded Rectangle 9"/>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«تسلط بر Big-O به شما شهود مهندسی می‌دهد تا قبل از کدنویسی بدانید کدام راه‌حل پذیرفته شده و کدام به بن‌بست می‌خورد.»</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۴ · ASK WHY  |  اصل چهارم: چرایی را بپرسید، حفظ نکنید</a:t>
            </a:r>
          </a:p>
          <a:p>
            <a:pPr>
              <a:defRPr sz="1400">
                <a:solidFill>
                  <a:srgbClr val="969EB4"/>
                </a:solidFill>
              </a:defRPr>
            </a:pPr>
            <a:r>
              <a:t>مثال ملموس Two Pointers: در آرایه مرتب [1, 3, 5, 8, 12] دنبال جمع ۱۰ هستیم (مجموع فعلی 1+12=13).</a:t>
            </a:r>
          </a:p>
        </p:txBody>
      </p:sp>
      <p:sp>
        <p:nvSpPr>
          <p:cNvPr id="4" name="Rounded Rectangle 3"/>
          <p:cNvSpPr/>
          <p:nvPr/>
        </p:nvSpPr>
        <p:spPr>
          <a:xfrm>
            <a:off x="731520" y="1463040"/>
            <a:ext cx="523494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 تست تغییر صورت مسئله</a:t>
            </a:r>
          </a:p>
          <a:p>
            <a:pPr>
              <a:defRPr sz="1100">
                <a:solidFill>
                  <a:srgbClr val="DDE1F5"/>
                </a:solidFill>
              </a:defRPr>
            </a:pPr>
            <a:r>
              <a:t>پرسشگر: «اگر آرایه نزولی بود چه؟» فرد حفظ‌کننده قفل می‌کند، اما مهندس تحلیل‌گر در ۲ ثانیه جهت حرکت را برعکس می‌کند.</a:t>
            </a:r>
          </a:p>
        </p:txBody>
      </p:sp>
      <p:sp>
        <p:nvSpPr>
          <p:cNvPr id="5" name="Rounded Rectangle 4"/>
          <p:cNvSpPr/>
          <p:nvPr/>
        </p:nvSpPr>
        <p:spPr>
          <a:xfrm>
            <a:off x="6195059" y="1463040"/>
            <a:ext cx="523494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 ۳ سوال طلایی پایان هر مسئله</a:t>
            </a:r>
          </a:p>
          <a:p>
            <a:pPr>
              <a:defRPr sz="1100">
                <a:solidFill>
                  <a:srgbClr val="DDE1F5"/>
                </a:solidFill>
              </a:defRPr>
            </a:pPr>
            <a:r>
              <a:t>۱. چرا این ساختار داده؟  ۲. چرا این جهت حرکت نشانگر؟  ۳. اگر ورودی منفی یا برعکس بود چه؟</a:t>
            </a:r>
          </a:p>
        </p:txBody>
      </p:sp>
      <p:sp>
        <p:nvSpPr>
          <p:cNvPr id="6" name="Rounded Rectangle 5"/>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کاندیدای حفظ‌کننده (بدون درک چرایی)</a:t>
            </a:r>
          </a:p>
          <a:p>
            <a:pPr>
              <a:defRPr sz="1100">
                <a:solidFill>
                  <a:srgbClr val="DDE1F5"/>
                </a:solidFill>
              </a:defRPr>
            </a:pPr>
            <a:r>
              <a:t>حفظ کرده: «اگر جمع بزرگ‌تر بود، راست را عقب بیاور (R--).» با پرسش «چرا؟»، دستپاچه می‌شود: «چون توی ویدیو دیدم!»</a:t>
            </a:r>
          </a:p>
        </p:txBody>
      </p:sp>
      <p:sp>
        <p:nvSpPr>
          <p:cNvPr id="7" name="Rounded Rectangle 6"/>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مهندس تحلیل‌گر (با درک منطق)</a:t>
            </a:r>
          </a:p>
          <a:p>
            <a:pPr>
              <a:defRPr sz="1100">
                <a:solidFill>
                  <a:srgbClr val="DDE1F5"/>
                </a:solidFill>
              </a:defRPr>
            </a:pPr>
            <a:r>
              <a:t>دلیل را می‌فهمد: «چون آرایه مرتب است، برای کوچک‌تر کردن جمع، تنها راه این است که بزرگ‌ترین عدد را از سمت راست کم کنیم.»</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«وقتی چرایی عملکرد یک الگوریتم را بفهمید، آن ایده برای همیشه در ذهنتان تثبیت می‌شود و هیچ سوال جدیدی شما را متوقف نمی‌کند.»</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۵ · PEN &amp; PAPER  |  اصل پنجم: ابزارهای آنالوگ؛ جادوی قلم و کاغذ</a:t>
            </a:r>
          </a:p>
          <a:p>
            <a:pPr>
              <a:defRPr sz="1400">
                <a:solidFill>
                  <a:srgbClr val="969EB4"/>
                </a:solidFill>
              </a:defRPr>
            </a:pPr>
            <a:r>
              <a:t>در ۱۰ دقیقه اول مواجهه با هر مسئله، دست خود را از کیبورد دور نگه دارید!</a:t>
            </a:r>
          </a:p>
        </p:txBody>
      </p:sp>
      <p:sp>
        <p:nvSpPr>
          <p:cNvPr id="4" name="TextBox 3"/>
          <p:cNvSpPr txBox="1"/>
          <p:nvPr/>
        </p:nvSpPr>
        <p:spPr>
          <a:xfrm>
            <a:off x="731520" y="1463040"/>
            <a:ext cx="10698480" cy="1463040"/>
          </a:xfrm>
          <a:prstGeom prst="rect">
            <a:avLst/>
          </a:prstGeom>
          <a:noFill/>
        </p:spPr>
        <p:txBody>
          <a:bodyPr wrap="square">
            <a:spAutoFit/>
          </a:bodyPr>
          <a:lstStyle/>
          <a:p>
            <a:pPr>
              <a:defRPr sz="1300">
                <a:solidFill>
                  <a:srgbClr val="DDE1F5"/>
                </a:solidFill>
              </a:defRPr>
            </a:pPr>
            <a:r>
              <a:t>• رسم یک مثال کوچک و ملموس: یک آرایه ۴ عضوی روی کاغذ با اعداد واقعی بکشید.</a:t>
            </a:r>
          </a:p>
          <a:p>
            <a:pPr>
              <a:defRPr sz="1300">
                <a:solidFill>
                  <a:srgbClr val="DDE1F5"/>
                </a:solidFill>
              </a:defRPr>
            </a:pPr>
            <a:r>
              <a:t>• ردیابی دستی نشانگرها (Dry Run): متغیرها را با خودکار آپدیت کنید و گام‌به‌گام پیش بروید.</a:t>
            </a:r>
          </a:p>
          <a:p>
            <a:pPr>
              <a:defRPr sz="1300">
                <a:solidFill>
                  <a:srgbClr val="DDE1F5"/>
                </a:solidFill>
              </a:defRPr>
            </a:pPr>
            <a:r>
              <a:t>• کشف پیش‌دستانه استثناها (Edge Cases): آرایه خالی، تک‌عنصری، اعداد منفی و تکراری.</a:t>
            </a:r>
          </a:p>
        </p:txBody>
      </p:sp>
      <p:sp>
        <p:nvSpPr>
          <p:cNvPr id="5" name="Rounded Rectangle 4"/>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«کشف یک باگ منطقی روی کاغذ ۳۰ ثانیه وقت می‌برد؛ اما رفع همان باگ در کامپایلر ۲۰ دقیقه زمان می‌سوزاند.»</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نقشه راه · ROADMAP  |  نقشه راه مطالعه و ساختار جلسه تمرین</a:t>
            </a:r>
          </a:p>
          <a:p>
            <a:pPr>
              <a:defRPr sz="1400">
                <a:solidFill>
                  <a:srgbClr val="969EB4"/>
                </a:solidFill>
              </a:defRPr>
            </a:pPr>
            <a:r>
              <a:t>یک قالب استاندارد ۴۵ دقیقه‌ای برای مطالعه عمیق هر مسئله:</a:t>
            </a:r>
          </a:p>
        </p:txBody>
      </p:sp>
      <p:sp>
        <p:nvSpPr>
          <p:cNvPr id="4" name="Rounded Rectangle 3"/>
          <p:cNvSpPr/>
          <p:nvPr/>
        </p:nvSpPr>
        <p:spPr>
          <a:xfrm>
            <a:off x="731520" y="1463040"/>
            <a:ext cx="523494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LeetCode 75 (Ace 75 Qs)</a:t>
            </a:r>
          </a:p>
          <a:p>
            <a:pPr>
              <a:defRPr sz="1100">
                <a:solidFill>
                  <a:srgbClr val="DDE1F5"/>
                </a:solidFill>
              </a:defRPr>
            </a:pPr>
            <a:r>
              <a:t>بهترین شروع: ۷۵ سوال کلیدی با پوشش الگوهای اصلی بدون غرق شدن در تکرار.</a:t>
            </a:r>
          </a:p>
        </p:txBody>
      </p:sp>
      <p:sp>
        <p:nvSpPr>
          <p:cNvPr id="5" name="Rounded Rectangle 4"/>
          <p:cNvSpPr/>
          <p:nvPr/>
        </p:nvSpPr>
        <p:spPr>
          <a:xfrm>
            <a:off x="6195059" y="1463040"/>
            <a:ext cx="523494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Top Interview 150</a:t>
            </a:r>
          </a:p>
          <a:p>
            <a:pPr>
              <a:defRPr sz="1100">
                <a:solidFill>
                  <a:srgbClr val="DDE1F5"/>
                </a:solidFill>
              </a:defRPr>
            </a:pPr>
            <a:r>
              <a:t>جامع‌ترین پکیج: ۱۵۰ سوال حیاتی برای آمادگی ارزیابی شرکت‌های برتر تکنولوژی.</a:t>
            </a:r>
          </a:p>
        </p:txBody>
      </p:sp>
      <p:sp>
        <p:nvSpPr>
          <p:cNvPr id="6" name="TextBox 5"/>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قالب ۴۵ دقیقه‌ای: ۵ دقیقه فهم | ۱۰ دقیقه کاغذ و قلم | ۱۵ دقیقه کدنویسی | ۱۰ دقیقه تست | ۵ دقیقه ثبت مرور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جهش بهینه · BREAKTHROUGH  |  جهش بهینه و کشف Hash Map با پرسیدن «چرا؟»</a:t>
            </a:r>
          </a:p>
          <a:p>
            <a:pPr>
              <a:defRPr sz="1400">
                <a:solidFill>
                  <a:srgbClr val="969EB4"/>
                </a:solidFill>
              </a:defRPr>
            </a:pPr>
            <a:r>
              <a:t>تحلیل ریشه‌ای گلوگاه زمانی روش‌های خام و تغییر پارادایم به حافظه گذشته (Look-Behind):</a:t>
            </a:r>
          </a:p>
        </p:txBody>
      </p:sp>
      <p:sp>
        <p:nvSpPr>
          <p:cNvPr id="4" name="Rounded Rectangle 3"/>
          <p:cNvSpPr/>
          <p:nvPr/>
        </p:nvSpPr>
        <p:spPr>
          <a:xfrm>
            <a:off x="731520" y="146304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گلوگاه روش‌های مستقیم (نگاه به آینده)</a:t>
            </a:r>
          </a:p>
          <a:p>
            <a:pPr>
              <a:defRPr sz="1100">
                <a:solidFill>
                  <a:srgbClr val="DDE1F5"/>
                </a:solidFill>
              </a:defRPr>
            </a:pPr>
            <a:r>
              <a:t>در هر عنصر می‌ایستیم و تمام بقیه آرایه را با حلقه دوم جستجوی خطی O(n) شخم می‌زنیم. برای ۱۰,۰۰۰ ورودی: ۵۰ میلیون عملیات و خطای قطعی TLE!</a:t>
            </a:r>
          </a:p>
        </p:txBody>
      </p:sp>
      <p:sp>
        <p:nvSpPr>
          <p:cNvPr id="5" name="Rounded Rectangle 4"/>
          <p:cNvSpPr/>
          <p:nvPr/>
        </p:nvSpPr>
        <p:spPr>
          <a:xfrm>
            <a:off x="6217920" y="146304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تغییر پارادایم با پرسیدن «چرا؟» (حافظه گذشته)</a:t>
            </a:r>
          </a:p>
          <a:p>
            <a:pPr>
              <a:defRPr sz="1100">
                <a:solidFill>
                  <a:srgbClr val="DDE1F5"/>
                </a:solidFill>
              </a:defRPr>
            </a:pPr>
            <a:r>
              <a:t>به جای شخم زدن آینده، یک «دفترچه یادداشت گذشته (Seen Map)» می‌سازیم. در هر خانه می‌پرسیم: «آیا مکمل من قبلاً گذشته و ثبت شده است؟»</a:t>
            </a:r>
          </a:p>
        </p:txBody>
      </p:sp>
      <p:sp>
        <p:nvSpPr>
          <p:cNvPr id="6" name="TextBox 5"/>
          <p:cNvSpPr txBox="1"/>
          <p:nvPr/>
        </p:nvSpPr>
        <p:spPr>
          <a:xfrm>
            <a:off x="731520" y="3291840"/>
            <a:ext cx="10698480" cy="1463040"/>
          </a:xfrm>
          <a:prstGeom prst="rect">
            <a:avLst/>
          </a:prstGeom>
          <a:noFill/>
        </p:spPr>
        <p:txBody>
          <a:bodyPr wrap="square">
            <a:spAutoFit/>
          </a:bodyPr>
          <a:lstStyle/>
          <a:p>
            <a:pPr>
              <a:defRPr sz="1300">
                <a:solidFill>
                  <a:srgbClr val="DDE1F5"/>
                </a:solidFill>
              </a:defRPr>
            </a:pPr>
            <a:r>
              <a:t>• چرا Hash Map معجزه می‌کند؟ تابع هش کلید (عدد) را مستقیماً به نشانی حافظه نگاشت می‌کند؛ لذا استعلام «آیا این عدد هست؟» در میانگین زمان O(1) انجام می‌شود!</a:t>
            </a:r>
          </a:p>
          <a:p>
            <a:pPr>
              <a:defRPr sz="1300">
                <a:solidFill>
                  <a:srgbClr val="DDE1F5"/>
                </a:solidFill>
              </a:defRPr>
            </a:pPr>
            <a:r>
              <a:t>• اصل Space-Time Tradeoff: ما با صرف کمی حافظه کمکی O(n)، زمان اجرای الگوریتم را از O(n²) فاجعه‌بار به O(n) خطی و برق‌آسا می‌رسانیم.</a:t>
            </a:r>
          </a:p>
        </p:txBody>
      </p:sp>
      <p:sp>
        <p:nvSpPr>
          <p:cNvPr id="7" name="Rounded Rectangle 6"/>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«پرسشگر به دنبال دیدن این بلوغ مهندسی است: توانایی تصمیم‌گیری درباره دادوستد فضا در برابر زمان.»</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جلسه ارزیابی · EVALUATION CHECKLIST  |  چک‌لیست طلایی جلسه ارزیابی واقعی</a:t>
            </a:r>
          </a:p>
          <a:p>
            <a:pPr>
              <a:defRPr sz="1400">
                <a:solidFill>
                  <a:srgbClr val="969EB4"/>
                </a:solidFill>
              </a:defRPr>
            </a:pPr>
            <a:r>
              <a:t>پروتکل ۵ مرحله‌ای برای مدیریت جلسه ارزیابی ۴۵ دقیقه‌ای:</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Clarification (۵ دقیقه)</a:t>
            </a:r>
          </a:p>
          <a:p>
            <a:pPr>
              <a:defRPr sz="1100">
                <a:solidFill>
                  <a:srgbClr val="DDE1F5"/>
                </a:solidFill>
              </a:defRPr>
            </a:pPr>
            <a:r>
              <a:t>پرسش‌های دقیق از پرسشگر: آرایه مرتب است؟ اعداد منفی داریم؟ اگر جوابی نبود چه برگردانم؟</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Whiteboard / Trace (۵ دقیقه)</a:t>
            </a:r>
          </a:p>
          <a:p>
            <a:pPr>
              <a:defRPr sz="1100">
                <a:solidFill>
                  <a:srgbClr val="DDE1F5"/>
                </a:solidFill>
              </a:defRPr>
            </a:pPr>
            <a:r>
              <a:t>رسم مثال تستی روی وایت‌برد و تریس دستی فرآیند با صدای بلند برای پرسشگر.</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Brute Force (۵ دقیقه)</a:t>
            </a:r>
          </a:p>
          <a:p>
            <a:pPr>
              <a:defRPr sz="1100">
                <a:solidFill>
                  <a:srgbClr val="DDE1F5"/>
                </a:solidFill>
              </a:defRPr>
            </a:pPr>
            <a:r>
              <a:t>بیان راه‌حل اولیه خام، نقد پیچیدگی O(n²) آن و پیشنهاد استفاده از Hash Map.</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Clean Code &amp; Dry Run (۲۵ دقیقه)</a:t>
            </a:r>
          </a:p>
          <a:p>
            <a:pPr>
              <a:defRPr sz="1100">
                <a:solidFill>
                  <a:srgbClr val="DDE1F5"/>
                </a:solidFill>
              </a:defRPr>
            </a:pPr>
            <a:r>
              <a:t>کدنویسی تمیز و اجرای خط‌به‌خط تست با پرسشگر برای رفع باگ‌های مرزی.</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«همیشه با صدای بلند فکر کنید (Think Out Loud)؛ پرسشگر به مسیر استدلال شما نمره می‌دهد، نه سکوت شما.»</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ECC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4ECCA3"/>
                </a:solidFill>
              </a:defRPr>
            </a:pPr>
            <a:r>
              <a:t>🔥 مسئله اول · EASY  |  ورود به فاز عملی: حل مسئله جمع دو تایی (LeetCode #1)</a:t>
            </a:r>
          </a:p>
          <a:p>
            <a:pPr>
              <a:defRPr sz="1400">
                <a:solidFill>
                  <a:srgbClr val="969EB4"/>
                </a:solidFill>
              </a:defRPr>
            </a:pPr>
            <a:r>
              <a:t>اولین مسئله در هر دو لیست رسمی LeetCode 75 و Top Interview 150:</a:t>
            </a:r>
          </a:p>
        </p:txBody>
      </p:sp>
      <p:sp>
        <p:nvSpPr>
          <p:cNvPr id="5" name="TextBox 4"/>
          <p:cNvSpPr txBox="1"/>
          <p:nvPr/>
        </p:nvSpPr>
        <p:spPr>
          <a:xfrm>
            <a:off x="731520" y="1463040"/>
            <a:ext cx="10698480" cy="1463040"/>
          </a:xfrm>
          <a:prstGeom prst="rect">
            <a:avLst/>
          </a:prstGeom>
          <a:noFill/>
        </p:spPr>
        <p:txBody>
          <a:bodyPr wrap="square">
            <a:spAutoFit/>
          </a:bodyPr>
          <a:lstStyle/>
          <a:p>
            <a:pPr>
              <a:defRPr sz="1300">
                <a:solidFill>
                  <a:srgbClr val="DDE1F5"/>
                </a:solidFill>
              </a:defRPr>
            </a:pPr>
            <a:r>
              <a:t>• صورت مسئله: داده شدن آرایه nums و عدد target؛ پیدا کردن اندیس ۲ عددی که جمعشان target شود.</a:t>
            </a:r>
          </a:p>
          <a:p>
            <a:pPr>
              <a:defRPr sz="1300">
                <a:solidFill>
                  <a:srgbClr val="DDE1F5"/>
                </a:solidFill>
              </a:defRPr>
            </a:pPr>
            <a:r>
              <a:t>• قید ۱: دقیقاً یک پاسخ معتبر وجود دارد (Exactly one valid answer).</a:t>
            </a:r>
          </a:p>
          <a:p>
            <a:pPr>
              <a:defRPr sz="1300">
                <a:solidFill>
                  <a:srgbClr val="DDE1F5"/>
                </a:solidFill>
              </a:defRPr>
            </a:pPr>
            <a:r>
              <a:t>• قید ۲: نمی‌توان از یک خانه آرایه دو بار استفاده کرد.</a:t>
            </a:r>
          </a:p>
          <a:p>
            <a:pPr>
              <a:defRPr sz="1300">
                <a:solidFill>
                  <a:srgbClr val="DDE1F5"/>
                </a:solidFill>
              </a:defRPr>
            </a:pPr>
            <a:r>
              <a:t>• محدودیت طول: طول آرایه تا ۱۰ به توان ۴ است؛ پس الگوریتم O(n²) با شکست مواجه می‌شود.</a:t>
            </a:r>
          </a:p>
        </p:txBody>
      </p:sp>
      <p:sp>
        <p:nvSpPr>
          <p:cNvPr id="6" name="Rounded Rectangle 5"/>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هدف ما: تبدیل یک تفکر خام O(n²) به راه‌حلی درخشان و خطی O(n) با تکیه بر ساختار داده Hash Map.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اولیه · BRUTE FORCE O(n²)  |  تحلیل آنالوگ روی کاغذ: تریس روش ساده (Brute Force O(n²))</a:t>
            </a:r>
          </a:p>
          <a:p>
            <a:pPr>
              <a:defRPr sz="1400">
                <a:solidFill>
                  <a:srgbClr val="969EB4"/>
                </a:solidFill>
              </a:defRPr>
            </a:pPr>
            <a:r>
              <a:t>تریس جفت‌های پیاپی روی آرایه nums = [4, -2, 5, 0, 6, 3, 2, 7] با هدف target = 1:</a:t>
            </a:r>
          </a:p>
        </p:txBody>
      </p:sp>
      <p:sp>
        <p:nvSpPr>
          <p:cNvPr id="4" name="Rounded Rectangle 3"/>
          <p:cNvSpPr/>
          <p:nvPr/>
        </p:nvSpPr>
        <p:spPr>
          <a:xfrm>
            <a:off x="731520"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حلقه اول: i=0 (عدد ۴)</a:t>
            </a:r>
          </a:p>
          <a:p>
            <a:pPr>
              <a:defRPr sz="1100">
                <a:solidFill>
                  <a:srgbClr val="DDE1F5"/>
                </a:solidFill>
              </a:defRPr>
            </a:pPr>
            <a:r>
              <a:t>مقایسه با ۲-، ۵، ۰، ۶، ۳، ۲، ۷ ➔ ۷ مقایسه سوخته بدون نتیجه!</a:t>
            </a:r>
          </a:p>
        </p:txBody>
      </p:sp>
      <p:sp>
        <p:nvSpPr>
          <p:cNvPr id="5" name="Rounded Rectangle 4"/>
          <p:cNvSpPr/>
          <p:nvPr/>
        </p:nvSpPr>
        <p:spPr>
          <a:xfrm>
            <a:off x="346328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حلقه اول: i=1 (عدد ۲-)</a:t>
            </a:r>
          </a:p>
          <a:p>
            <a:pPr>
              <a:defRPr sz="1100">
                <a:solidFill>
                  <a:srgbClr val="DDE1F5"/>
                </a:solidFill>
              </a:defRPr>
            </a:pPr>
            <a:r>
              <a:t>مقایسه با خانه بعد: nums[2]=5 ➔ (-2) + 5 = 3 ≠ 1 (مقایسه ۸)</a:t>
            </a:r>
          </a:p>
        </p:txBody>
      </p:sp>
      <p:sp>
        <p:nvSpPr>
          <p:cNvPr id="6" name="Rounded Rectangle 5"/>
          <p:cNvSpPr/>
          <p:nvPr/>
        </p:nvSpPr>
        <p:spPr>
          <a:xfrm>
            <a:off x="6195059"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ادامه مقایسه برای ۲-</a:t>
            </a:r>
          </a:p>
          <a:p>
            <a:pPr>
              <a:defRPr sz="1100">
                <a:solidFill>
                  <a:srgbClr val="DDE1F5"/>
                </a:solidFill>
              </a:defRPr>
            </a:pPr>
            <a:r>
              <a:t>مقایسه با ۰ و ۶ ➔ مجموع‌های ۲- و ۴ ➔ رد شدند (مقایسه ۹ و ۱۰)</a:t>
            </a:r>
          </a:p>
        </p:txBody>
      </p:sp>
      <p:sp>
        <p:nvSpPr>
          <p:cNvPr id="7" name="Rounded Rectangle 6"/>
          <p:cNvSpPr/>
          <p:nvPr/>
        </p:nvSpPr>
        <p:spPr>
          <a:xfrm>
            <a:off x="8926830"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صید جفت در مقایسه ۱۱</a:t>
            </a:r>
          </a:p>
          <a:p>
            <a:pPr>
              <a:defRPr sz="1100">
                <a:solidFill>
                  <a:srgbClr val="DDE1F5"/>
                </a:solidFill>
              </a:defRPr>
            </a:pPr>
            <a:r>
              <a:t>مقایسه با nums[5]=3 ➔ (-2) + 3 = 1 == target! 🎉 کشف [1, 5]</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هزینه سنگین مقایسه‌ها: انجام ۱۱ مقایسه متوالی برای آرایه کوچک ۸ عضوی (تا ۲۸ مقایسه در بدترین حالت).</a:t>
            </a:r>
          </a:p>
          <a:p>
            <a:pPr>
              <a:defRPr sz="1300">
                <a:solidFill>
                  <a:srgbClr val="DDE1F5"/>
                </a:solidFill>
              </a:defRPr>
            </a:pPr>
            <a:r>
              <a:t>• نقطه ضعف مهلک: در آرایه ۱۰ هزار تایی، انجام ۵۰ میلیون مقایسه به خطای قطعی Time Limit Exceeded (TLE) می‌انجامد.</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«روش مستقیم Brute Force روی کاغذ بسیار شهودی است، اما رشد نمایی مقایسه‌ها ضرورت یک تفکر بهینه را اثبات می‌کند.»</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۱ · BRUTE FORCE  |  روش اول: راه‌حل ساده و مستقیم (Brute Force)</a:t>
            </a:r>
          </a:p>
          <a:p>
            <a:pPr>
              <a:defRPr sz="1400">
                <a:solidFill>
                  <a:srgbClr val="969EB4"/>
                </a:solidFill>
              </a:defRPr>
            </a:pPr>
            <a:r>
              <a:t>جستجوی جفت‌ها با دو حلقه تو در تو در زبان Kotlin:</a:t>
            </a:r>
          </a:p>
        </p:txBody>
      </p:sp>
      <p:sp>
        <p:nvSpPr>
          <p:cNvPr id="4" name="Rounded Rectangle 3"/>
          <p:cNvSpPr/>
          <p:nvPr/>
        </p:nvSpPr>
        <p:spPr>
          <a:xfrm>
            <a:off x="731520" y="1463040"/>
            <a:ext cx="10698480" cy="2843784"/>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twoSumBruteForce(nums: IntArray, target: Int): IntArray {</a:t>
            </a:r>
          </a:p>
          <a:p>
            <a:pPr algn="l">
              <a:defRPr sz="1100">
                <a:solidFill>
                  <a:srgbClr val="4ECCA3"/>
                </a:solidFill>
                <a:latin typeface="Consolas"/>
              </a:defRPr>
            </a:pPr>
            <a:r>
              <a:t>    val size = nums.size // Time: O(1), Space: O(1)</a:t>
            </a:r>
          </a:p>
          <a:p>
            <a:pPr algn="l">
              <a:defRPr sz="1100">
                <a:solidFill>
                  <a:srgbClr val="4ECCA3"/>
                </a:solidFill>
                <a:latin typeface="Consolas"/>
              </a:defRPr>
            </a:pPr>
            <a:r>
              <a:t>    for (i in 0 until size) { // O(n) outer iterations</a:t>
            </a:r>
          </a:p>
          <a:p>
            <a:pPr algn="l">
              <a:defRPr sz="1100">
                <a:solidFill>
                  <a:srgbClr val="4ECCA3"/>
                </a:solidFill>
                <a:latin typeface="Consolas"/>
              </a:defRPr>
            </a:pPr>
            <a:r>
              <a:t>        val firstNumber = nums[i] // O(1)</a:t>
            </a:r>
          </a:p>
          <a:p>
            <a:pPr algn="l">
              <a:defRPr sz="1100">
                <a:solidFill>
                  <a:srgbClr val="4ECCA3"/>
                </a:solidFill>
                <a:latin typeface="Consolas"/>
              </a:defRPr>
            </a:pPr>
            <a:r>
              <a:t>        for (j in (i + 1) until size) { // O(n) inner iterations</a:t>
            </a:r>
          </a:p>
          <a:p>
            <a:pPr algn="l">
              <a:defRPr sz="1100">
                <a:solidFill>
                  <a:srgbClr val="4ECCA3"/>
                </a:solidFill>
                <a:latin typeface="Consolas"/>
              </a:defRPr>
            </a:pPr>
            <a:r>
              <a:t>            val sum = firstNumber + nums[j] // O(1)</a:t>
            </a:r>
          </a:p>
          <a:p>
            <a:pPr algn="l">
              <a:defRPr sz="1100">
                <a:solidFill>
                  <a:srgbClr val="4ECCA3"/>
                </a:solidFill>
                <a:latin typeface="Consolas"/>
              </a:defRPr>
            </a:pPr>
            <a:r>
              <a:t>            if (sum == target) return intArrayOf(i, j) // Time: O(1), Space: O(1)</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    return intArrayOf() // Time: O(1), Space: O(1)</a:t>
            </a:r>
          </a:p>
          <a:p>
            <a:pPr algn="l">
              <a:defRPr sz="1100">
                <a:solidFill>
                  <a:srgbClr val="4ECCA3"/>
                </a:solidFill>
                <a:latin typeface="Consolas"/>
              </a:defRPr>
            </a:pPr>
            <a:r>
              <a:t>}</a:t>
            </a:r>
          </a:p>
          <a:p>
            <a:pPr algn="l">
              <a:defRPr sz="1100">
                <a:solidFill>
                  <a:srgbClr val="4ECCA3"/>
                </a:solidFill>
                <a:latin typeface="Consolas"/>
              </a:defRPr>
            </a:pPr>
            <a:r>
              <a:t>// Overall Time: O(n²) | Auxiliary Space: O(1) | Overall Space: O(1)</a:t>
            </a:r>
          </a:p>
        </p:txBody>
      </p:sp>
      <p:sp>
        <p:nvSpPr>
          <p:cNvPr id="5" name="TextBox 4"/>
          <p:cNvSpPr txBox="1"/>
          <p:nvPr/>
        </p:nvSpPr>
        <p:spPr>
          <a:xfrm>
            <a:off x="731520" y="4443984"/>
            <a:ext cx="10698480" cy="1463040"/>
          </a:xfrm>
          <a:prstGeom prst="rect">
            <a:avLst/>
          </a:prstGeom>
          <a:noFill/>
        </p:spPr>
        <p:txBody>
          <a:bodyPr wrap="square">
            <a:spAutoFit/>
          </a:bodyPr>
          <a:lstStyle/>
          <a:p>
            <a:pPr>
              <a:defRPr sz="1300">
                <a:solidFill>
                  <a:srgbClr val="DDE1F5"/>
                </a:solidFill>
              </a:defRPr>
            </a:pPr>
            <a:r>
              <a:t>• پیچیدگی زمانی: O(n²) به دلیل انجام n*(n-1)/2 مقایسه.</a:t>
            </a:r>
          </a:p>
          <a:p>
            <a:pPr>
              <a:defRPr sz="1300">
                <a:solidFill>
                  <a:srgbClr val="DDE1F5"/>
                </a:solidFill>
              </a:defRPr>
            </a:pPr>
            <a:r>
              <a:t>• پیچیدگی فضایی: O(1) چون حافظه کمکی مصرف نمی‌شود.</a:t>
            </a:r>
          </a:p>
          <a:p>
            <a:pPr>
              <a:defRPr sz="1300">
                <a:solidFill>
                  <a:srgbClr val="DDE1F5"/>
                </a:solidFill>
              </a:defRPr>
            </a:pPr>
            <a:r>
              <a:t>• چرا رد می‌شود؟ در آرایه‌های با طول ۱۰ هزار، ۵۰ میلیون عملیات رخ داده و خطای Time Limit Exceeded (TLE) می‌دهد.</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CODE  |  پیاده‌سازی تمیز و خط‌به‌خط کد بهینه (Kotlin)</a:t>
            </a:r>
          </a:p>
          <a:p>
            <a:pPr>
              <a:defRPr sz="1400">
                <a:solidFill>
                  <a:srgbClr val="969EB4"/>
                </a:solidFill>
              </a:defRPr>
            </a:pPr>
            <a:r>
              <a:t>پیاده‌سازی تک‌پیمایشی (One-Pass Hash Table) با زبان Kotlin و پیچیدگی O(n):</a:t>
            </a:r>
          </a:p>
        </p:txBody>
      </p:sp>
      <p:sp>
        <p:nvSpPr>
          <p:cNvPr id="4" name="Rounded Rectangle 3"/>
          <p:cNvSpPr/>
          <p:nvPr/>
        </p:nvSpPr>
        <p:spPr>
          <a:xfrm>
            <a:off x="731520" y="1463040"/>
            <a:ext cx="10698480" cy="2843784"/>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twoSum(nums: IntArray, target: Int): IntArray {</a:t>
            </a:r>
          </a:p>
          <a:p>
            <a:pPr algn="l">
              <a:defRPr sz="1100">
                <a:solidFill>
                  <a:srgbClr val="4ECCA3"/>
                </a:solidFill>
                <a:latin typeface="Consolas"/>
              </a:defRPr>
            </a:pPr>
            <a:r>
              <a:t>    val seen = mutableMapOf&lt;Int, Int&gt;() // Space: O(n) auxiliary in worst case</a:t>
            </a:r>
          </a:p>
          <a:p>
            <a:pPr algn="l">
              <a:defRPr sz="1100">
                <a:solidFill>
                  <a:srgbClr val="4ECCA3"/>
                </a:solidFill>
                <a:latin typeface="Consolas"/>
              </a:defRPr>
            </a:pPr>
            <a:r>
              <a:t>    for (i in 0 until nums.size) { // O(n) iterations</a:t>
            </a:r>
          </a:p>
          <a:p>
            <a:pPr algn="l">
              <a:defRPr sz="1100">
                <a:solidFill>
                  <a:srgbClr val="4ECCA3"/>
                </a:solidFill>
                <a:latin typeface="Consolas"/>
              </a:defRPr>
            </a:pPr>
            <a:r>
              <a:t>        val neededNumber = target - nums[i] // O(1)</a:t>
            </a:r>
          </a:p>
          <a:p>
            <a:pPr algn="l">
              <a:defRPr sz="1100">
                <a:solidFill>
                  <a:srgbClr val="4ECCA3"/>
                </a:solidFill>
                <a:latin typeface="Consolas"/>
              </a:defRPr>
            </a:pPr>
            <a:r>
              <a:t>        if (seen.containsKey(neededNumber)) { // Time: O(1) avg lookup</a:t>
            </a:r>
          </a:p>
          <a:p>
            <a:pPr algn="l">
              <a:defRPr sz="1100">
                <a:solidFill>
                  <a:srgbClr val="4ECCA3"/>
                </a:solidFill>
                <a:latin typeface="Consolas"/>
              </a:defRPr>
            </a:pPr>
            <a:r>
              <a:t>            return intArrayOf(seen[neededNumber]!, i) // Time: O(1), Space: O(1) output</a:t>
            </a:r>
          </a:p>
          <a:p>
            <a:pPr algn="l">
              <a:defRPr sz="1100">
                <a:solidFill>
                  <a:srgbClr val="4ECCA3"/>
                </a:solidFill>
                <a:latin typeface="Consolas"/>
              </a:defRPr>
            </a:pPr>
            <a:r>
              <a:t>        }</a:t>
            </a:r>
          </a:p>
          <a:p>
            <a:pPr algn="l">
              <a:defRPr sz="1100">
                <a:solidFill>
                  <a:srgbClr val="4ECCA3"/>
                </a:solidFill>
                <a:latin typeface="Consolas"/>
              </a:defRPr>
            </a:pPr>
            <a:r>
              <a:t>        seen[nums[i]] = i // Time: O(1) avg insertion</a:t>
            </a:r>
          </a:p>
          <a:p>
            <a:pPr algn="l">
              <a:defRPr sz="1100">
                <a:solidFill>
                  <a:srgbClr val="4ECCA3"/>
                </a:solidFill>
                <a:latin typeface="Consolas"/>
              </a:defRPr>
            </a:pPr>
            <a:r>
              <a:t>    }</a:t>
            </a:r>
          </a:p>
          <a:p>
            <a:pPr algn="l">
              <a:defRPr sz="1100">
                <a:solidFill>
                  <a:srgbClr val="4ECCA3"/>
                </a:solidFill>
                <a:latin typeface="Consolas"/>
              </a:defRPr>
            </a:pPr>
            <a:r>
              <a:t>    return intArrayOf() // Time: O(1), Space: O(1)</a:t>
            </a:r>
          </a:p>
          <a:p>
            <a:pPr algn="l">
              <a:defRPr sz="1100">
                <a:solidFill>
                  <a:srgbClr val="4ECCA3"/>
                </a:solidFill>
                <a:latin typeface="Consolas"/>
              </a:defRPr>
            </a:pPr>
            <a:r>
              <a:t>}</a:t>
            </a:r>
          </a:p>
          <a:p>
            <a:pPr algn="l">
              <a:defRPr sz="1100">
                <a:solidFill>
                  <a:srgbClr val="4ECCA3"/>
                </a:solidFill>
                <a:latin typeface="Consolas"/>
              </a:defRPr>
            </a:pPr>
            <a:r>
              <a:t>// Overall Time: O(n) | Auxiliary Space: O(n) | Overall Space: O(n)</a:t>
            </a:r>
          </a:p>
        </p:txBody>
      </p:sp>
      <p:sp>
        <p:nvSpPr>
          <p:cNvPr id="5" name="TextBox 4"/>
          <p:cNvSpPr txBox="1"/>
          <p:nvPr/>
        </p:nvSpPr>
        <p:spPr>
          <a:xfrm>
            <a:off x="731520" y="4443984"/>
            <a:ext cx="10698480" cy="1463040"/>
          </a:xfrm>
          <a:prstGeom prst="rect">
            <a:avLst/>
          </a:prstGeom>
          <a:noFill/>
        </p:spPr>
        <p:txBody>
          <a:bodyPr wrap="square">
            <a:spAutoFit/>
          </a:bodyPr>
          <a:lstStyle/>
          <a:p>
            <a:pPr>
              <a:defRPr sz="1300">
                <a:solidFill>
                  <a:srgbClr val="DDE1F5"/>
                </a:solidFill>
              </a:defRPr>
            </a:pPr>
            <a:r>
              <a:t>• تفکیک صریح متغیرها: استخراج currentNumber، محاسبه neededNumber، و بازیابی complementIndex برای درک بلادرنگ.</a:t>
            </a:r>
          </a:p>
          <a:p>
            <a:pPr>
              <a:defRPr sz="1300">
                <a:solidFill>
                  <a:srgbClr val="DDE1F5"/>
                </a:solidFill>
              </a:defRPr>
            </a:pPr>
            <a:r>
              <a:t>• جستجوی O(1) با containsKey: بررسی وجود کلید در جدول هش در زمان ثابت (معادل neededNumber in seen).</a:t>
            </a:r>
          </a:p>
          <a:p>
            <a:pPr>
              <a:defRPr sz="1300">
                <a:solidFill>
                  <a:srgbClr val="DDE1F5"/>
                </a:solidFill>
              </a:defRPr>
            </a:pPr>
            <a:r>
              <a:t>• عدم تکرار عنصر: درج در Map بعد از شرط، تضمین می‌کند یک عنصر هرگز با خودش جمع نشود.</a:t>
            </a:r>
          </a:p>
          <a:p>
            <a:pPr>
              <a:defRPr sz="1300">
                <a:solidFill>
                  <a:srgbClr val="DDE1F5"/>
                </a:solidFill>
              </a:defRPr>
            </a:pPr>
            <a:r>
              <a:t>• پیچیدگی نهایی: زمان O(n) · حافظه 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تعاملی · INTERACTIVE VISUALIZER  |  شبیه‌ساز تعاملی و گام‌به‌گام الگوریتم جمع دو تایی</a:t>
            </a:r>
          </a:p>
          <a:p>
            <a:pPr>
              <a:defRPr sz="1400">
                <a:solidFill>
                  <a:srgbClr val="969EB4"/>
                </a:solidFill>
              </a:defRPr>
            </a:pPr>
            <a:r>
              <a:t>ردیابی زنده مقادیر در باکس ساده و متمرکز روی nums = [4, -2, 5, 0, 6, 3, 2, 7] و target = 1  |  LeetCode #1</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تکرار ۱: i=0 (عدد ۴)</a:t>
            </a:r>
          </a:p>
          <a:p>
            <a:pPr>
              <a:defRPr sz="1100">
                <a:solidFill>
                  <a:srgbClr val="DDE1F5"/>
                </a:solidFill>
              </a:defRPr>
            </a:pPr>
            <a:r>
              <a:t>مکمل = 3- (نیست) | افزودن به حافظه: seen = { 4: 0 }</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تکرار ۲: i=1 (عدد ۲-)</a:t>
            </a:r>
          </a:p>
          <a:p>
            <a:pPr>
              <a:defRPr sz="1100">
                <a:solidFill>
                  <a:srgbClr val="DDE1F5"/>
                </a:solidFill>
              </a:defRPr>
            </a:pPr>
            <a:r>
              <a:t>مکمل = 3 (نیست) | تفاضل منفی: 1 - (-2) = 3 | ثبت: seen[-2] = 1</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تکرار ۳ تا ۵: مقادیر ۵ و ۰ و ۶</a:t>
            </a:r>
          </a:p>
          <a:p>
            <a:pPr>
              <a:defRPr sz="1100">
                <a:solidFill>
                  <a:srgbClr val="DDE1F5"/>
                </a:solidFill>
              </a:defRPr>
            </a:pPr>
            <a:r>
              <a:t>مکمل‌ها در مپ نبودند ➔ ثبت در حافظه: { 4:0, -2:1, 5:2, 0:3, 6:4 }</a:t>
            </a:r>
          </a:p>
        </p:txBody>
      </p:sp>
      <p:sp>
        <p:nvSpPr>
          <p:cNvPr id="7" name="Rounded Rectangle 6"/>
          <p:cNvSpPr/>
          <p:nvPr/>
        </p:nvSpPr>
        <p:spPr>
          <a:xfrm>
            <a:off x="8926830"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تکرار ۶: i=5 (عدد ۳)</a:t>
            </a:r>
          </a:p>
          <a:p>
            <a:pPr>
              <a:defRPr sz="1100">
                <a:solidFill>
                  <a:srgbClr val="DDE1F5"/>
                </a:solidFill>
              </a:defRPr>
            </a:pPr>
            <a:r>
              <a:t>مکمل = 2- (استعلام O(1) ➔ در خانه ۲ هست!) 🎉 پاسخ: [1, 5]</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تک‌باکس متمرکز تریس: تمامی مقادیر (عنصر جاری، مکمل موردنیاز، استعلام و حافظه) در یک قالب منسجم خلاصه شده‌اند.</a:t>
            </a:r>
          </a:p>
          <a:p>
            <a:pPr>
              <a:defRPr sz="1300">
                <a:solidFill>
                  <a:srgbClr val="DDE1F5"/>
                </a:solidFill>
              </a:defRPr>
            </a:pPr>
            <a:r>
              <a:t>• کشف بنیادین: مسئله جمع دو تایی «جمع کردن همه جفت‌ها» نیست؛ بلکه «جستجوی تفاضل یا مکمل (target - x)» در زمان میانگین O(1) است!</a:t>
            </a:r>
          </a:p>
          <a:p>
            <a:pPr>
              <a:defRPr sz="1300">
                <a:solidFill>
                  <a:srgbClr val="DDE1F5"/>
                </a:solidFill>
              </a:defRPr>
            </a:pPr>
            <a:r>
              <a:t>• پوشش طبیعی اعداد منفی: در اندیس ۱ با مقدار ۲-، مکمل مورد نیاز 1 - (-2) = 3 است که بدون شرط اضافی به درستی مدیریت می‌شود.</a:t>
            </a:r>
          </a:p>
          <a:p>
            <a:pPr>
              <a:defRPr sz="1300">
                <a:solidFill>
                  <a:srgbClr val="DDE1F5"/>
                </a:solidFill>
              </a:defRPr>
            </a:pPr>
            <a:r>
              <a:t>• توقف زودهنگام (Early Exit): خانه‌های ۶ و ۷ (اعداد ۲ و ۷) هرگز بررسی نشدند و از اتلاف زمان جلوگیری گردید.</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«الگوریتم بدون بررسی خانه‌های پایانی، در تکرار ششم با استعلام O(1) پاسخ بهینه [1, 5] را تحویل داد!»</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7C8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7C8FF5"/>
                </a:solidFill>
              </a:defRPr>
            </a:pPr>
            <a:r>
              <a:t>⚡ مسئله دوم · TWO POINTERS  |  مسئله دوم: جمع دو تایی ۲ - آرایه مرتب‌شده (LeetCode #167)</a:t>
            </a:r>
          </a:p>
          <a:p>
            <a:pPr>
              <a:defRPr sz="1400">
                <a:solidFill>
                  <a:srgbClr val="969EB4"/>
                </a:solidFill>
              </a:defRPr>
            </a:pPr>
            <a:r>
              <a:t>ورودی به صورت غیرنزولی مرتب است | خروجی ۱-محور | حافظه کمکی باید O(1) باشد</a:t>
            </a:r>
          </a:p>
        </p:txBody>
      </p:sp>
      <p:sp>
        <p:nvSpPr>
          <p:cNvPr id="5" name="Rounded Rectangle 4"/>
          <p:cNvSpPr/>
          <p:nvPr/>
        </p:nvSpPr>
        <p:spPr>
          <a:xfrm>
            <a:off x="731520" y="1463040"/>
            <a:ext cx="2503170" cy="2011680"/>
          </a:xfrm>
          <a:prstGeom prst="roundRect">
            <a:avLst/>
          </a:prstGeom>
          <a:solidFill>
            <a:srgbClr val="14142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آرایه از قبل مرتب است</a:t>
            </a:r>
          </a:p>
          <a:p>
            <a:pPr>
              <a:defRPr sz="1100">
                <a:solidFill>
                  <a:srgbClr val="DDE1F5"/>
                </a:solidFill>
              </a:defRPr>
            </a:pPr>
            <a:r>
              <a:t>اعداد صعودی هستند؛ عناصر سمت چپ کوچک‌ترین و عناصر راست بزرگ‌ترین مقادیرند.</a:t>
            </a:r>
          </a:p>
        </p:txBody>
      </p:sp>
      <p:sp>
        <p:nvSpPr>
          <p:cNvPr id="6" name="Rounded Rectangle 5"/>
          <p:cNvSpPr/>
          <p:nvPr/>
        </p:nvSpPr>
        <p:spPr>
          <a:xfrm>
            <a:off x="3463289" y="1463040"/>
            <a:ext cx="2503170" cy="2011680"/>
          </a:xfrm>
          <a:prstGeom prst="roundRect">
            <a:avLst/>
          </a:prstGeom>
          <a:solidFill>
            <a:srgbClr val="14142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قید حیاتی حافظه: O(1)</a:t>
            </a:r>
          </a:p>
          <a:p>
            <a:pPr>
              <a:defRPr sz="1100">
                <a:solidFill>
                  <a:srgbClr val="DDE1F5"/>
                </a:solidFill>
              </a:defRPr>
            </a:pPr>
            <a:r>
              <a:t>استفاده از حافظه کمکی O(n) مانند Hash Map در این مسئله ممنوع است!</a:t>
            </a:r>
          </a:p>
        </p:txBody>
      </p:sp>
      <p:sp>
        <p:nvSpPr>
          <p:cNvPr id="7" name="Rounded Rectangle 6"/>
          <p:cNvSpPr/>
          <p:nvPr/>
        </p:nvSpPr>
        <p:spPr>
          <a:xfrm>
            <a:off x="6195059" y="1463040"/>
            <a:ext cx="2503170" cy="2011680"/>
          </a:xfrm>
          <a:prstGeom prst="roundRect">
            <a:avLst/>
          </a:prstGeom>
          <a:solidFill>
            <a:srgbClr val="141428"/>
          </a:solidFill>
          <a:ln w="2794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خروجی ۱-محور (1-Indexed)</a:t>
            </a:r>
          </a:p>
          <a:p>
            <a:pPr>
              <a:defRPr sz="1100">
                <a:solidFill>
                  <a:srgbClr val="DDE1F5"/>
                </a:solidFill>
              </a:defRPr>
            </a:pPr>
            <a:r>
              <a:t>اندیس‌ها با ۱ شروع می‌شوند: [left + 1, right + 1].</a:t>
            </a:r>
          </a:p>
        </p:txBody>
      </p:sp>
      <p:sp>
        <p:nvSpPr>
          <p:cNvPr id="8" name="Rounded Rectangle 7"/>
          <p:cNvSpPr/>
          <p:nvPr/>
        </p:nvSpPr>
        <p:spPr>
          <a:xfrm>
            <a:off x="8926830" y="1463040"/>
            <a:ext cx="2503170" cy="2011680"/>
          </a:xfrm>
          <a:prstGeom prst="roundRect">
            <a:avLst/>
          </a:prstGeom>
          <a:solidFill>
            <a:srgbClr val="141428"/>
          </a:solidFill>
          <a:ln w="279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۴. تضمین جواب یکتا</a:t>
            </a:r>
          </a:p>
          <a:p>
            <a:pPr>
              <a:defRPr sz="1100">
                <a:solidFill>
                  <a:srgbClr val="DDE1F5"/>
                </a:solidFill>
              </a:defRPr>
            </a:pPr>
            <a:r>
              <a:t>دقیقاً یک جفت پاسخ وجود دارد و استفاده دوباره از یک عنصر مجاز نیست.</a:t>
            </a:r>
          </a:p>
        </p:txBody>
      </p:sp>
      <p:sp>
        <p:nvSpPr>
          <p:cNvPr id="9" name="Rounded Rectangle 8"/>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چرا Hash Map گزینه ایده‌آل نیست؟</a:t>
            </a:r>
          </a:p>
          <a:p>
            <a:pPr>
              <a:defRPr sz="1100">
                <a:solidFill>
                  <a:srgbClr val="DDE1F5"/>
                </a:solidFill>
              </a:defRPr>
            </a:pPr>
            <a:r>
              <a:t>اگرچه زمان O(n) دارد، اما با مصرف O(n) حافظه، ویژگی حیاتی مرتب بودن آرایه را هدر می‌دهد.</a:t>
            </a:r>
          </a:p>
        </p:txBody>
      </p:sp>
      <p:sp>
        <p:nvSpPr>
          <p:cNvPr id="10" name="Rounded Rectangle 9"/>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الگوی دو نشانگر (Two Pointers)</a:t>
            </a:r>
          </a:p>
          <a:p>
            <a:pPr>
              <a:defRPr sz="1100">
                <a:solidFill>
                  <a:srgbClr val="DDE1F5"/>
                </a:solidFill>
              </a:defRPr>
            </a:pPr>
            <a:r>
              <a:t>استقرار دو نشانگر در دو سر آرایه و هدایت همگرا بر اساس جمع مقادیر: زمان O(n) و حافظه O(1)!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روش‌های غیربهینه · NAIVE APPROACHES  |  راه‌حل‌های اولیه و غیربهینه: چرا بروت‌فورس و هش‌مپ در جمع دو تایی ۲ رد می‌شوند؟</a:t>
            </a:r>
          </a:p>
          <a:p>
            <a:pPr>
              <a:defRPr sz="1400">
                <a:solidFill>
                  <a:srgbClr val="969EB4"/>
                </a:solidFill>
              </a:defRPr>
            </a:pPr>
            <a:r>
              <a:t>کالبدشکافی دو راه‌حل دم‌دستی و علل رد شدن آن‌ها در الزامات LeetCode #167</a:t>
            </a:r>
          </a:p>
        </p:txBody>
      </p:sp>
      <p:sp>
        <p:nvSpPr>
          <p:cNvPr id="4" name="Rounded Rectangle 3"/>
          <p:cNvSpPr/>
          <p:nvPr/>
        </p:nvSpPr>
        <p:spPr>
          <a:xfrm>
            <a:off x="731520" y="1463040"/>
            <a:ext cx="2503170" cy="20116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۱. بروت‌فورس دو حلقه</a:t>
            </a:r>
          </a:p>
          <a:p>
            <a:pPr>
              <a:defRPr sz="1100">
                <a:solidFill>
                  <a:srgbClr val="DDE1F5"/>
                </a:solidFill>
              </a:defRPr>
            </a:pPr>
            <a:r>
              <a:t>زمان O(n²) و حافظه O(1) ➔ برای n=30,000 نیاز به ۴۵۰ میلیون چک دارد و با TLE رد می‌شود.</a:t>
            </a:r>
          </a:p>
        </p:txBody>
      </p:sp>
      <p:sp>
        <p:nvSpPr>
          <p:cNvPr id="5" name="Rounded Rectangle 4"/>
          <p:cNvSpPr/>
          <p:nvPr/>
        </p:nvSpPr>
        <p:spPr>
          <a:xfrm>
            <a:off x="346328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۲. استفاده از Hash Map</a:t>
            </a:r>
          </a:p>
          <a:p>
            <a:pPr>
              <a:defRPr sz="1100">
                <a:solidFill>
                  <a:srgbClr val="DDE1F5"/>
                </a:solidFill>
              </a:defRPr>
            </a:pPr>
            <a:r>
              <a:t>زمان O(n) اما حافظه O(n) ➔ نقض صریح قید مسئله مبنی بر استفاده از حافظه ثابت O(1)!</a:t>
            </a:r>
          </a:p>
        </p:txBody>
      </p:sp>
      <p:sp>
        <p:nvSpPr>
          <p:cNvPr id="6" name="Rounded Rectangle 5"/>
          <p:cNvSpPr/>
          <p:nvPr/>
        </p:nvSpPr>
        <p:spPr>
          <a:xfrm>
            <a:off x="619505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۳. نادیده گرفتن سورت بودن</a:t>
            </a:r>
          </a:p>
          <a:p>
            <a:pPr>
              <a:defRPr sz="1100">
                <a:solidFill>
                  <a:srgbClr val="DDE1F5"/>
                </a:solidFill>
              </a:defRPr>
            </a:pPr>
            <a:r>
              <a:t>هر دو روش بالا از ویژگی طلایی صعودی بودن آرایه هیچ استفاده‌ای نمی‌کنند.</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جستجوی باینری (Binary Search)</a:t>
            </a:r>
          </a:p>
          <a:p>
            <a:pPr>
              <a:defRPr sz="1100">
                <a:solidFill>
                  <a:srgbClr val="DDE1F5"/>
                </a:solidFill>
              </a:defRPr>
            </a:pPr>
            <a:r>
              <a:t>جستجوی مکمل با O(n log n) و حافظه O(1)؛ مجاز است اما هنوز بهینه نیست!</a:t>
            </a:r>
          </a:p>
        </p:txBody>
      </p:sp>
      <p:sp>
        <p:nvSpPr>
          <p:cNvPr id="8" name="Rounded Rectangle 7"/>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بن‌بست روش‌های اولیه</a:t>
            </a:r>
          </a:p>
          <a:p>
            <a:pPr>
              <a:defRPr sz="1100">
                <a:solidFill>
                  <a:srgbClr val="DDE1F5"/>
                </a:solidFill>
              </a:defRPr>
            </a:pPr>
            <a:r>
              <a:t>بروت‌فورس زمان را هدر می‌دهد (O(n²)) و هش‌مپ حافظه را هدر می‌دهد (O(n)).</a:t>
            </a:r>
          </a:p>
        </p:txBody>
      </p:sp>
      <p:sp>
        <p:nvSpPr>
          <p:cNvPr id="9" name="Rounded Rectangle 8"/>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جهش بهینه: الگوی دو نشانگر</a:t>
            </a:r>
          </a:p>
          <a:p>
            <a:pPr>
              <a:defRPr sz="1100">
                <a:solidFill>
                  <a:srgbClr val="DDE1F5"/>
                </a:solidFill>
              </a:defRPr>
            </a:pPr>
            <a:r>
              <a:t>با استفاده از آرایه مرتب، در زمان O(n) و بدون مصرف حافظه کمکی (O(1)) به پاسخ قطعی می‌رسیم.</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تریس آنالوگ · TWO POINTERS INTUITION  |  تحلیل آنالوگ روی کاغذ: تریس الگوریتم دو نشانگر</a:t>
            </a:r>
          </a:p>
          <a:p>
            <a:pPr>
              <a:defRPr sz="1400">
                <a:solidFill>
                  <a:srgbClr val="969EB4"/>
                </a:solidFill>
              </a:defRPr>
            </a:pPr>
            <a:r>
              <a:t>تریس نمونه روی numbers = [2, 7, 11, 15] و target = 9</a:t>
            </a:r>
          </a:p>
        </p:txBody>
      </p:sp>
      <p:sp>
        <p:nvSpPr>
          <p:cNvPr id="4" name="Rounded Rectangle 3"/>
          <p:cNvSpPr/>
          <p:nvPr/>
        </p:nvSpPr>
        <p:spPr>
          <a:xfrm>
            <a:off x="731520" y="1463040"/>
            <a:ext cx="3413759"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حالت اول: sum &gt; target</a:t>
            </a:r>
          </a:p>
          <a:p>
            <a:pPr>
              <a:defRPr sz="1100">
                <a:solidFill>
                  <a:srgbClr val="DDE1F5"/>
                </a:solidFill>
              </a:defRPr>
            </a:pPr>
            <a:r>
              <a:t>جمع بزرگ است! بزرگترین عدد با هیچ عنصری جور نمی‌شود ➔ right--</a:t>
            </a:r>
          </a:p>
        </p:txBody>
      </p:sp>
      <p:sp>
        <p:nvSpPr>
          <p:cNvPr id="5" name="Rounded Rectangle 4"/>
          <p:cNvSpPr/>
          <p:nvPr/>
        </p:nvSpPr>
        <p:spPr>
          <a:xfrm>
            <a:off x="4373880" y="1463040"/>
            <a:ext cx="3413759"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حالت دوم: sum &lt; target</a:t>
            </a:r>
          </a:p>
          <a:p>
            <a:pPr>
              <a:defRPr sz="1100">
                <a:solidFill>
                  <a:srgbClr val="DDE1F5"/>
                </a:solidFill>
              </a:defRPr>
            </a:pPr>
            <a:r>
              <a:t>جمع کوچک است! کوچکترین عدد با هیچ عنصری جور نمی‌شود ➔ left++</a:t>
            </a:r>
          </a:p>
        </p:txBody>
      </p:sp>
      <p:sp>
        <p:nvSpPr>
          <p:cNvPr id="6" name="Rounded Rectangle 5"/>
          <p:cNvSpPr/>
          <p:nvPr/>
        </p:nvSpPr>
        <p:spPr>
          <a:xfrm>
            <a:off x="8016239" y="1463040"/>
            <a:ext cx="3413759"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حالت سوم: sum == target</a:t>
            </a:r>
          </a:p>
          <a:p>
            <a:pPr>
              <a:defRPr sz="1100">
                <a:solidFill>
                  <a:srgbClr val="DDE1F5"/>
                </a:solidFill>
              </a:defRPr>
            </a:pPr>
            <a:r>
              <a:t>صید هدف! بازگرداندن [left + 1, right + 1] و توقف الگوریتم 🎉</a:t>
            </a:r>
          </a:p>
        </p:txBody>
      </p:sp>
      <p:sp>
        <p:nvSpPr>
          <p:cNvPr id="7" name="TextBox 6"/>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گام ۱: left=0 (۲), right=3 (۱۵) ➔ جمع = ۱۷ &gt; ۹ ➔ کاهش راست (right = 2)</a:t>
            </a:r>
          </a:p>
          <a:p>
            <a:pPr>
              <a:defRPr sz="1300">
                <a:solidFill>
                  <a:srgbClr val="DDE1F5"/>
                </a:solidFill>
              </a:defRPr>
            </a:pPr>
            <a:r>
              <a:t>• گام ۲: left=0 (۲), right=2 (۱۱) ➔ جمع = ۱۳ &gt; ۹ ➔ کاهش راست (right = 1)</a:t>
            </a:r>
          </a:p>
          <a:p>
            <a:pPr>
              <a:defRPr sz="1300">
                <a:solidFill>
                  <a:srgbClr val="DDE1F5"/>
                </a:solidFill>
              </a:defRPr>
            </a:pPr>
            <a:r>
              <a:t>• گام ۳: left=0 (۲), right=1 (۷) ➔ جمع = ۹ == ۹ ➔ صید پاسخ: [1, 2]</a:t>
            </a:r>
          </a:p>
          <a:p>
            <a:pPr>
              <a:defRPr sz="1300">
                <a:solidFill>
                  <a:srgbClr val="DDE1F5"/>
                </a:solidFill>
              </a:defRPr>
            </a:pPr>
            <a:r>
              <a:t>• اثبات بدون نقص: در هر گام یک عنصر به طور قطعی از فضای جستجو حذف می‌شود بدون اینکه جوابی از دست برود.</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«در حداکثر n گام با دو نشانگر، فضای جستجو به پاسخ بهینه همگرا می‌شود.»</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KOTLIN  |  پیاده‌سازی تمیز در کاتلین: جمع دو تایی ۲</a:t>
            </a:r>
          </a:p>
          <a:p>
            <a:pPr>
              <a:defRPr sz="1400">
                <a:solidFill>
                  <a:srgbClr val="969EB4"/>
                </a:solidFill>
              </a:defRPr>
            </a:pPr>
            <a:r>
              <a:t>الگوریتم دو نشانگر با تفکیک صریح متغیرها و زمان O(n) و حافظه O(1)</a:t>
            </a:r>
          </a:p>
        </p:txBody>
      </p:sp>
      <p:sp>
        <p:nvSpPr>
          <p:cNvPr id="4" name="Rounded Rectangle 3"/>
          <p:cNvSpPr/>
          <p:nvPr/>
        </p:nvSpPr>
        <p:spPr>
          <a:xfrm>
            <a:off x="731520" y="1463040"/>
            <a:ext cx="10698480" cy="292608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twoSum(numbers: IntArray, target: Int): IntArray {</a:t>
            </a:r>
          </a:p>
          <a:p>
            <a:pPr algn="l">
              <a:defRPr sz="1100">
                <a:solidFill>
                  <a:srgbClr val="4ECCA3"/>
                </a:solidFill>
                <a:latin typeface="Consolas"/>
              </a:defRPr>
            </a:pPr>
            <a:r>
              <a:t>    var leftIndex = 0; var rightIndex = numbers.lastIndex // Time: O(1), Space: O(1)</a:t>
            </a:r>
          </a:p>
          <a:p>
            <a:pPr algn="l">
              <a:defRPr sz="1100">
                <a:solidFill>
                  <a:srgbClr val="4ECCA3"/>
                </a:solidFill>
                <a:latin typeface="Consolas"/>
              </a:defRPr>
            </a:pPr>
            <a:r>
              <a:t>    while (leftIndex &lt; rightIndex) { // O(n) iterations</a:t>
            </a:r>
          </a:p>
          <a:p>
            <a:pPr algn="l">
              <a:defRPr sz="1100">
                <a:solidFill>
                  <a:srgbClr val="4ECCA3"/>
                </a:solidFill>
                <a:latin typeface="Consolas"/>
              </a:defRPr>
            </a:pPr>
            <a:r>
              <a:t>        val currentSum = numbers[leftIndex] + numbers[rightIndex] // O(1)</a:t>
            </a:r>
          </a:p>
          <a:p>
            <a:pPr algn="l">
              <a:defRPr sz="1100">
                <a:solidFill>
                  <a:srgbClr val="4ECCA3"/>
                </a:solidFill>
                <a:latin typeface="Consolas"/>
              </a:defRPr>
            </a:pPr>
            <a:r>
              <a:t>        when {</a:t>
            </a:r>
          </a:p>
          <a:p>
            <a:pPr algn="l">
              <a:defRPr sz="1100">
                <a:solidFill>
                  <a:srgbClr val="4ECCA3"/>
                </a:solidFill>
                <a:latin typeface="Consolas"/>
              </a:defRPr>
            </a:pPr>
            <a:r>
              <a:t>            currentSum == target -&gt; return intArrayOf(leftIndex + 1, rightIndex + 1) // O(1)</a:t>
            </a:r>
          </a:p>
          <a:p>
            <a:pPr algn="l">
              <a:defRPr sz="1100">
                <a:solidFill>
                  <a:srgbClr val="4ECCA3"/>
                </a:solidFill>
                <a:latin typeface="Consolas"/>
              </a:defRPr>
            </a:pPr>
            <a:r>
              <a:t>            currentSum &lt; target -&gt; leftIndex++ // O(1)</a:t>
            </a:r>
          </a:p>
          <a:p>
            <a:pPr algn="l">
              <a:defRPr sz="1100">
                <a:solidFill>
                  <a:srgbClr val="4ECCA3"/>
                </a:solidFill>
                <a:latin typeface="Consolas"/>
              </a:defRPr>
            </a:pPr>
            <a:r>
              <a:t>            else -&gt; rightIndex-- // O(1)</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    return intArrayOf() // Time: O(1), Space: O(1)</a:t>
            </a:r>
          </a:p>
          <a:p>
            <a:pPr algn="l">
              <a:defRPr sz="1100">
                <a:solidFill>
                  <a:srgbClr val="4ECCA3"/>
                </a:solidFill>
                <a:latin typeface="Consolas"/>
              </a:defRPr>
            </a:pPr>
            <a:r>
              <a:t>}</a:t>
            </a:r>
          </a:p>
          <a:p>
            <a:pPr algn="l">
              <a:defRPr sz="1100">
                <a:solidFill>
                  <a:srgbClr val="4ECCA3"/>
                </a:solidFill>
                <a:latin typeface="Consolas"/>
              </a:defRPr>
            </a:pPr>
            <a:r>
              <a:t>// Overall Time: O(n) | Auxiliary Space: O(1) | Overall Space: O(1)</a:t>
            </a:r>
          </a:p>
        </p:txBody>
      </p:sp>
      <p:sp>
        <p:nvSpPr>
          <p:cNvPr id="5" name="TextBox 4"/>
          <p:cNvSpPr txBox="1"/>
          <p:nvPr/>
        </p:nvSpPr>
        <p:spPr>
          <a:xfrm>
            <a:off x="731520" y="4526280"/>
            <a:ext cx="10698480" cy="1463040"/>
          </a:xfrm>
          <a:prstGeom prst="rect">
            <a:avLst/>
          </a:prstGeom>
          <a:noFill/>
        </p:spPr>
        <p:txBody>
          <a:bodyPr wrap="square">
            <a:spAutoFit/>
          </a:bodyPr>
          <a:lstStyle/>
          <a:p>
            <a:pPr>
              <a:defRPr sz="1300">
                <a:solidFill>
                  <a:srgbClr val="DDE1F5"/>
                </a:solidFill>
              </a:defRPr>
            </a:pPr>
            <a:r>
              <a:t>• تفکیک شفاف نام‌ها: leftIndex، rightIndex و currentSum برای وضوح حداکثری منطق.</a:t>
            </a:r>
          </a:p>
          <a:p>
            <a:pPr>
              <a:defRPr sz="1300">
                <a:solidFill>
                  <a:srgbClr val="DDE1F5"/>
                </a:solidFill>
              </a:defRPr>
            </a:pPr>
            <a:r>
              <a:t>• ساختار ۳ وضعیتی when: خوانایی بالا برای سنجش برابری، کوچکتری و بزرگتری مجموع.</a:t>
            </a:r>
          </a:p>
          <a:p>
            <a:pPr>
              <a:defRPr sz="1300">
                <a:solidFill>
                  <a:srgbClr val="DDE1F5"/>
                </a:solidFill>
              </a:defRPr>
            </a:pPr>
            <a:r>
              <a:t>• پیچیدگی زمانی: O(n) با حداکثر یک بار جابجایی دو نشانگر.</a:t>
            </a:r>
          </a:p>
          <a:p>
            <a:pPr>
              <a:defRPr sz="1300">
                <a:solidFill>
                  <a:srgbClr val="DDE1F5"/>
                </a:solidFill>
              </a:defRPr>
            </a:pPr>
            <a:r>
              <a:t>• پیچیدگی فضایی: O(1) بدون هیچ ساختار داده کمکی اضافی.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تعاملی · TWO POINTERS VISUALIZER  |  شبیه‌ساز تعاملی و گام‌به‌گام جمع دو تایی ۲</a:t>
            </a:r>
          </a:p>
          <a:p>
            <a:pPr>
              <a:defRPr sz="1400">
                <a:solidFill>
                  <a:srgbClr val="969EB4"/>
                </a:solidFill>
              </a:defRPr>
            </a:pPr>
            <a:r>
              <a:t>همگرایی گام‌به‌گام دو نشانگر روی numbers = [1, 2, 4, 6, 8, 11, 15] و target = 10  |  LeetCode #167</a:t>
            </a:r>
          </a:p>
        </p:txBody>
      </p:sp>
      <p:sp>
        <p:nvSpPr>
          <p:cNvPr id="4" name="Rounded Rectangle 3"/>
          <p:cNvSpPr/>
          <p:nvPr/>
        </p:nvSpPr>
        <p:spPr>
          <a:xfrm>
            <a:off x="731520"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تکرار ۱: L=0 (۱), R=6 (۱۵)</a:t>
            </a:r>
          </a:p>
          <a:p>
            <a:pPr>
              <a:defRPr sz="1100">
                <a:solidFill>
                  <a:srgbClr val="DDE1F5"/>
                </a:solidFill>
              </a:defRPr>
            </a:pPr>
            <a:r>
              <a:t>جمع = 16 &gt; 10 ➔ جمع خیلی بزرگ است، کاهش نشانگر راست: R = 5</a:t>
            </a:r>
          </a:p>
        </p:txBody>
      </p:sp>
      <p:sp>
        <p:nvSpPr>
          <p:cNvPr id="5" name="Rounded Rectangle 4"/>
          <p:cNvSpPr/>
          <p:nvPr/>
        </p:nvSpPr>
        <p:spPr>
          <a:xfrm>
            <a:off x="346328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تکرار ۲: L=0 (۱), R=5 (۱۱)</a:t>
            </a:r>
          </a:p>
          <a:p>
            <a:pPr>
              <a:defRPr sz="1100">
                <a:solidFill>
                  <a:srgbClr val="DDE1F5"/>
                </a:solidFill>
              </a:defRPr>
            </a:pPr>
            <a:r>
              <a:t>جمع = 12 &gt; 10 ➔ باز هم جمع بزرگ است، کاهش نشانگر راست: R = 4</a:t>
            </a:r>
          </a:p>
        </p:txBody>
      </p:sp>
      <p:sp>
        <p:nvSpPr>
          <p:cNvPr id="6" name="Rounded Rectangle 5"/>
          <p:cNvSpPr/>
          <p:nvPr/>
        </p:nvSpPr>
        <p:spPr>
          <a:xfrm>
            <a:off x="6195059"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تکرار ۳: L=0 (۱), R=4 (۸)</a:t>
            </a:r>
          </a:p>
          <a:p>
            <a:pPr>
              <a:defRPr sz="1100">
                <a:solidFill>
                  <a:srgbClr val="DDE1F5"/>
                </a:solidFill>
              </a:defRPr>
            </a:pPr>
            <a:r>
              <a:t>جمع = 9 &lt; 10 ➔ جمع خیلی کوچک است، افزایش نشانگر چپ: L = 1</a:t>
            </a:r>
          </a:p>
        </p:txBody>
      </p:sp>
      <p:sp>
        <p:nvSpPr>
          <p:cNvPr id="7" name="Rounded Rectangle 6"/>
          <p:cNvSpPr/>
          <p:nvPr/>
        </p:nvSpPr>
        <p:spPr>
          <a:xfrm>
            <a:off x="8926830"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تکرار ۴: L=1 (۲), R=4 (۸)</a:t>
            </a:r>
          </a:p>
          <a:p>
            <a:pPr>
              <a:defRPr sz="1100">
                <a:solidFill>
                  <a:srgbClr val="DDE1F5"/>
                </a:solidFill>
              </a:defRPr>
            </a:pPr>
            <a:r>
              <a:t>جمع = 10 == target ➔ صید هدف! تبدیل به اندیس‌های ۱-محور: [2, 5] 🎉</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تک‌باکس ساده و متمرکز: وضعیت L، R، مقادیر عددی، جمع جاری و تصمیم گام بعد همگی در یک نگاه تریس می‌شوند.</a:t>
            </a:r>
          </a:p>
          <a:p>
            <a:pPr>
              <a:defRPr sz="1300">
                <a:solidFill>
                  <a:srgbClr val="DDE1F5"/>
                </a:solidFill>
              </a:defRPr>
            </a:pPr>
            <a:r>
              <a:t>• همگرایی قطعی: در هر گام یک عنصر به طور قطعی حذف می‌شود و فضای جستجو مرتباً کوچک‌تر می‌گردد.</a:t>
            </a:r>
          </a:p>
          <a:p>
            <a:pPr>
              <a:defRPr sz="1300">
                <a:solidFill>
                  <a:srgbClr val="DDE1F5"/>
                </a:solidFill>
              </a:defRPr>
            </a:pPr>
            <a:r>
              <a:t>• صفر بایت حافظه کمکی: الگوریتم با پیچیدگی فضایی O(1) بدون هیچ ساختار داده اضافی پاسخ را می‌یابد.</a:t>
            </a:r>
          </a:p>
          <a:p>
            <a:pPr>
              <a:defRPr sz="1300">
                <a:solidFill>
                  <a:srgbClr val="DDE1F5"/>
                </a:solidFill>
              </a:defRPr>
            </a:pPr>
            <a:r>
              <a:t>• اندیس‌های ۱-محور: تبدیل اندیس‌های صفر-محور [1, 4] به [2, 5] مطابق با خواسته صورت مسئله.</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«با ۴ گام ساده و بدون مصرف حتی یک بایت حافظه کمکی، جفت بهینه در آرایه مرتب کشف شد.»</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E9A84C"/>
                </a:solidFill>
              </a:defRPr>
            </a:pPr>
            <a:r>
              <a:t>💥 مسئله سوم · PATTERN REDUCTION  |  مسئله سوم (چالشی): جمع سه تایی (LeetCode #15)</a:t>
            </a:r>
          </a:p>
          <a:p>
            <a:pPr>
              <a:defRPr sz="1400">
                <a:solidFill>
                  <a:srgbClr val="969EB4"/>
                </a:solidFill>
              </a:defRPr>
            </a:pPr>
            <a:r>
              <a:t>یافتن تمام سه‌تایی‌های یکتای با مجموع صفر (a + b + c = 0) بدون تکرار</a:t>
            </a:r>
          </a:p>
        </p:txBody>
      </p:sp>
      <p:sp>
        <p:nvSpPr>
          <p:cNvPr id="5" name="Rounded Rectangle 4"/>
          <p:cNvSpPr/>
          <p:nvPr/>
        </p:nvSpPr>
        <p:spPr>
          <a:xfrm>
            <a:off x="731520" y="1463040"/>
            <a:ext cx="2503170" cy="2011680"/>
          </a:xfrm>
          <a:prstGeom prst="roundRect">
            <a:avLst/>
          </a:prstGeom>
          <a:solidFill>
            <a:srgbClr val="14142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۱. معادله هدف</a:t>
            </a:r>
          </a:p>
          <a:p>
            <a:pPr>
              <a:defRPr sz="1100">
                <a:solidFill>
                  <a:srgbClr val="DDE1F5"/>
                </a:solidFill>
              </a:defRPr>
            </a:pPr>
            <a:r>
              <a:t>معادله a + b + c = 0 معادل است با b + c = -a (کاهش به جمع دو تایی!).</a:t>
            </a:r>
          </a:p>
        </p:txBody>
      </p:sp>
      <p:sp>
        <p:nvSpPr>
          <p:cNvPr id="6" name="Rounded Rectangle 5"/>
          <p:cNvSpPr/>
          <p:nvPr/>
        </p:nvSpPr>
        <p:spPr>
          <a:xfrm>
            <a:off x="3463289" y="1463040"/>
            <a:ext cx="2503170" cy="2011680"/>
          </a:xfrm>
          <a:prstGeom prst="roundRect">
            <a:avLst/>
          </a:prstGeom>
          <a:solidFill>
            <a:srgbClr val="141428"/>
          </a:solidFill>
          <a:ln w="2794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۲. بن‌بست Brute Force</a:t>
            </a:r>
          </a:p>
          <a:p>
            <a:pPr>
              <a:defRPr sz="1100">
                <a:solidFill>
                  <a:srgbClr val="DDE1F5"/>
                </a:solidFill>
              </a:defRPr>
            </a:pPr>
            <a:r>
              <a:t>سه حلقه تو در تو با O(n³)؛ برای ۳۰۰۰ عنصر به ۲۷ میلیارد عملیات می‌رسد!</a:t>
            </a:r>
          </a:p>
        </p:txBody>
      </p:sp>
      <p:sp>
        <p:nvSpPr>
          <p:cNvPr id="7" name="Rounded Rectangle 6"/>
          <p:cNvSpPr/>
          <p:nvPr/>
        </p:nvSpPr>
        <p:spPr>
          <a:xfrm>
            <a:off x="6195059" y="1463040"/>
            <a:ext cx="2503170" cy="2011680"/>
          </a:xfrm>
          <a:prstGeom prst="roundRect">
            <a:avLst/>
          </a:prstGeom>
          <a:solidFill>
            <a:srgbClr val="141428"/>
          </a:solidFill>
          <a:ln w="2794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چالش بزرگ تکرارها</a:t>
            </a:r>
          </a:p>
          <a:p>
            <a:pPr>
              <a:defRPr sz="1100">
                <a:solidFill>
                  <a:srgbClr val="DDE1F5"/>
                </a:solidFill>
              </a:defRPr>
            </a:pPr>
            <a:r>
              <a:t>قید اکید مسئله: خروجی نباید شامل هیچ سه‌تایی تکراری باشد.</a:t>
            </a:r>
          </a:p>
        </p:txBody>
      </p:sp>
      <p:sp>
        <p:nvSpPr>
          <p:cNvPr id="8" name="Rounded Rectangle 7"/>
          <p:cNvSpPr/>
          <p:nvPr/>
        </p:nvSpPr>
        <p:spPr>
          <a:xfrm>
            <a:off x="8926830" y="1463040"/>
            <a:ext cx="2503170" cy="2011680"/>
          </a:xfrm>
          <a:prstGeom prst="roundRect">
            <a:avLst/>
          </a:prstGeom>
          <a:solidFill>
            <a:srgbClr val="14142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شاه‌کلید مرتب‌سازی</a:t>
            </a:r>
          </a:p>
          <a:p>
            <a:pPr>
              <a:defRPr sz="1100">
                <a:solidFill>
                  <a:srgbClr val="DDE1F5"/>
                </a:solidFill>
              </a:defRPr>
            </a:pPr>
            <a:r>
              <a:t>مرتب‌سازی در O(n log n) امکان استفاده از Two Pointers و پرش از تکرارها را فراهم می‌کند.</a:t>
            </a:r>
          </a:p>
        </p:txBody>
      </p:sp>
      <p:sp>
        <p:nvSpPr>
          <p:cNvPr id="9" name="Rounded Rectangle 8"/>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تله رایج: استفاده از HashSet</a:t>
            </a:r>
          </a:p>
          <a:p>
            <a:pPr>
              <a:defRPr sz="1100">
                <a:solidFill>
                  <a:srgbClr val="DDE1F5"/>
                </a:solidFill>
              </a:defRPr>
            </a:pPr>
            <a:r>
              <a:t>ریختن پاسخ‌ها در HashSet برای رفع تکرار، مصرف حافظه و زمان مقایسه زیادی ایجاد می‌کند.</a:t>
            </a:r>
          </a:p>
        </p:txBody>
      </p:sp>
      <p:sp>
        <p:nvSpPr>
          <p:cNvPr id="10" name="Rounded Rectangle 9"/>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حذف تکرار درجا (In-Place)</a:t>
            </a:r>
          </a:p>
          <a:p>
            <a:pPr>
              <a:defRPr sz="1100">
                <a:solidFill>
                  <a:srgbClr val="DDE1F5"/>
                </a:solidFill>
              </a:defRPr>
            </a:pPr>
            <a:r>
              <a:t>با مرتب بودن آرایه، عناصر تکراری هم‌جوارند و با پرش ساده نشانگرها، بدون حافظه اضافی حذف می‌شوند.</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غیربهینه · NAIVE APPROACH  |  راه‌حل ساده و غیربهینه: بن‌بست ۳ حلقه‌ای Brute Force و تله تکرارها با HashSet</a:t>
            </a:r>
          </a:p>
          <a:p>
            <a:pPr>
              <a:defRPr sz="1400">
                <a:solidFill>
                  <a:srgbClr val="969EB4"/>
                </a:solidFill>
              </a:defRPr>
            </a:pPr>
            <a:r>
              <a:t>چرا تلاش برای حل مستقیم جمع سه تایی به فاجعه زمانی و خطاهای متعدد می‌انجامد؟ | LeetCode #15</a:t>
            </a:r>
          </a:p>
        </p:txBody>
      </p:sp>
      <p:sp>
        <p:nvSpPr>
          <p:cNvPr id="4" name="Rounded Rectangle 3"/>
          <p:cNvSpPr/>
          <p:nvPr/>
        </p:nvSpPr>
        <p:spPr>
          <a:xfrm>
            <a:off x="731520" y="1463040"/>
            <a:ext cx="2503170" cy="20116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۱. انفجار زمانی O(n³)</a:t>
            </a:r>
          </a:p>
          <a:p>
            <a:pPr>
              <a:defRPr sz="1100">
                <a:solidFill>
                  <a:srgbClr val="DDE1F5"/>
                </a:solidFill>
              </a:defRPr>
            </a:pPr>
            <a:r>
              <a:t>سه حلقه تو در تو؛ برای n=3000 به ۴.۵ میلیارد عملیات می‌رسد و فوراً با خطای TLE متوقف می‌شود.</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تله حافظه با HashSet</a:t>
            </a:r>
          </a:p>
          <a:p>
            <a:pPr>
              <a:defRPr sz="1100">
                <a:solidFill>
                  <a:srgbClr val="DDE1F5"/>
                </a:solidFill>
              </a:defRPr>
            </a:pPr>
            <a:r>
              <a:t>ریختن سه‌تایی‌ها در Set برای حذف تکرار، خطر بروز خطای Memory Limit Exceeded (MLE) دارد.</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ضعف معماری کد</a:t>
            </a:r>
          </a:p>
          <a:p>
            <a:pPr>
              <a:defRPr sz="1100">
                <a:solidFill>
                  <a:srgbClr val="DDE1F5"/>
                </a:solidFill>
              </a:defRPr>
            </a:pPr>
            <a:r>
              <a:t>تکیه بر Set به جای مهار ریاضی اندیس‌ها، نشان‌دهنده ناتوانی الگوریتمی در کنترل داده‌هاست.</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نقطه عطف: مرتب‌سازی</a:t>
            </a:r>
          </a:p>
          <a:p>
            <a:pPr>
              <a:defRPr sz="1100">
                <a:solidFill>
                  <a:srgbClr val="DDE1F5"/>
                </a:solidFill>
              </a:defRPr>
            </a:pPr>
            <a:r>
              <a:t>با مرتب‌سازی در O(n log n)، مسئله ۳ عنصری به تثبیت یک عدد و حل جمع دو تایی ۲ کاهش می‌یابد.</a:t>
            </a:r>
          </a:p>
        </p:txBody>
      </p:sp>
      <p:sp>
        <p:nvSpPr>
          <p:cNvPr id="8" name="Rounded Rectangle 7"/>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شکست کامل Brute Force</a:t>
            </a:r>
          </a:p>
          <a:p>
            <a:pPr>
              <a:defRPr sz="1100">
                <a:solidFill>
                  <a:srgbClr val="DDE1F5"/>
                </a:solidFill>
              </a:defRPr>
            </a:pPr>
            <a:r>
              <a:t>زمان O(n³)، مصرف سرسام‌آور حافظه Heap با ساخت آبجکت‌های موقت، و افت وحشتناک پرفورمنس.</a:t>
            </a:r>
          </a:p>
        </p:txBody>
      </p:sp>
      <p:sp>
        <p:nvSpPr>
          <p:cNvPr id="9" name="Rounded Rectangle 8"/>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راه نجات: کاهش مسئله به جمع دو تایی ۲</a:t>
            </a:r>
          </a:p>
          <a:p>
            <a:pPr>
              <a:defRPr sz="1100">
                <a:solidFill>
                  <a:srgbClr val="DDE1F5"/>
                </a:solidFill>
              </a:defRPr>
            </a:pPr>
            <a:r>
              <a:t>رسیدن به زمان O(n²) و حافظه کمکی O(1) با پرش‌های درجا از روی عناصر تکراری بدون نیاز به Set!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کاهش الگو · PATTERN REDUCTION  |  کاهش الگو: تبدیل جمع سه تایی به جمع دو تایی ۲ و حذف تکرارها</a:t>
            </a:r>
          </a:p>
          <a:p>
            <a:pPr>
              <a:defRPr sz="1400">
                <a:solidFill>
                  <a:srgbClr val="969EB4"/>
                </a:solidFill>
              </a:defRPr>
            </a:pPr>
            <a:r>
              <a:t>استراتژی ۴ گانه: مرتب‌سازی + تثبیت عنصر اول + دو نشانگر + پرش از تکرارها</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گام ۱: مرتب‌سازی</a:t>
            </a:r>
          </a:p>
          <a:p>
            <a:pPr>
              <a:defRPr sz="1100">
                <a:solidFill>
                  <a:srgbClr val="DDE1F5"/>
                </a:solidFill>
              </a:defRPr>
            </a:pPr>
            <a:r>
              <a:t>nums.sort() در O(n log n)؛ مقادیر مساوی کنار هم می‌نشینند.</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گام ۲: توقف زودهنگام</a:t>
            </a:r>
          </a:p>
          <a:p>
            <a:pPr>
              <a:defRPr sz="1100">
                <a:solidFill>
                  <a:srgbClr val="DDE1F5"/>
                </a:solidFill>
              </a:defRPr>
            </a:pPr>
            <a:r>
              <a:t>اگر nums[i] &gt; 0 باشد، جمع سه عدد مثبت هرگز صفر نمی‌شود (break).</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گام ۳: پرش در حلقه بیرونی</a:t>
            </a:r>
          </a:p>
          <a:p>
            <a:pPr>
              <a:defRPr sz="1100">
                <a:solidFill>
                  <a:srgbClr val="DDE1F5"/>
                </a:solidFill>
              </a:defRPr>
            </a:pPr>
            <a:r>
              <a:t>اگر nums[i] == nums[i-1] باشد، با continue از عدد تکراری می‌گذریم.</a:t>
            </a:r>
          </a:p>
        </p:txBody>
      </p:sp>
      <p:sp>
        <p:nvSpPr>
          <p:cNvPr id="7" name="Rounded Rectangle 6"/>
          <p:cNvSpPr/>
          <p:nvPr/>
        </p:nvSpPr>
        <p:spPr>
          <a:xfrm>
            <a:off x="8926830"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گام ۴: پرش در دو نشانگر</a:t>
            </a:r>
          </a:p>
          <a:p>
            <a:pPr>
              <a:defRPr sz="1100">
                <a:solidFill>
                  <a:srgbClr val="DDE1F5"/>
                </a:solidFill>
              </a:defRPr>
            </a:pPr>
            <a:r>
              <a:t>پس از ثبت پاسخ، left و right از روی عناصر تکراری مجاور رد می‌شوند.</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تبدیل مسئله ۳ متغیره به ۲ متغیره: تثبیت firstNum = nums[i] و جستجوی جفت با جمع -firstNum.</a:t>
            </a:r>
          </a:p>
          <a:p>
            <a:pPr>
              <a:defRPr sz="1300">
                <a:solidFill>
                  <a:srgbClr val="DDE1F5"/>
                </a:solidFill>
              </a:defRPr>
            </a:pPr>
            <a:r>
              <a:t>• چون آرایه مرتب است، جستجوی جفت در باقی‌مانده آرایه دقیقاً همان جمع دو تایی ۲ است!</a:t>
            </a:r>
          </a:p>
          <a:p>
            <a:pPr>
              <a:defRPr sz="1300">
                <a:solidFill>
                  <a:srgbClr val="DDE1F5"/>
                </a:solidFill>
              </a:defRPr>
            </a:pPr>
            <a:r>
              <a:t>• حذف کامل سربار حافظه: مدیریت هوشمندانه اندیس‌ها نیاز به Set را کاملاً منتفی می‌کند.</a:t>
            </a:r>
          </a:p>
          <a:p>
            <a:pPr>
              <a:defRPr sz="1300">
                <a:solidFill>
                  <a:srgbClr val="DDE1F5"/>
                </a:solidFill>
              </a:defRPr>
            </a:pPr>
            <a:r>
              <a:t>• پیچیدگی زمانی کلی: O(n log n + n²) = O(n²) با جهش از مرتبه O(n³).</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«مسائل سخت‌تر، تنها ترکیبی هنرمندانه از الگوهای پایه قبلی هستند.»</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KOTLIN  |  پیاده‌سازی تمیز در کاتلین: جمع سه تایی</a:t>
            </a:r>
          </a:p>
          <a:p>
            <a:pPr>
              <a:defRPr sz="1400">
                <a:solidFill>
                  <a:srgbClr val="969EB4"/>
                </a:solidFill>
              </a:defRPr>
            </a:pPr>
            <a:r>
              <a:t>مرتب‌سازی + حلقه بیرونی + الگوی Two Pointers با پرش کامل از عناصر تکراری</a:t>
            </a:r>
          </a:p>
        </p:txBody>
      </p:sp>
      <p:sp>
        <p:nvSpPr>
          <p:cNvPr id="4" name="Rounded Rectangle 3"/>
          <p:cNvSpPr/>
          <p:nvPr/>
        </p:nvSpPr>
        <p:spPr>
          <a:xfrm>
            <a:off x="731520" y="1463040"/>
            <a:ext cx="10698480" cy="292608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threeSum(nums: IntArray): List&lt;List&lt;Int&gt;&gt; {</a:t>
            </a:r>
          </a:p>
          <a:p>
            <a:pPr algn="l">
              <a:defRPr sz="1100">
                <a:solidFill>
                  <a:srgbClr val="4ECCA3"/>
                </a:solidFill>
                <a:latin typeface="Consolas"/>
              </a:defRPr>
            </a:pPr>
            <a:r>
              <a:t>    nums.sort() // Time: O(n log n), Space: O(1) auxiliary*</a:t>
            </a:r>
          </a:p>
          <a:p>
            <a:pPr algn="l">
              <a:defRPr sz="1100">
                <a:solidFill>
                  <a:srgbClr val="4ECCA3"/>
                </a:solidFill>
                <a:latin typeface="Consolas"/>
              </a:defRPr>
            </a:pPr>
            <a:r>
              <a:t>    val triplets = mutableListOf&lt;List&lt;Int&gt;&gt;() // Space: O(k) output</a:t>
            </a:r>
          </a:p>
          <a:p>
            <a:pPr algn="l">
              <a:defRPr sz="1100">
                <a:solidFill>
                  <a:srgbClr val="4ECCA3"/>
                </a:solidFill>
                <a:latin typeface="Consolas"/>
              </a:defRPr>
            </a:pPr>
            <a:r>
              <a:t>    for (firstIndex in 0 until nums.size - 2) { // O(n) iterations</a:t>
            </a:r>
          </a:p>
          <a:p>
            <a:pPr algn="l">
              <a:defRPr sz="1100">
                <a:solidFill>
                  <a:srgbClr val="4ECCA3"/>
                </a:solidFill>
                <a:latin typeface="Consolas"/>
              </a:defRPr>
            </a:pPr>
            <a:r>
              <a:t>        if (nums[firstIndex] &gt; 0) break // Early exit: sum &gt; 0</a:t>
            </a:r>
          </a:p>
          <a:p>
            <a:pPr algn="l">
              <a:defRPr sz="1100">
                <a:solidFill>
                  <a:srgbClr val="4ECCA3"/>
                </a:solidFill>
                <a:latin typeface="Consolas"/>
              </a:defRPr>
            </a:pPr>
            <a:r>
              <a:t>        if (firstIndex &gt; 0 &amp;&amp; nums[firstIndex] == nums[firstIndex - 1]) continue // O(1)</a:t>
            </a:r>
          </a:p>
          <a:p>
            <a:pPr algn="l">
              <a:defRPr sz="1100">
                <a:solidFill>
                  <a:srgbClr val="4ECCA3"/>
                </a:solidFill>
                <a:latin typeface="Consolas"/>
              </a:defRPr>
            </a:pPr>
            <a:r>
              <a:t>        val targetSum = -nums[firstIndex] // O(1)</a:t>
            </a:r>
          </a:p>
          <a:p>
            <a:pPr algn="l">
              <a:defRPr sz="1100">
                <a:solidFill>
                  <a:srgbClr val="4ECCA3"/>
                </a:solidFill>
                <a:latin typeface="Consolas"/>
              </a:defRPr>
            </a:pPr>
            <a:r>
              <a:t>        var left = firstIndex + 1; var right = nums.size - 1</a:t>
            </a:r>
          </a:p>
          <a:p>
            <a:pPr algn="l">
              <a:defRPr sz="1100">
                <a:solidFill>
                  <a:srgbClr val="4ECCA3"/>
                </a:solidFill>
                <a:latin typeface="Consolas"/>
              </a:defRPr>
            </a:pPr>
            <a:r>
              <a:t>        while (left &lt; right) { // O(n) per outer loop</a:t>
            </a:r>
          </a:p>
          <a:p>
            <a:pPr algn="l">
              <a:defRPr sz="1100">
                <a:solidFill>
                  <a:srgbClr val="4ECCA3"/>
                </a:solidFill>
                <a:latin typeface="Consolas"/>
              </a:defRPr>
            </a:pPr>
            <a:r>
              <a:t>            val pairSum = nums[left] + nums[right] // O(1)</a:t>
            </a:r>
          </a:p>
          <a:p>
            <a:pPr algn="l">
              <a:defRPr sz="1100">
                <a:solidFill>
                  <a:srgbClr val="4ECCA3"/>
                </a:solidFill>
                <a:latin typeface="Consolas"/>
              </a:defRPr>
            </a:pPr>
            <a:r>
              <a:t>            when {</a:t>
            </a:r>
          </a:p>
          <a:p>
            <a:pPr algn="l">
              <a:defRPr sz="1100">
                <a:solidFill>
                  <a:srgbClr val="4ECCA3"/>
                </a:solidFill>
                <a:latin typeface="Consolas"/>
              </a:defRPr>
            </a:pPr>
            <a:r>
              <a:t>                pairSum == targetSum -&gt; {</a:t>
            </a:r>
          </a:p>
          <a:p>
            <a:pPr algn="l">
              <a:defRPr sz="1100">
                <a:solidFill>
                  <a:srgbClr val="4ECCA3"/>
                </a:solidFill>
                <a:latin typeface="Consolas"/>
              </a:defRPr>
            </a:pPr>
            <a:r>
              <a:t>                    triplets.add(listOf(nums[firstIndex], nums[left], nums[right])) // O(1)</a:t>
            </a:r>
          </a:p>
          <a:p>
            <a:pPr algn="l">
              <a:defRPr sz="1100">
                <a:solidFill>
                  <a:srgbClr val="4ECCA3"/>
                </a:solidFill>
                <a:latin typeface="Consolas"/>
              </a:defRPr>
            </a:pPr>
            <a:r>
              <a:t>                    while (left &lt; right &amp;&amp; nums[left] == nums[left + 1]) left++ // O(n) scan</a:t>
            </a:r>
          </a:p>
          <a:p>
            <a:pPr algn="l">
              <a:defRPr sz="1100">
                <a:solidFill>
                  <a:srgbClr val="4ECCA3"/>
                </a:solidFill>
                <a:latin typeface="Consolas"/>
              </a:defRPr>
            </a:pPr>
            <a:r>
              <a:t>                    while (left &lt; right &amp;&amp; nums[right] == nums[right - 1]) right-- // O(n) scan</a:t>
            </a:r>
          </a:p>
          <a:p>
            <a:pPr algn="l">
              <a:defRPr sz="1100">
                <a:solidFill>
                  <a:srgbClr val="4ECCA3"/>
                </a:solidFill>
                <a:latin typeface="Consolas"/>
              </a:defRPr>
            </a:pPr>
            <a:r>
              <a:t>                    left++; right-- // O(1)</a:t>
            </a:r>
          </a:p>
          <a:p>
            <a:pPr algn="l">
              <a:defRPr sz="1100">
                <a:solidFill>
                  <a:srgbClr val="4ECCA3"/>
                </a:solidFill>
                <a:latin typeface="Consolas"/>
              </a:defRPr>
            </a:pPr>
            <a:r>
              <a:t>                }</a:t>
            </a:r>
          </a:p>
          <a:p>
            <a:pPr algn="l">
              <a:defRPr sz="1100">
                <a:solidFill>
                  <a:srgbClr val="4ECCA3"/>
                </a:solidFill>
                <a:latin typeface="Consolas"/>
              </a:defRPr>
            </a:pPr>
            <a:r>
              <a:t>                pairSum &lt; targetSum -&gt; left++ // O(1)</a:t>
            </a:r>
          </a:p>
          <a:p>
            <a:pPr algn="l">
              <a:defRPr sz="1100">
                <a:solidFill>
                  <a:srgbClr val="4ECCA3"/>
                </a:solidFill>
                <a:latin typeface="Consolas"/>
              </a:defRPr>
            </a:pPr>
            <a:r>
              <a:t>                else -&gt; right-- // O(1)</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    return triplets // O(1)</a:t>
            </a:r>
          </a:p>
          <a:p>
            <a:pPr algn="l">
              <a:defRPr sz="1100">
                <a:solidFill>
                  <a:srgbClr val="4ECCA3"/>
                </a:solidFill>
                <a:latin typeface="Consolas"/>
              </a:defRPr>
            </a:pPr>
            <a:r>
              <a:t>}</a:t>
            </a:r>
          </a:p>
          <a:p>
            <a:pPr algn="l">
              <a:defRPr sz="1100">
                <a:solidFill>
                  <a:srgbClr val="4ECCA3"/>
                </a:solidFill>
                <a:latin typeface="Consolas"/>
              </a:defRPr>
            </a:pPr>
            <a:r>
              <a:t>// Overall Time: O(n²) | Auxiliary Space: O(log n) | Output Space: O(k) | Overall Space: O(n + k)</a:t>
            </a:r>
          </a:p>
        </p:txBody>
      </p:sp>
      <p:sp>
        <p:nvSpPr>
          <p:cNvPr id="5" name="TextBox 4"/>
          <p:cNvSpPr txBox="1"/>
          <p:nvPr/>
        </p:nvSpPr>
        <p:spPr>
          <a:xfrm>
            <a:off x="731520" y="4526280"/>
            <a:ext cx="10698480" cy="1463040"/>
          </a:xfrm>
          <a:prstGeom prst="rect">
            <a:avLst/>
          </a:prstGeom>
          <a:noFill/>
        </p:spPr>
        <p:txBody>
          <a:bodyPr wrap="square">
            <a:spAutoFit/>
          </a:bodyPr>
          <a:lstStyle/>
          <a:p>
            <a:pPr>
              <a:defRPr sz="1300">
                <a:solidFill>
                  <a:srgbClr val="DDE1F5"/>
                </a:solidFill>
              </a:defRPr>
            </a:pPr>
            <a:r>
              <a:t>• بهینه‌سازی firstNum &gt; 0: جلوگیری فوری از محاسبات بی‌فایده در اعداد مثبت.</a:t>
            </a:r>
          </a:p>
          <a:p>
            <a:pPr>
              <a:defRPr sz="1300">
                <a:solidFill>
                  <a:srgbClr val="DDE1F5"/>
                </a:solidFill>
              </a:defRPr>
            </a:pPr>
            <a:r>
              <a:t>• مدیریت دوگانه تکرار: شرط continue در حلقه بیرونی و دو حلقه while درونی.</a:t>
            </a:r>
          </a:p>
          <a:p>
            <a:pPr>
              <a:defRPr sz="1300">
                <a:solidFill>
                  <a:srgbClr val="DDE1F5"/>
                </a:solidFill>
              </a:defRPr>
            </a:pPr>
            <a:r>
              <a:t>• پیچیدگی زمانی: O(n²) — کاهش فوق‌العاده از O(n³).</a:t>
            </a:r>
          </a:p>
          <a:p>
            <a:pPr>
              <a:defRPr sz="1300">
                <a:solidFill>
                  <a:srgbClr val="DDE1F5"/>
                </a:solidFill>
              </a:defRPr>
            </a:pPr>
            <a:r>
              <a:t>• پیچیدگی فضایی: O(1) حافظه کمکی (بدون احتساب لیست خروجی).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تعاملی · شبیه‌ساز کاهش جمع سه تایی  |  شبیه‌ساز تعاملی و گام‌به‌گام الگوریتم جمع سه تایی</a:t>
            </a:r>
          </a:p>
          <a:p>
            <a:pPr>
              <a:defRPr sz="1400">
                <a:solidFill>
                  <a:srgbClr val="969EB4"/>
                </a:solidFill>
              </a:defRPr>
            </a:pPr>
            <a:r>
              <a:t>تثبیت عنصر اول، دو نشانگر و پرش از تکرارها روی nums = [-4, -1, -1, 0, 1, 2]  |  LeetCode #15</a:t>
            </a:r>
          </a:p>
        </p:txBody>
      </p:sp>
      <p:sp>
        <p:nvSpPr>
          <p:cNvPr id="4" name="Rounded Rectangle 3"/>
          <p:cNvSpPr/>
          <p:nvPr/>
        </p:nvSpPr>
        <p:spPr>
          <a:xfrm>
            <a:off x="731520"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تکرار ۱: i=0 (عنصر ۴-)</a:t>
            </a:r>
          </a:p>
          <a:p>
            <a:pPr>
              <a:defRPr sz="1100">
                <a:solidFill>
                  <a:srgbClr val="DDE1F5"/>
                </a:solidFill>
              </a:defRPr>
            </a:pPr>
            <a:r>
              <a:t>بازه [1..5] بررسی شد؛ حتی با بزرگ‌ترین عناصر، مجموع به صفر نمی‌رسد.</a:t>
            </a:r>
          </a:p>
        </p:txBody>
      </p:sp>
      <p:sp>
        <p:nvSpPr>
          <p:cNvPr id="5" name="Rounded Rectangle 4"/>
          <p:cNvSpPr/>
          <p:nvPr/>
        </p:nvSpPr>
        <p:spPr>
          <a:xfrm>
            <a:off x="3463289"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تکرار ۲: i=1 (عنصر ۱-)</a:t>
            </a:r>
          </a:p>
          <a:p>
            <a:pPr>
              <a:defRPr sz="1100">
                <a:solidFill>
                  <a:srgbClr val="DDE1F5"/>
                </a:solidFill>
              </a:defRPr>
            </a:pPr>
            <a:r>
              <a:t>L=2 (-1), R=5 (2) ➔ جمع = ۰ ➔ شکار اولین سه‌تایی: [-1, -1, 2] 🎉</a:t>
            </a:r>
          </a:p>
        </p:txBody>
      </p:sp>
      <p:sp>
        <p:nvSpPr>
          <p:cNvPr id="6" name="Rounded Rectangle 5"/>
          <p:cNvSpPr/>
          <p:nvPr/>
        </p:nvSpPr>
        <p:spPr>
          <a:xfrm>
            <a:off x="6195059"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تکرار ۳: ادامه i=1</a:t>
            </a:r>
          </a:p>
          <a:p>
            <a:pPr>
              <a:defRPr sz="1100">
                <a:solidFill>
                  <a:srgbClr val="DDE1F5"/>
                </a:solidFill>
              </a:defRPr>
            </a:pPr>
            <a:r>
              <a:t>L=3 (0), R=4 (1) ➔ جمع = ۰ ➔ شکار دومین سه‌تایی: [-1, 0, 1] 🎉</a:t>
            </a:r>
          </a:p>
        </p:txBody>
      </p:sp>
      <p:sp>
        <p:nvSpPr>
          <p:cNvPr id="7" name="Rounded Rectangle 6"/>
          <p:cNvSpPr/>
          <p:nvPr/>
        </p:nvSpPr>
        <p:spPr>
          <a:xfrm>
            <a:off x="8926830"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تکرار ۴ و ۵: پرش و خروج</a:t>
            </a:r>
          </a:p>
          <a:p>
            <a:pPr>
              <a:defRPr sz="1100">
                <a:solidFill>
                  <a:srgbClr val="DDE1F5"/>
                </a:solidFill>
              </a:defRPr>
            </a:pPr>
            <a:r>
              <a:t>در i=2 پرش با continue (تکراری با i=1)؛ در i=4 خروج زودهنگام با break (عدد مثبت)</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باکس یکپارچه تریس: متغیرهای i، L، R، مقادیر سه‌تایی و وضعیت تصمیم‌گیری در یک قالب شسته‌رفته قرار دارند.</a:t>
            </a:r>
          </a:p>
          <a:p>
            <a:pPr>
              <a:defRPr sz="1300">
                <a:solidFill>
                  <a:srgbClr val="DDE1F5"/>
                </a:solidFill>
              </a:defRPr>
            </a:pPr>
            <a:r>
              <a:t>• تثبیت عنصر اول و دو نشانگر: نمایش زنده کاهش مسئله جمع سه تایی به الگوی جمع دو تایی ۲ در هر دور حلقه.</a:t>
            </a:r>
          </a:p>
          <a:p>
            <a:pPr>
              <a:defRPr sz="1300">
                <a:solidFill>
                  <a:srgbClr val="DDE1F5"/>
                </a:solidFill>
              </a:defRPr>
            </a:pPr>
            <a:r>
              <a:t>• پرش بدون هزینه حافظه: حذف سه‌تایی‌های تکراری با شرط continue و پرش‌های حلقه داخلی بدون نیاز به Set.</a:t>
            </a:r>
          </a:p>
          <a:p>
            <a:pPr>
              <a:defRPr sz="1300">
                <a:solidFill>
                  <a:srgbClr val="DDE1F5"/>
                </a:solidFill>
              </a:defRPr>
            </a:pPr>
            <a:r>
              <a:t>• توقف زودهنگام (Early Exit): توقف فوری به محض مثبت شدن عنصر اول (firstNum &gt; 0) به دلیل سورت بودن داده‌ها.</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«با مرتب‌سازی و پرش‌های هوشمندانه، الگوریتم از O(n³) به O(n²) ارتقا یافت بدون تولید هیچ پاسخ تکراری!»</a:t>
            </a:r>
          </a:p>
        </p:txBody>
      </p:sp>
    </p:spTree>
  </p:cSld>
  <p:clrMapOvr>
    <a:masterClrMapping/>
  </p:clrMapOvr>
</p:sld>
</file>

<file path=ppt/slides/slide29.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ECC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4ECCA3"/>
                </a:solidFill>
              </a:defRPr>
            </a:pPr>
            <a:r>
              <a:t>🔥 مسئله پنجم · EASY  |  مسئله پنجم: انتقال صفرها به انتها (Move Zeroes — LeetCode #283)</a:t>
            </a:r>
          </a:p>
          <a:p>
            <a:pPr>
              <a:defRPr sz="1400">
                <a:solidFill>
                  <a:srgbClr val="969EB4"/>
                </a:solidFill>
              </a:defRPr>
            </a:pPr>
            <a:r>
              <a:t>جابجایی تمام صفرهای آرایه به انتها با حفظ ترتیب نسبی عناصر غیرصفر | LeetCode 75</a:t>
            </a:r>
          </a:p>
        </p:txBody>
      </p:sp>
      <p:sp>
        <p:nvSpPr>
          <p:cNvPr id="5" name="Rounded Rectangle 4"/>
          <p:cNvSpPr/>
          <p:nvPr/>
        </p:nvSpPr>
        <p:spPr>
          <a:xfrm>
            <a:off x="731520" y="1463040"/>
            <a:ext cx="2503170" cy="2011680"/>
          </a:xfrm>
          <a:prstGeom prst="roundRect">
            <a:avLst/>
          </a:prstGeom>
          <a:solidFill>
            <a:srgbClr val="14142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صورت مسئله و هدف</a:t>
            </a:r>
          </a:p>
          <a:p>
            <a:pPr>
              <a:defRPr sz="1100">
                <a:solidFill>
                  <a:srgbClr val="DDE1F5"/>
                </a:solidFill>
              </a:defRPr>
            </a:pPr>
            <a:r>
              <a:t>انتقال تمام 0ها به انتهای آرایه nums در حالی که ترتیب نسبی اعداد غیرصفر دست‌نخورده بماند.</a:t>
            </a:r>
          </a:p>
        </p:txBody>
      </p:sp>
      <p:sp>
        <p:nvSpPr>
          <p:cNvPr id="6" name="Rounded Rectangle 5"/>
          <p:cNvSpPr/>
          <p:nvPr/>
        </p:nvSpPr>
        <p:spPr>
          <a:xfrm>
            <a:off x="3463289" y="1463040"/>
            <a:ext cx="2503170" cy="2011680"/>
          </a:xfrm>
          <a:prstGeom prst="roundRect">
            <a:avLst/>
          </a:prstGeom>
          <a:solidFill>
            <a:srgbClr val="14142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قید حیاتی درجا (In-Place)</a:t>
            </a:r>
          </a:p>
          <a:p>
            <a:pPr>
              <a:defRPr sz="1100">
                <a:solidFill>
                  <a:srgbClr val="DDE1F5"/>
                </a:solidFill>
              </a:defRPr>
            </a:pPr>
            <a:r>
              <a:t>عملیات باید روی خود آرایه انجام شود؛ ساخت آرایه جدید و مصرف حافظه کمکی O(n) خطاست!</a:t>
            </a:r>
          </a:p>
        </p:txBody>
      </p:sp>
      <p:sp>
        <p:nvSpPr>
          <p:cNvPr id="7" name="Rounded Rectangle 6"/>
          <p:cNvSpPr/>
          <p:nvPr/>
        </p:nvSpPr>
        <p:spPr>
          <a:xfrm>
            <a:off x="6195059" y="1463040"/>
            <a:ext cx="2503170" cy="2011680"/>
          </a:xfrm>
          <a:prstGeom prst="roundRect">
            <a:avLst/>
          </a:prstGeom>
          <a:solidFill>
            <a:srgbClr val="141428"/>
          </a:solidFill>
          <a:ln w="2794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مقیاس ورودی (10⁴)</a:t>
            </a:r>
          </a:p>
          <a:p>
            <a:pPr>
              <a:defRPr sz="1100">
                <a:solidFill>
                  <a:srgbClr val="DDE1F5"/>
                </a:solidFill>
              </a:defRPr>
            </a:pPr>
            <a:r>
              <a:t>طول آرایه تا ۱۰ هزار است؛ الگوریتم‌های با شیفت مکرر عناصر باعث افت شدید کارایی می‌شوند.</a:t>
            </a:r>
          </a:p>
        </p:txBody>
      </p:sp>
      <p:sp>
        <p:nvSpPr>
          <p:cNvPr id="8" name="Rounded Rectangle 7"/>
          <p:cNvSpPr/>
          <p:nvPr/>
        </p:nvSpPr>
        <p:spPr>
          <a:xfrm>
            <a:off x="8926830" y="1463040"/>
            <a:ext cx="2503170" cy="2011680"/>
          </a:xfrm>
          <a:prstGeom prst="roundRect">
            <a:avLst/>
          </a:prstGeom>
          <a:solidFill>
            <a:srgbClr val="141428"/>
          </a:solidFill>
          <a:ln w="279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۴. چالش کاهش نوشتن‌ها</a:t>
            </a:r>
          </a:p>
          <a:p>
            <a:pPr>
              <a:defRPr sz="1100">
                <a:solidFill>
                  <a:srgbClr val="DDE1F5"/>
                </a:solidFill>
              </a:defRPr>
            </a:pPr>
            <a:r>
              <a:t>هدف مهندسی عالی: به حداقل رساندن تعداد دفعات نوشتن در آرایه در مقایسه با روش دوپیمایشی.</a:t>
            </a:r>
          </a:p>
        </p:txBody>
      </p:sp>
      <p:sp>
        <p:nvSpPr>
          <p:cNvPr id="9" name="Rounded Rectangle 8"/>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تله کپی در آرایه کمکی</a:t>
            </a:r>
          </a:p>
          <a:p>
            <a:pPr>
              <a:defRPr sz="1100">
                <a:solidFill>
                  <a:srgbClr val="DDE1F5"/>
                </a:solidFill>
              </a:defRPr>
            </a:pPr>
            <a:r>
              <a:t>ساخت یک آرایه موقت جدید و کپی غیرصفرها در آن، قید حیاتی In-Place مسئله را نقض کرده و حافظه O(n) مصرف می‌کند.</a:t>
            </a:r>
          </a:p>
        </p:txBody>
      </p:sp>
      <p:sp>
        <p:nvSpPr>
          <p:cNvPr id="10" name="Rounded Rectangle 9"/>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الگوی دو نشانگر هم‌جهت (Slow &amp; Fast)</a:t>
            </a:r>
          </a:p>
          <a:p>
            <a:pPr>
              <a:defRPr sz="1100">
                <a:solidFill>
                  <a:srgbClr val="DDE1F5"/>
                </a:solidFill>
              </a:defRPr>
            </a:pPr>
            <a:r>
              <a:t>یک نشانگر (Slow) موقعیت نوشتن غیرصفر بعدی را نگه می‌دارد و دیگری (Fast) آرایه را برای کشف غیرصفرها اسکن می‌کند.</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غیربهینه · MEMORY TRAP &amp; O(n²)  |  راه‌حل‌های اولیه و غیربهینه: تله حافظه کمکی و شیفت مکرر O(n²)</a:t>
            </a:r>
          </a:p>
          <a:p>
            <a:pPr>
              <a:defRPr sz="1400">
                <a:solidFill>
                  <a:srgbClr val="969EB4"/>
                </a:solidFill>
              </a:defRPr>
            </a:pPr>
            <a:r>
              <a:t>چرا ساخت آرایه جدید یا شیفت دادن دستی به ازای هر صفر رد می‌شود؟ | LeetCode #283</a:t>
            </a:r>
          </a:p>
        </p:txBody>
      </p:sp>
      <p:sp>
        <p:nvSpPr>
          <p:cNvPr id="4" name="Rounded Rectangle 3"/>
          <p:cNvSpPr/>
          <p:nvPr/>
        </p:nvSpPr>
        <p:spPr>
          <a:xfrm>
            <a:off x="731520" y="1463040"/>
            <a:ext cx="2503170" cy="13258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6C6C"/>
                </a:solidFill>
              </a:defRPr>
            </a:pPr>
            <a:r>
              <a:t>۱. نقض قید In-Place</a:t>
            </a:r>
          </a:p>
          <a:p>
            <a:pPr>
              <a:defRPr sz="950">
                <a:solidFill>
                  <a:srgbClr val="DDE1F5"/>
                </a:solidFill>
              </a:defRPr>
            </a:pPr>
            <a:r>
              <a:t>ساخت یک IntArray کمکی باعث مصرف حافظه O(n) می‌شود و خلاف صریح صورت مسئله است.</a:t>
            </a:r>
          </a:p>
        </p:txBody>
      </p:sp>
      <p:sp>
        <p:nvSpPr>
          <p:cNvPr id="5" name="Rounded Rectangle 4"/>
          <p:cNvSpPr/>
          <p:nvPr/>
        </p:nvSpPr>
        <p:spPr>
          <a:xfrm>
            <a:off x="3463289" y="1463040"/>
            <a:ext cx="2503170" cy="13258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6C6C"/>
                </a:solidFill>
              </a:defRPr>
            </a:pPr>
            <a:r>
              <a:t>۲. شیفت مکرر O(n²)</a:t>
            </a:r>
          </a:p>
          <a:p>
            <a:pPr>
              <a:defRPr sz="950">
                <a:solidFill>
                  <a:srgbClr val="DDE1F5"/>
                </a:solidFill>
              </a:defRPr>
            </a:pPr>
            <a:r>
              <a:t>اگر به ازای هر صفر بقیه عناصر را یک خانه شیفت دهیم، در بدترین حالت n*(n-1)/2 عملیات رخ می‌دهد.</a:t>
            </a:r>
          </a:p>
        </p:txBody>
      </p:sp>
      <p:sp>
        <p:nvSpPr>
          <p:cNvPr id="6" name="Rounded Rectangle 5"/>
          <p:cNvSpPr/>
          <p:nvPr/>
        </p:nvSpPr>
        <p:spPr>
          <a:xfrm>
            <a:off x="6195059" y="1463040"/>
            <a:ext cx="2503170" cy="13258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A84C"/>
                </a:solidFill>
              </a:defRPr>
            </a:pPr>
            <a:r>
              <a:t>۳. اتلاف چرخه‌های پردازنده</a:t>
            </a:r>
          </a:p>
          <a:p>
            <a:pPr>
              <a:defRPr sz="950">
                <a:solidFill>
                  <a:srgbClr val="DDE1F5"/>
                </a:solidFill>
              </a:defRPr>
            </a:pPr>
            <a:r>
              <a:t>شیفت دادن پیاپی خانه‌های حافظه هزاران بار نوشتن غیرضروری روی رم تولید می‌کند.</a:t>
            </a:r>
          </a:p>
        </p:txBody>
      </p:sp>
      <p:sp>
        <p:nvSpPr>
          <p:cNvPr id="7" name="Rounded Rectangle 6"/>
          <p:cNvSpPr/>
          <p:nvPr/>
        </p:nvSpPr>
        <p:spPr>
          <a:xfrm>
            <a:off x="8926830" y="1463040"/>
            <a:ext cx="2503170" cy="13258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ECCA3"/>
                </a:solidFill>
              </a:defRPr>
            </a:pPr>
            <a:r>
              <a:t>۴. راهکار بهینه: Fast &amp; Slow</a:t>
            </a:r>
          </a:p>
          <a:p>
            <a:pPr>
              <a:defRPr sz="950">
                <a:solidFill>
                  <a:srgbClr val="DDE1F5"/>
                </a:solidFill>
              </a:defRPr>
            </a:pPr>
            <a:r>
              <a:t>تفکیک نقش خواندن از نوشتن با دو نشانگر هم‌جهت و رسیدن به زمان خطی O(n) بدون حافظه کمکی.</a:t>
            </a:r>
          </a:p>
        </p:txBody>
      </p:sp>
      <p:sp>
        <p:nvSpPr>
          <p:cNvPr id="8" name="Rounded Rectangle 7"/>
          <p:cNvSpPr/>
          <p:nvPr/>
        </p:nvSpPr>
        <p:spPr>
          <a:xfrm>
            <a:off x="731520" y="2926080"/>
            <a:ext cx="10698480" cy="228600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000">
                <a:solidFill>
                  <a:srgbClr val="4ECCA3"/>
                </a:solidFill>
                <a:latin typeface="Consolas"/>
              </a:defRPr>
            </a:pPr>
            <a:r>
              <a:t>fun moveZeroesNaive(nums: IntArray): Unit {</a:t>
            </a:r>
          </a:p>
          <a:p>
            <a:pPr algn="l">
              <a:defRPr sz="1000">
                <a:solidFill>
                  <a:srgbClr val="4ECCA3"/>
                </a:solidFill>
                <a:latin typeface="Consolas"/>
              </a:defRPr>
            </a:pPr>
            <a:r>
              <a:t>    val size = nums.size // Time: O(1), Space: O(1)</a:t>
            </a:r>
          </a:p>
          <a:p>
            <a:pPr algn="l">
              <a:defRPr sz="1000">
                <a:solidFill>
                  <a:srgbClr val="4ECCA3"/>
                </a:solidFill>
                <a:latin typeface="Consolas"/>
              </a:defRPr>
            </a:pPr>
            <a:r>
              <a:t>    val temp = IntArray(size) // Time: O(n), Space: O(n) auxiliary — VIOLATES IN-PLACE!</a:t>
            </a:r>
          </a:p>
          <a:p>
            <a:pPr algn="l">
              <a:defRPr sz="1000">
                <a:solidFill>
                  <a:srgbClr val="4ECCA3"/>
                </a:solidFill>
                <a:latin typeface="Consolas"/>
              </a:defRPr>
            </a:pPr>
            <a:r>
              <a:t>    var writeIndex = 0 // Time: O(1), Space: O(1)</a:t>
            </a:r>
          </a:p>
          <a:p>
            <a:pPr algn="l">
              <a:defRPr sz="1000">
                <a:solidFill>
                  <a:srgbClr val="4ECCA3"/>
                </a:solidFill>
                <a:latin typeface="Consolas"/>
              </a:defRPr>
            </a:pPr>
            <a:r>
              <a:t>    for (i in 0 until size) { // O(n) iterations</a:t>
            </a:r>
          </a:p>
          <a:p>
            <a:pPr algn="l">
              <a:defRPr sz="1000">
                <a:solidFill>
                  <a:srgbClr val="4ECCA3"/>
                </a:solidFill>
                <a:latin typeface="Consolas"/>
              </a:defRPr>
            </a:pPr>
            <a:r>
              <a:t>        if (nums[i] != 0) { // Time: O(1)</a:t>
            </a:r>
          </a:p>
          <a:p>
            <a:pPr algn="l">
              <a:defRPr sz="1000">
                <a:solidFill>
                  <a:srgbClr val="4ECCA3"/>
                </a:solidFill>
                <a:latin typeface="Consolas"/>
              </a:defRPr>
            </a:pPr>
            <a:r>
              <a:t>            temp[writeIndex++] = nums[i] // Time: O(1)</a:t>
            </a:r>
          </a:p>
          <a:p>
            <a:pPr algn="l">
              <a:defRPr sz="1000">
                <a:solidFill>
                  <a:srgbClr val="4ECCA3"/>
                </a:solidFill>
                <a:latin typeface="Consolas"/>
              </a:defRPr>
            </a:pPr>
            <a:r>
              <a:t>        }</a:t>
            </a:r>
          </a:p>
          <a:p>
            <a:pPr algn="l">
              <a:defRPr sz="1000">
                <a:solidFill>
                  <a:srgbClr val="4ECCA3"/>
                </a:solidFill>
                <a:latin typeface="Consolas"/>
              </a:defRPr>
            </a:pPr>
            <a:r>
              <a:t>    }</a:t>
            </a:r>
          </a:p>
          <a:p>
            <a:pPr algn="l">
              <a:defRPr sz="1000">
                <a:solidFill>
                  <a:srgbClr val="4ECCA3"/>
                </a:solidFill>
                <a:latin typeface="Consolas"/>
              </a:defRPr>
            </a:pPr>
            <a:r>
              <a:t>    for (i in 0 until size) { // O(n) copy-back iterations</a:t>
            </a:r>
          </a:p>
          <a:p>
            <a:pPr algn="l">
              <a:defRPr sz="1000">
                <a:solidFill>
                  <a:srgbClr val="4ECCA3"/>
                </a:solidFill>
                <a:latin typeface="Consolas"/>
              </a:defRPr>
            </a:pPr>
            <a:r>
              <a:t>        nums[i] = temp[i] // Time: O(1)</a:t>
            </a:r>
          </a:p>
          <a:p>
            <a:pPr algn="l">
              <a:defRPr sz="1000">
                <a:solidFill>
                  <a:srgbClr val="4ECCA3"/>
                </a:solidFill>
                <a:latin typeface="Consolas"/>
              </a:defRPr>
            </a:pPr>
            <a:r>
              <a:t>    }</a:t>
            </a:r>
          </a:p>
          <a:p>
            <a:pPr algn="l">
              <a:defRPr sz="1000">
                <a:solidFill>
                  <a:srgbClr val="4ECCA3"/>
                </a:solidFill>
                <a:latin typeface="Consolas"/>
              </a:defRPr>
            </a:pPr>
            <a:r>
              <a:t>}</a:t>
            </a:r>
          </a:p>
          <a:p>
            <a:pPr algn="l">
              <a:defRPr sz="1000">
                <a:solidFill>
                  <a:srgbClr val="4ECCA3"/>
                </a:solidFill>
                <a:latin typeface="Consolas"/>
              </a:defRPr>
            </a:pPr>
            <a:r>
              <a:t>// Overall Time: O(n) | Auxiliary Space: O(n) (FAILED CONSTRAINT) | Overall Space: 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تریس آنالوگ · SLOW &amp; FAST INTUITION  |  تحلیل آنالوگ روی کاغذ: تریس الگوریتم دو نشانگر خواندن و نوشتن</a:t>
            </a:r>
          </a:p>
          <a:p>
            <a:pPr>
              <a:defRPr sz="1400">
                <a:solidFill>
                  <a:srgbClr val="969EB4"/>
                </a:solidFill>
              </a:defRPr>
            </a:pPr>
            <a:r>
              <a:t>ردیابی دستی روی آرایه نمونه nums = [0, 1, 0, 3, 12] با دو نشانگر slow و fast</a:t>
            </a:r>
          </a:p>
        </p:txBody>
      </p:sp>
      <p:sp>
        <p:nvSpPr>
          <p:cNvPr id="4" name="Rounded Rectangle 3"/>
          <p:cNvSpPr/>
          <p:nvPr/>
        </p:nvSpPr>
        <p:spPr>
          <a:xfrm>
            <a:off x="731520" y="1463040"/>
            <a:ext cx="523494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عنصر جاری صفر است: nums[fast] == 0</a:t>
            </a:r>
          </a:p>
          <a:p>
            <a:pPr>
              <a:defRPr sz="1100">
                <a:solidFill>
                  <a:srgbClr val="DDE1F5"/>
                </a:solidFill>
              </a:defRPr>
            </a:pPr>
            <a:r>
              <a:t>نشانگر fast جلو می‌رود تا غیرصفر بعدی را بیابد؛ slow در جایگاه خالی متوقف می‌ماند.</a:t>
            </a:r>
          </a:p>
        </p:txBody>
      </p:sp>
      <p:sp>
        <p:nvSpPr>
          <p:cNvPr id="5" name="Rounded Rectangle 4"/>
          <p:cNvSpPr/>
          <p:nvPr/>
        </p:nvSpPr>
        <p:spPr>
          <a:xfrm>
            <a:off x="6195059" y="1463040"/>
            <a:ext cx="523494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عنصر غیرصفر است: nums[fast] != 0</a:t>
            </a:r>
          </a:p>
          <a:p>
            <a:pPr>
              <a:defRPr sz="1100">
                <a:solidFill>
                  <a:srgbClr val="DDE1F5"/>
                </a:solidFill>
              </a:defRPr>
            </a:pPr>
            <a:r>
              <a:t>جابجایی nums[slow] با nums[fast] و سپس جلو رفتن مرز غیرصفرها (slow++).</a:t>
            </a:r>
          </a:p>
        </p:txBody>
      </p:sp>
      <p:sp>
        <p:nvSpPr>
          <p:cNvPr id="6" name="TextBox 5"/>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گام ۱: fast=0 (0) ➔ مقدار صفر است؛ فقط fast++ جلو می‌رود (slow=0).</a:t>
            </a:r>
          </a:p>
          <a:p>
            <a:pPr>
              <a:defRPr sz="1300">
                <a:solidFill>
                  <a:srgbClr val="DDE1F5"/>
                </a:solidFill>
              </a:defRPr>
            </a:pPr>
            <a:r>
              <a:t>• گام ۲: fast=1 (1) ➔ غیرصفر است! جابجایی nums[0] با nums[1] ➔ آرایه: [1, 0, 0, 3, 12]، سپس slow=1 و fast=2.</a:t>
            </a:r>
          </a:p>
          <a:p>
            <a:pPr>
              <a:defRPr sz="1300">
                <a:solidFill>
                  <a:srgbClr val="DDE1F5"/>
                </a:solidFill>
              </a:defRPr>
            </a:pPr>
            <a:r>
              <a:t>• گام ۳: fast=2 (0) ➔ صفر است؛ فقط fast++ جلو می‌رود (fast=3).</a:t>
            </a:r>
          </a:p>
          <a:p>
            <a:pPr>
              <a:defRPr sz="1300">
                <a:solidFill>
                  <a:srgbClr val="DDE1F5"/>
                </a:solidFill>
              </a:defRPr>
            </a:pPr>
            <a:r>
              <a:t>• گام ۴: fast=3 (3) ➔ غیرصفر است! جابجایی nums[1] با nums[3] ➔ آرایه: [1, 3, 0, 0, 12]، سپس slow=2 و fast=4.</a:t>
            </a:r>
          </a:p>
          <a:p>
            <a:pPr>
              <a:defRPr sz="1300">
                <a:solidFill>
                  <a:srgbClr val="DDE1F5"/>
                </a:solidFill>
              </a:defRPr>
            </a:pPr>
            <a:r>
              <a:t>• گام ۵: fast=4 (12) ➔ غیرصفر است! جابجایی nums[2] با nums[4] ➔ آرایه نهایی: [1, 3, 12, 0, 0] 🎉</a:t>
            </a:r>
          </a:p>
        </p:txBody>
      </p:sp>
      <p:sp>
        <p:nvSpPr>
          <p:cNvPr id="7" name="Rounded Rectangle 6"/>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«اشاره‌گر slow همیشه مرز تفکیک غیرصفرها از صفرها را حفظ می‌کند و fast جوینده فعال داده‌های بعدی است.»</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KOTLIN  |  پیاده‌سازی تمیز در کاتلین: جابجایی بهینه با یک پیمایش (Single-Pass)</a:t>
            </a:r>
          </a:p>
          <a:p>
            <a:pPr>
              <a:defRPr sz="1400">
                <a:solidFill>
                  <a:srgbClr val="969EB4"/>
                </a:solidFill>
              </a:defRPr>
            </a:pPr>
            <a:r>
              <a:t>الگوریتم بهینه با زمان خطی O(n) و مصرف حافظه ثابت O(1) | LeetCode #283</a:t>
            </a:r>
          </a:p>
        </p:txBody>
      </p:sp>
      <p:sp>
        <p:nvSpPr>
          <p:cNvPr id="4" name="Rounded Rectangle 3"/>
          <p:cNvSpPr/>
          <p:nvPr/>
        </p:nvSpPr>
        <p:spPr>
          <a:xfrm>
            <a:off x="731520" y="1463040"/>
            <a:ext cx="10698480" cy="292608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moveZeroes(nums: IntArray): Unit {</a:t>
            </a:r>
          </a:p>
          <a:p>
            <a:pPr algn="l">
              <a:defRPr sz="1100">
                <a:solidFill>
                  <a:srgbClr val="4ECCA3"/>
                </a:solidFill>
                <a:latin typeface="Consolas"/>
              </a:defRPr>
            </a:pPr>
            <a:r>
              <a:t>    var slow = 0 // Time: O(1), Space: O(1)</a:t>
            </a:r>
          </a:p>
          <a:p>
            <a:pPr algn="l">
              <a:defRPr sz="1100">
                <a:solidFill>
                  <a:srgbClr val="4ECCA3"/>
                </a:solidFill>
                <a:latin typeface="Consolas"/>
              </a:defRPr>
            </a:pPr>
            <a:r>
              <a:t>    for (fast in nums.indices) { // O(n) iterations</a:t>
            </a:r>
          </a:p>
          <a:p>
            <a:pPr algn="l">
              <a:defRPr sz="1100">
                <a:solidFill>
                  <a:srgbClr val="4ECCA3"/>
                </a:solidFill>
                <a:latin typeface="Consolas"/>
              </a:defRPr>
            </a:pPr>
            <a:r>
              <a:t>        if (nums[fast] != 0) { // Time: O(1)</a:t>
            </a:r>
          </a:p>
          <a:p>
            <a:pPr algn="l">
              <a:defRPr sz="1100">
                <a:solidFill>
                  <a:srgbClr val="4ECCA3"/>
                </a:solidFill>
                <a:latin typeface="Consolas"/>
              </a:defRPr>
            </a:pPr>
            <a:r>
              <a:t>            if (slow != fast) { // Time: O(1) — avoids redundant self-swap</a:t>
            </a:r>
          </a:p>
          <a:p>
            <a:pPr algn="l">
              <a:defRPr sz="1100">
                <a:solidFill>
                  <a:srgbClr val="4ECCA3"/>
                </a:solidFill>
                <a:latin typeface="Consolas"/>
              </a:defRPr>
            </a:pPr>
            <a:r>
              <a:t>                val temp = nums[slow] // Time: O(1), Space: O(1)</a:t>
            </a:r>
          </a:p>
          <a:p>
            <a:pPr algn="l">
              <a:defRPr sz="1100">
                <a:solidFill>
                  <a:srgbClr val="4ECCA3"/>
                </a:solidFill>
                <a:latin typeface="Consolas"/>
              </a:defRPr>
            </a:pPr>
            <a:r>
              <a:t>                nums[slow] = nums[fast] // Time: O(1)</a:t>
            </a:r>
          </a:p>
          <a:p>
            <a:pPr algn="l">
              <a:defRPr sz="1100">
                <a:solidFill>
                  <a:srgbClr val="4ECCA3"/>
                </a:solidFill>
                <a:latin typeface="Consolas"/>
              </a:defRPr>
            </a:pPr>
            <a:r>
              <a:t>                nums[fast] = temp // Time: O(1)</a:t>
            </a:r>
          </a:p>
          <a:p>
            <a:pPr algn="l">
              <a:defRPr sz="1100">
                <a:solidFill>
                  <a:srgbClr val="4ECCA3"/>
                </a:solidFill>
                <a:latin typeface="Consolas"/>
              </a:defRPr>
            </a:pPr>
            <a:r>
              <a:t>            }</a:t>
            </a:r>
          </a:p>
          <a:p>
            <a:pPr algn="l">
              <a:defRPr sz="1100">
                <a:solidFill>
                  <a:srgbClr val="4ECCA3"/>
                </a:solidFill>
                <a:latin typeface="Consolas"/>
              </a:defRPr>
            </a:pPr>
            <a:r>
              <a:t>            slow++ // Time: O(1)</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a:t>
            </a:r>
          </a:p>
          <a:p>
            <a:pPr algn="l">
              <a:defRPr sz="1100">
                <a:solidFill>
                  <a:srgbClr val="4ECCA3"/>
                </a:solidFill>
                <a:latin typeface="Consolas"/>
              </a:defRPr>
            </a:pPr>
            <a:r>
              <a:t>// Overall Time: O(n) — single pass | Auxiliary Space: O(1) | Overall Space: O(1)</a:t>
            </a:r>
          </a:p>
        </p:txBody>
      </p:sp>
      <p:sp>
        <p:nvSpPr>
          <p:cNvPr id="5" name="TextBox 4"/>
          <p:cNvSpPr txBox="1"/>
          <p:nvPr/>
        </p:nvSpPr>
        <p:spPr>
          <a:xfrm>
            <a:off x="731520" y="4526280"/>
            <a:ext cx="10698480" cy="1463040"/>
          </a:xfrm>
          <a:prstGeom prst="rect">
            <a:avLst/>
          </a:prstGeom>
          <a:noFill/>
        </p:spPr>
        <p:txBody>
          <a:bodyPr wrap="square">
            <a:spAutoFit/>
          </a:bodyPr>
          <a:lstStyle/>
          <a:p>
            <a:pPr>
              <a:defRPr sz="1300">
                <a:solidFill>
                  <a:srgbClr val="DDE1F5"/>
                </a:solidFill>
              </a:defRPr>
            </a:pPr>
            <a:r>
              <a:t>• پیچیدگی زمانی خطی O(n): آرایه دقیقاً یک بار توسط fast اسکن می‌شود و حلقه n بار تکرار دارد.</a:t>
            </a:r>
          </a:p>
          <a:p>
            <a:pPr>
              <a:defRPr sz="1300">
                <a:solidFill>
                  <a:srgbClr val="DDE1F5"/>
                </a:solidFill>
              </a:defRPr>
            </a:pPr>
            <a:r>
              <a:t>• پیچیدگی فضایی O(1): متغیرهای slow و fast و temp همگی مقادیر ابتدایی روی استک هستند و هیچ هیپی اشغال نمی‌شود.</a:t>
            </a:r>
          </a:p>
          <a:p>
            <a:pPr>
              <a:defRPr sz="1300">
                <a:solidFill>
                  <a:srgbClr val="DDE1F5"/>
                </a:solidFill>
              </a:defRPr>
            </a:pPr>
            <a:r>
              <a:t>• بهینه‌سازی عدم خودجابجایی (slow != fast): اگر آرایه با اعداد غیرصفر شروع شود، هیچ swap زائد با خودش رخ نمی‌دهد.</a:t>
            </a:r>
          </a:p>
          <a:p>
            <a:pPr>
              <a:defRPr sz="1300">
                <a:solidFill>
                  <a:srgbClr val="DDE1F5"/>
                </a:solidFill>
              </a:defRPr>
            </a:pPr>
            <a:r>
              <a:t>• تضمین حفظ ترتیب: چون پیمایش از چپ به راست است، ترتیب ورود عناصر غیرصفر به موقعیت slow حفظ می‌شود.</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تعاملی · ZERO SHIFTER VISUALIZER  |  شبیه‌ساز تعاملی و گام‌به‌گام: هدایت صفرها به انتها</a:t>
            </a:r>
          </a:p>
          <a:p>
            <a:pPr>
              <a:defRPr sz="1400">
                <a:solidFill>
                  <a:srgbClr val="969EB4"/>
                </a:solidFill>
              </a:defRPr>
            </a:pPr>
            <a:r>
              <a:t>نمایش وضعیت آرایه در هر تکرار روی نمونه [0, 1, 0, 3, 12]  |  LeetCode #283</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گام ۱: fast=0 (مقدار ۰)</a:t>
            </a:r>
          </a:p>
          <a:p>
            <a:pPr>
              <a:defRPr sz="1100">
                <a:solidFill>
                  <a:srgbClr val="DDE1F5"/>
                </a:solidFill>
              </a:defRPr>
            </a:pPr>
            <a:r>
              <a:t>توقف slow در اندیس ۰ | fast جلو می‌رود | آرایه دست‌نخورده: [0, 1, 0, 3, 12]</a:t>
            </a:r>
          </a:p>
        </p:txBody>
      </p:sp>
      <p:sp>
        <p:nvSpPr>
          <p:cNvPr id="5" name="Rounded Rectangle 4"/>
          <p:cNvSpPr/>
          <p:nvPr/>
        </p:nvSpPr>
        <p:spPr>
          <a:xfrm>
            <a:off x="3463289"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گام ۲: fast=1 (مقدار ۱)</a:t>
            </a:r>
          </a:p>
          <a:p>
            <a:pPr>
              <a:defRPr sz="1100">
                <a:solidFill>
                  <a:srgbClr val="DDE1F5"/>
                </a:solidFill>
              </a:defRPr>
            </a:pPr>
            <a:r>
              <a:t>غیرصفر کشف شد! Swap با اندیس ۰ ➔ آرایه: [1, 0, 0, 3, 12] | slow=1</a:t>
            </a:r>
          </a:p>
        </p:txBody>
      </p:sp>
      <p:sp>
        <p:nvSpPr>
          <p:cNvPr id="6" name="Rounded Rectangle 5"/>
          <p:cNvSpPr/>
          <p:nvPr/>
        </p:nvSpPr>
        <p:spPr>
          <a:xfrm>
            <a:off x="619505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گام ۳ و ۴: fast=2, 3</a:t>
            </a:r>
          </a:p>
          <a:p>
            <a:pPr>
              <a:defRPr sz="1100">
                <a:solidFill>
                  <a:srgbClr val="DDE1F5"/>
                </a:solidFill>
              </a:defRPr>
            </a:pPr>
            <a:r>
              <a:t>مقدار ۰ رد شد؛ مقدار ۳ با اندیس ۱ جابجا شد ➔ آرایه: [1, 3, 0, 0, 12] | slow=2</a:t>
            </a:r>
          </a:p>
        </p:txBody>
      </p:sp>
      <p:sp>
        <p:nvSpPr>
          <p:cNvPr id="7" name="Rounded Rectangle 6"/>
          <p:cNvSpPr/>
          <p:nvPr/>
        </p:nvSpPr>
        <p:spPr>
          <a:xfrm>
            <a:off x="8926830"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گام ۵: fast=4 (مقدار ۱۲)</a:t>
            </a:r>
          </a:p>
          <a:p>
            <a:pPr>
              <a:defRPr sz="1100">
                <a:solidFill>
                  <a:srgbClr val="DDE1F5"/>
                </a:solidFill>
              </a:defRPr>
            </a:pPr>
            <a:r>
              <a:t>مقدار ۱۲ با اندیس ۲ جابجا شد ➔ آرایه نهایی: [1, 3, 12, 0, 0] 🎉</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پوشش کامل Edge Caseها: آرایه بدون صفر (بدون swap)، آرایه تماماً صفر (بدون جابجایی)، و آرایه تک‌عنصری.</a:t>
            </a:r>
          </a:p>
          <a:p>
            <a:pPr>
              <a:defRPr sz="1300">
                <a:solidFill>
                  <a:srgbClr val="DDE1F5"/>
                </a:solidFill>
              </a:defRPr>
            </a:pPr>
            <a:r>
              <a:t>• برتری نسبت به روش بازنویسی صفرها: روش جابجایی (Swap) نیازی به حلقه دوم برای نوشتن صفرها در انتهای آرایه ندارد.</a:t>
            </a:r>
          </a:p>
          <a:p>
            <a:pPr>
              <a:defRPr sz="1300">
                <a:solidFill>
                  <a:srgbClr val="DDE1F5"/>
                </a:solidFill>
              </a:defRPr>
            </a:pPr>
            <a:r>
              <a:t>• تکامل تفکر: یادگیری این الگو سنگ‌بنای مسائل حذف عناصر درجا (مانند Remove Duplicates) است.</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«الگوی Read/Write Pointers پایه و اساس بسیاری از مسائل پالایش داده و فیلترهای درون‌حافظه‌ای است.»</a:t>
            </a:r>
          </a:p>
        </p:txBody>
      </p:sp>
    </p:spTree>
  </p:cSld>
  <p:clrMapOvr>
    <a:masterClrMapping/>
  </p:clrMapOvr>
</p:sld>
</file>

<file path=ppt/slides/slide34.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7C8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7C8FF5"/>
                </a:solidFill>
              </a:defRPr>
            </a:pPr>
            <a:r>
              <a:t>⚡ مسئله ششم · EASY  |  مسئله ششم: زیردنباله بودن رشته (Is Subsequence — LeetCode #392)</a:t>
            </a:r>
          </a:p>
          <a:p>
            <a:pPr>
              <a:defRPr sz="1400">
                <a:solidFill>
                  <a:srgbClr val="969EB4"/>
                </a:solidFill>
              </a:defRPr>
            </a:pPr>
            <a:r>
              <a:t>بررسی تشکیل رشته s از کاراکترهای رشته t با حفظ ترتیب نسبی | LeetCode 75</a:t>
            </a:r>
          </a:p>
        </p:txBody>
      </p:sp>
      <p:sp>
        <p:nvSpPr>
          <p:cNvPr id="5" name="Rounded Rectangle 4"/>
          <p:cNvSpPr/>
          <p:nvPr/>
        </p:nvSpPr>
        <p:spPr>
          <a:xfrm>
            <a:off x="731520" y="1463040"/>
            <a:ext cx="2503170" cy="2011680"/>
          </a:xfrm>
          <a:prstGeom prst="roundRect">
            <a:avLst/>
          </a:prstGeom>
          <a:solidFill>
            <a:srgbClr val="14142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صورت مسئله و تعریف</a:t>
            </a:r>
          </a:p>
          <a:p>
            <a:pPr>
              <a:defRPr sz="1100">
                <a:solidFill>
                  <a:srgbClr val="DDE1F5"/>
                </a:solidFill>
              </a:defRPr>
            </a:pPr>
            <a:r>
              <a:t>بررسی اینکه آیا s زیردنباله‌ای از t است یا خیر (حذف صفر یا چند کاراکتر بدون تغییر ترتیب بقیه).</a:t>
            </a:r>
          </a:p>
        </p:txBody>
      </p:sp>
      <p:sp>
        <p:nvSpPr>
          <p:cNvPr id="6" name="Rounded Rectangle 5"/>
          <p:cNvSpPr/>
          <p:nvPr/>
        </p:nvSpPr>
        <p:spPr>
          <a:xfrm>
            <a:off x="3463289" y="1463040"/>
            <a:ext cx="2503170" cy="2011680"/>
          </a:xfrm>
          <a:prstGeom prst="roundRect">
            <a:avLst/>
          </a:prstGeom>
          <a:solidFill>
            <a:srgbClr val="14142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تفاوت با Substring</a:t>
            </a:r>
          </a:p>
          <a:p>
            <a:pPr>
              <a:defRPr sz="1100">
                <a:solidFill>
                  <a:srgbClr val="DDE1F5"/>
                </a:solidFill>
              </a:defRPr>
            </a:pPr>
            <a:r>
              <a:t>در زیررشته کاراکترها باید کاملاً پیوسته باشند؛ اما در زیردنباله، وجود فاصله بین حروف مجاز است.</a:t>
            </a:r>
          </a:p>
        </p:txBody>
      </p:sp>
      <p:sp>
        <p:nvSpPr>
          <p:cNvPr id="7" name="Rounded Rectangle 6"/>
          <p:cNvSpPr/>
          <p:nvPr/>
        </p:nvSpPr>
        <p:spPr>
          <a:xfrm>
            <a:off x="6195059" y="1463040"/>
            <a:ext cx="2503170" cy="2011680"/>
          </a:xfrm>
          <a:prstGeom prst="roundRect">
            <a:avLst/>
          </a:prstGeom>
          <a:solidFill>
            <a:srgbClr val="141428"/>
          </a:solidFill>
          <a:ln w="2794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مقیاس ورودی (|t| ≤ 10⁴)</a:t>
            </a:r>
          </a:p>
          <a:p>
            <a:pPr>
              <a:defRPr sz="1100">
                <a:solidFill>
                  <a:srgbClr val="DDE1F5"/>
                </a:solidFill>
              </a:defRPr>
            </a:pPr>
            <a:r>
              <a:t>طول t تا ۱۰ هزار است؛ الگوریتم باید حداکثر در زمان خطی O(|t|) پاسخ قطعی بدهد.</a:t>
            </a:r>
          </a:p>
        </p:txBody>
      </p:sp>
      <p:sp>
        <p:nvSpPr>
          <p:cNvPr id="8" name="Rounded Rectangle 7"/>
          <p:cNvSpPr/>
          <p:nvPr/>
        </p:nvSpPr>
        <p:spPr>
          <a:xfrm>
            <a:off x="8926830" y="1463040"/>
            <a:ext cx="2503170" cy="2011680"/>
          </a:xfrm>
          <a:prstGeom prst="roundRect">
            <a:avLst/>
          </a:prstGeom>
          <a:solidFill>
            <a:srgbClr val="141428"/>
          </a:solidFill>
          <a:ln w="279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۴. چالش مقیاس بالا (Follow-up)</a:t>
            </a:r>
          </a:p>
          <a:p>
            <a:pPr>
              <a:defRPr sz="1100">
                <a:solidFill>
                  <a:srgbClr val="DDE1F5"/>
                </a:solidFill>
              </a:defRPr>
            </a:pPr>
            <a:r>
              <a:t>اگر یک میلیارد رشته s مختلف برای یک متن t وارد سیستم شوند، چه بهینه‌سازی لازم است؟</a:t>
            </a:r>
          </a:p>
        </p:txBody>
      </p:sp>
      <p:sp>
        <p:nvSpPr>
          <p:cNvPr id="9" name="Rounded Rectangle 8"/>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تولید تمام زیردنباله‌ها (Brute Force)</a:t>
            </a:r>
          </a:p>
          <a:p>
            <a:pPr>
              <a:defRPr sz="1100">
                <a:solidFill>
                  <a:srgbClr val="DDE1F5"/>
                </a:solidFill>
              </a:defRPr>
            </a:pPr>
            <a:r>
              <a:t>تولید تمام ۲ به توان |t| حالت ممکن و جستجوی s در میان آن‌ها که انفجار نمایی O(2^|t|) و خطای قطعی TLE دارد.</a:t>
            </a:r>
          </a:p>
        </p:txBody>
      </p:sp>
      <p:sp>
        <p:nvSpPr>
          <p:cNvPr id="10" name="Rounded Rectangle 9"/>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تطابق حریصانه با دو نشانگر مستقل</a:t>
            </a:r>
          </a:p>
          <a:p>
            <a:pPr>
              <a:defRPr sz="1100">
                <a:solidFill>
                  <a:srgbClr val="DDE1F5"/>
                </a:solidFill>
              </a:defRPr>
            </a:pPr>
            <a:r>
              <a:t>یک نشانگر روی رشته s و دیگری روی رشته t؛ هر زمان کاراکتر منطبق دیدیم، نشانگر s را جلو می‌بریم (زمان O(|t|)).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غیربهینه · O(2ⁿ) EXPONENTIAL  |  راه‌حل ساده و غیربهینه: تولید تمام زیردنباله‌ها یا جستجوی بازگشتی O(2ⁿ)</a:t>
            </a:r>
          </a:p>
          <a:p>
            <a:pPr>
              <a:defRPr sz="1400">
                <a:solidFill>
                  <a:srgbClr val="969EB4"/>
                </a:solidFill>
              </a:defRPr>
            </a:pPr>
            <a:r>
              <a:t>چرا تولید تمام حالات یا انشعاب‌های بازگشتی بدون جهت به شکست می‌انجامد؟ | LeetCode #392</a:t>
            </a:r>
          </a:p>
        </p:txBody>
      </p:sp>
      <p:sp>
        <p:nvSpPr>
          <p:cNvPr id="4" name="Rounded Rectangle 3"/>
          <p:cNvSpPr/>
          <p:nvPr/>
        </p:nvSpPr>
        <p:spPr>
          <a:xfrm>
            <a:off x="731520" y="1463040"/>
            <a:ext cx="2503170" cy="13258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6C6C"/>
                </a:solidFill>
              </a:defRPr>
            </a:pPr>
            <a:r>
              <a:t>۱. انفجار نمایی O(2ⁿ)</a:t>
            </a:r>
          </a:p>
          <a:p>
            <a:pPr>
              <a:defRPr sz="950">
                <a:solidFill>
                  <a:srgbClr val="DDE1F5"/>
                </a:solidFill>
              </a:defRPr>
            </a:pPr>
            <a:r>
              <a:t>رشته‌ای به طول N دارای 2^N زیردنباله است؛ برای N=10,000 این عدد نجومی و غیرقابل محاسبه است.</a:t>
            </a:r>
          </a:p>
        </p:txBody>
      </p:sp>
      <p:sp>
        <p:nvSpPr>
          <p:cNvPr id="5" name="Rounded Rectangle 4"/>
          <p:cNvSpPr/>
          <p:nvPr/>
        </p:nvSpPr>
        <p:spPr>
          <a:xfrm>
            <a:off x="3463289" y="1463040"/>
            <a:ext cx="2503170" cy="13258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6C6C"/>
                </a:solidFill>
              </a:defRPr>
            </a:pPr>
            <a:r>
              <a:t>۲. خطای قطعی TLE و MLE</a:t>
            </a:r>
          </a:p>
          <a:p>
            <a:pPr>
              <a:defRPr sz="950">
                <a:solidFill>
                  <a:srgbClr val="DDE1F5"/>
                </a:solidFill>
              </a:defRPr>
            </a:pPr>
            <a:r>
              <a:t>انباشت فریم‌های بازگشتی روی Stack حافظه را پر کرده و زمان اجرا سر به فلک می‌کشد.</a:t>
            </a:r>
          </a:p>
        </p:txBody>
      </p:sp>
      <p:sp>
        <p:nvSpPr>
          <p:cNvPr id="6" name="Rounded Rectangle 5"/>
          <p:cNvSpPr/>
          <p:nvPr/>
        </p:nvSpPr>
        <p:spPr>
          <a:xfrm>
            <a:off x="6195059" y="1463040"/>
            <a:ext cx="2503170" cy="13258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A84C"/>
                </a:solidFill>
              </a:defRPr>
            </a:pPr>
            <a:r>
              <a:t>۳. نادیده گرفتن تطابق حریصانه</a:t>
            </a:r>
          </a:p>
          <a:p>
            <a:pPr>
              <a:defRPr sz="950">
                <a:solidFill>
                  <a:srgbClr val="DDE1F5"/>
                </a:solidFill>
              </a:defRPr>
            </a:pPr>
            <a:r>
              <a:t>اولین کاراکتر منطبق در t همواره بهترین انتخاب است و نیازی به امتحان شاخه‌های دیگر نیست.</a:t>
            </a:r>
          </a:p>
        </p:txBody>
      </p:sp>
      <p:sp>
        <p:nvSpPr>
          <p:cNvPr id="7" name="Rounded Rectangle 6"/>
          <p:cNvSpPr/>
          <p:nvPr/>
        </p:nvSpPr>
        <p:spPr>
          <a:xfrm>
            <a:off x="8926830" y="1463040"/>
            <a:ext cx="2503170" cy="13258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ECCA3"/>
                </a:solidFill>
              </a:defRPr>
            </a:pPr>
            <a:r>
              <a:t>۴. راهکار بهینه: اسکن خطی</a:t>
            </a:r>
          </a:p>
          <a:p>
            <a:pPr>
              <a:defRPr sz="950">
                <a:solidFill>
                  <a:srgbClr val="DDE1F5"/>
                </a:solidFill>
              </a:defRPr>
            </a:pPr>
            <a:r>
              <a:t>با دو نشانگر ساده در یک دور پیمایش متن t، تطابق کاراکترها در زمان O(|t|) قطعی می‌شود.</a:t>
            </a:r>
          </a:p>
        </p:txBody>
      </p:sp>
      <p:sp>
        <p:nvSpPr>
          <p:cNvPr id="8" name="Rounded Rectangle 7"/>
          <p:cNvSpPr/>
          <p:nvPr/>
        </p:nvSpPr>
        <p:spPr>
          <a:xfrm>
            <a:off x="731520" y="2926080"/>
            <a:ext cx="10698480" cy="228600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000">
                <a:solidFill>
                  <a:srgbClr val="4ECCA3"/>
                </a:solidFill>
                <a:latin typeface="Consolas"/>
              </a:defRPr>
            </a:pPr>
            <a:r>
              <a:t>fun isSubsequenceNaive(s: String, t: String): Boolean {</a:t>
            </a:r>
          </a:p>
          <a:p>
            <a:pPr algn="l">
              <a:defRPr sz="1000">
                <a:solidFill>
                  <a:srgbClr val="4ECCA3"/>
                </a:solidFill>
                <a:latin typeface="Consolas"/>
              </a:defRPr>
            </a:pPr>
            <a:r>
              <a:t>    fun generateAll(idx: Int, cur: StringBuilder): Boolean { // Recursive O(2^|t|)</a:t>
            </a:r>
          </a:p>
          <a:p>
            <a:pPr algn="l">
              <a:defRPr sz="1000">
                <a:solidFill>
                  <a:srgbClr val="4ECCA3"/>
                </a:solidFill>
                <a:latin typeface="Consolas"/>
              </a:defRPr>
            </a:pPr>
            <a:r>
              <a:t>        if (cur.toString() == s) return true // Time: O(|s|)</a:t>
            </a:r>
          </a:p>
          <a:p>
            <a:pPr algn="l">
              <a:defRPr sz="1000">
                <a:solidFill>
                  <a:srgbClr val="4ECCA3"/>
                </a:solidFill>
                <a:latin typeface="Consolas"/>
              </a:defRPr>
            </a:pPr>
            <a:r>
              <a:t>        if (idx == t.length) return false // Time: O(1)</a:t>
            </a:r>
          </a:p>
          <a:p>
            <a:pPr algn="l">
              <a:defRPr sz="1000">
                <a:solidFill>
                  <a:srgbClr val="4ECCA3"/>
                </a:solidFill>
                <a:latin typeface="Consolas"/>
              </a:defRPr>
            </a:pPr>
            <a:r>
              <a:t>        if (generateAll(idx + 1, cur.append(t[idx]))) return true // Branch include</a:t>
            </a:r>
          </a:p>
          <a:p>
            <a:pPr algn="l">
              <a:defRPr sz="1000">
                <a:solidFill>
                  <a:srgbClr val="4ECCA3"/>
                </a:solidFill>
                <a:latin typeface="Consolas"/>
              </a:defRPr>
            </a:pPr>
            <a:r>
              <a:t>        cur.deleteCharAt(cur.length - 1) // Backtrack</a:t>
            </a:r>
          </a:p>
          <a:p>
            <a:pPr algn="l">
              <a:defRPr sz="1000">
                <a:solidFill>
                  <a:srgbClr val="4ECCA3"/>
                </a:solidFill>
                <a:latin typeface="Consolas"/>
              </a:defRPr>
            </a:pPr>
            <a:r>
              <a:t>        return generateAll(idx + 1, cur) // Branch exclude</a:t>
            </a:r>
          </a:p>
          <a:p>
            <a:pPr algn="l">
              <a:defRPr sz="1000">
                <a:solidFill>
                  <a:srgbClr val="4ECCA3"/>
                </a:solidFill>
                <a:latin typeface="Consolas"/>
              </a:defRPr>
            </a:pPr>
            <a:r>
              <a:t>    }</a:t>
            </a:r>
          </a:p>
          <a:p>
            <a:pPr algn="l">
              <a:defRPr sz="1000">
                <a:solidFill>
                  <a:srgbClr val="4ECCA3"/>
                </a:solidFill>
                <a:latin typeface="Consolas"/>
              </a:defRPr>
            </a:pPr>
            <a:r>
              <a:t>    return generateAll(0, StringBuilder()) // Time: O(2^|t|) TLE!</a:t>
            </a:r>
          </a:p>
          <a:p>
            <a:pPr algn="l">
              <a:defRPr sz="1000">
                <a:solidFill>
                  <a:srgbClr val="4ECCA3"/>
                </a:solidFill>
                <a:latin typeface="Consolas"/>
              </a:defRPr>
            </a:pPr>
            <a:r>
              <a:t>}</a:t>
            </a:r>
          </a:p>
          <a:p>
            <a:pPr algn="l">
              <a:defRPr sz="1000">
                <a:solidFill>
                  <a:srgbClr val="4ECCA3"/>
                </a:solidFill>
                <a:latin typeface="Consolas"/>
              </a:defRPr>
            </a:pPr>
            <a:r>
              <a:t>// Overall Time: O(2^|t|) (Massive TLE) | Auxiliary Space: O(|t|) recursion stack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تریس آنالوگ · TWO STRINGS INTUITION  |  تحلیل آنالوگ روی کاغذ: تریس دو نشانگر مستقل روی دو رشته</a:t>
            </a:r>
          </a:p>
          <a:p>
            <a:pPr>
              <a:defRPr sz="1400">
                <a:solidFill>
                  <a:srgbClr val="969EB4"/>
                </a:solidFill>
              </a:defRPr>
            </a:pPr>
            <a:r>
              <a:t>ردیابی تطابق کاراکترها روی رشته هدف s = "abc" و متن مرجع t = "ahbgdc"</a:t>
            </a:r>
          </a:p>
        </p:txBody>
      </p:sp>
      <p:sp>
        <p:nvSpPr>
          <p:cNvPr id="4" name="Rounded Rectangle 3"/>
          <p:cNvSpPr/>
          <p:nvPr/>
        </p:nvSpPr>
        <p:spPr>
          <a:xfrm>
            <a:off x="731520" y="1463040"/>
            <a:ext cx="3413759"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کاراکترها برابرند: s[pS] == t[pT]</a:t>
            </a:r>
          </a:p>
          <a:p>
            <a:pPr>
              <a:defRPr sz="1100">
                <a:solidFill>
                  <a:srgbClr val="DDE1F5"/>
                </a:solidFill>
              </a:defRPr>
            </a:pPr>
            <a:r>
              <a:t>صید یک حرف هدف! جلو رفتن هر دو نشانگر: pS++ (برای حرف بعدی) و pT++.</a:t>
            </a:r>
          </a:p>
        </p:txBody>
      </p:sp>
      <p:sp>
        <p:nvSpPr>
          <p:cNvPr id="5" name="Rounded Rectangle 4"/>
          <p:cNvSpPr/>
          <p:nvPr/>
        </p:nvSpPr>
        <p:spPr>
          <a:xfrm>
            <a:off x="4373880" y="1463040"/>
            <a:ext cx="3413759"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کاراکترها نابرابرند: s[pS] != t[pT]</a:t>
            </a:r>
          </a:p>
          <a:p>
            <a:pPr>
              <a:defRPr sz="1100">
                <a:solidFill>
                  <a:srgbClr val="DDE1F5"/>
                </a:solidFill>
              </a:defRPr>
            </a:pPr>
            <a:r>
              <a:t>این کاراکتر متن به کار نمی‌آید؛ فقط نشانگر متن به جلو می‌رود: pT++.</a:t>
            </a:r>
          </a:p>
        </p:txBody>
      </p:sp>
      <p:sp>
        <p:nvSpPr>
          <p:cNvPr id="6" name="Rounded Rectangle 5"/>
          <p:cNvSpPr/>
          <p:nvPr/>
        </p:nvSpPr>
        <p:spPr>
          <a:xfrm>
            <a:off x="8016239" y="1463040"/>
            <a:ext cx="3413759"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توقف زودهنگام: pS == s.length</a:t>
            </a:r>
          </a:p>
          <a:p>
            <a:pPr>
              <a:defRPr sz="1100">
                <a:solidFill>
                  <a:srgbClr val="DDE1F5"/>
                </a:solidFill>
              </a:defRPr>
            </a:pPr>
            <a:r>
              <a:t>تمام کاراکترهای هدف در متن یافت شدند ➔ بازگرداندن فوری true 🎉</a:t>
            </a:r>
          </a:p>
        </p:txBody>
      </p:sp>
      <p:sp>
        <p:nvSpPr>
          <p:cNvPr id="7" name="TextBox 6"/>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گام ۱: pS=0 (a), pT=0 (a) ➔ برابرند! صید حرف اول ➔ pS=1, pT=1.</a:t>
            </a:r>
          </a:p>
          <a:p>
            <a:pPr>
              <a:defRPr sz="1300">
                <a:solidFill>
                  <a:srgbClr val="DDE1F5"/>
                </a:solidFill>
              </a:defRPr>
            </a:pPr>
            <a:r>
              <a:t>• گام ۲: pS=1 (b), pT=1 (h) ➔ نابرابر؛ فقط متن پیش می‌رود ➔ pT=2.</a:t>
            </a:r>
          </a:p>
          <a:p>
            <a:pPr>
              <a:defRPr sz="1300">
                <a:solidFill>
                  <a:srgbClr val="DDE1F5"/>
                </a:solidFill>
              </a:defRPr>
            </a:pPr>
            <a:r>
              <a:t>• گام ۳: pS=1 (b), pT=2 (b) ➔ برابرند! صید حرف دوم ➔ pS=2, pT=3.</a:t>
            </a:r>
          </a:p>
          <a:p>
            <a:pPr>
              <a:defRPr sz="1300">
                <a:solidFill>
                  <a:srgbClr val="DDE1F5"/>
                </a:solidFill>
              </a:defRPr>
            </a:pPr>
            <a:r>
              <a:t>• گام ۴: pS=2 (c), pT=3 (g) و pT=4 (d) ➔ نابرابر؛ عبور از g و d ➔ pT=5.</a:t>
            </a:r>
          </a:p>
          <a:p>
            <a:pPr>
              <a:defRPr sz="1300">
                <a:solidFill>
                  <a:srgbClr val="DDE1F5"/>
                </a:solidFill>
              </a:defRPr>
            </a:pPr>
            <a:r>
              <a:t>• گام ۵: pS=2 (c), pT=5 (c) ➔ برابرند! صید حرف سوم ➔ pS=3 == s.length ➔ پایان با نتیجه true 🎉</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«انتخاب اولین رخداد هر کاراکتر در متن، بیشترین فضای ممکن را برای تطابق حروف باقی‌مانده حفظ می‌کند (Greedy Match).»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KOTLIN  |  پیاده‌سازی تمیز در کاتلین: تطابق ترتیبی با دو نشانگر</a:t>
            </a:r>
          </a:p>
          <a:p>
            <a:pPr>
              <a:defRPr sz="1400">
                <a:solidFill>
                  <a:srgbClr val="969EB4"/>
                </a:solidFill>
              </a:defRPr>
            </a:pPr>
            <a:r>
              <a:t>الگوریتم خطی با زمان O(|t|) و مصرف حافظه ثابت O(1) | LeetCode #392</a:t>
            </a:r>
          </a:p>
        </p:txBody>
      </p:sp>
      <p:sp>
        <p:nvSpPr>
          <p:cNvPr id="4" name="Rounded Rectangle 3"/>
          <p:cNvSpPr/>
          <p:nvPr/>
        </p:nvSpPr>
        <p:spPr>
          <a:xfrm>
            <a:off x="731520" y="1463040"/>
            <a:ext cx="10698480" cy="2843784"/>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isSubsequence(s: String, t: String): Boolean {</a:t>
            </a:r>
          </a:p>
          <a:p>
            <a:pPr algn="l">
              <a:defRPr sz="1100">
                <a:solidFill>
                  <a:srgbClr val="4ECCA3"/>
                </a:solidFill>
                <a:latin typeface="Consolas"/>
              </a:defRPr>
            </a:pPr>
            <a:r>
              <a:t>    var pointerS = 0 // Time: O(1), Space: O(1)</a:t>
            </a:r>
          </a:p>
          <a:p>
            <a:pPr algn="l">
              <a:defRPr sz="1100">
                <a:solidFill>
                  <a:srgbClr val="4ECCA3"/>
                </a:solidFill>
                <a:latin typeface="Consolas"/>
              </a:defRPr>
            </a:pPr>
            <a:r>
              <a:t>    var pointerT = 0 // Time: O(1), Space: O(1)</a:t>
            </a:r>
          </a:p>
          <a:p>
            <a:pPr algn="l">
              <a:defRPr sz="1100">
                <a:solidFill>
                  <a:srgbClr val="4ECCA3"/>
                </a:solidFill>
                <a:latin typeface="Consolas"/>
              </a:defRPr>
            </a:pPr>
            <a:r>
              <a:t>    while (pointerS &lt; s.length &amp;&amp; pointerT &lt; t.length) { // O(|t|) iterations max</a:t>
            </a:r>
          </a:p>
          <a:p>
            <a:pPr algn="l">
              <a:defRPr sz="1100">
                <a:solidFill>
                  <a:srgbClr val="4ECCA3"/>
                </a:solidFill>
                <a:latin typeface="Consolas"/>
              </a:defRPr>
            </a:pPr>
            <a:r>
              <a:t>        if (s[pointerS] == t[pointerT]) { // Time: O(1)</a:t>
            </a:r>
          </a:p>
          <a:p>
            <a:pPr algn="l">
              <a:defRPr sz="1100">
                <a:solidFill>
                  <a:srgbClr val="4ECCA3"/>
                </a:solidFill>
                <a:latin typeface="Consolas"/>
              </a:defRPr>
            </a:pPr>
            <a:r>
              <a:t>            pointerS++ // Time: O(1) — matched target char</a:t>
            </a:r>
          </a:p>
          <a:p>
            <a:pPr algn="l">
              <a:defRPr sz="1100">
                <a:solidFill>
                  <a:srgbClr val="4ECCA3"/>
                </a:solidFill>
                <a:latin typeface="Consolas"/>
              </a:defRPr>
            </a:pPr>
            <a:r>
              <a:t>        }</a:t>
            </a:r>
          </a:p>
          <a:p>
            <a:pPr algn="l">
              <a:defRPr sz="1100">
                <a:solidFill>
                  <a:srgbClr val="4ECCA3"/>
                </a:solidFill>
                <a:latin typeface="Consolas"/>
              </a:defRPr>
            </a:pPr>
            <a:r>
              <a:t>        pointerT++ // Time: O(1) — scan next character in source text</a:t>
            </a:r>
          </a:p>
          <a:p>
            <a:pPr algn="l">
              <a:defRPr sz="1100">
                <a:solidFill>
                  <a:srgbClr val="4ECCA3"/>
                </a:solidFill>
                <a:latin typeface="Consolas"/>
              </a:defRPr>
            </a:pPr>
            <a:r>
              <a:t>    }</a:t>
            </a:r>
          </a:p>
          <a:p>
            <a:pPr algn="l">
              <a:defRPr sz="1100">
                <a:solidFill>
                  <a:srgbClr val="4ECCA3"/>
                </a:solidFill>
                <a:latin typeface="Consolas"/>
              </a:defRPr>
            </a:pPr>
            <a:r>
              <a:t>    return pointerS == s.length // Time: O(1), Space: O(1)</a:t>
            </a:r>
          </a:p>
          <a:p>
            <a:pPr algn="l">
              <a:defRPr sz="1100">
                <a:solidFill>
                  <a:srgbClr val="4ECCA3"/>
                </a:solidFill>
                <a:latin typeface="Consolas"/>
              </a:defRPr>
            </a:pPr>
            <a:r>
              <a:t>}</a:t>
            </a:r>
          </a:p>
          <a:p>
            <a:pPr algn="l">
              <a:defRPr sz="1100">
                <a:solidFill>
                  <a:srgbClr val="4ECCA3"/>
                </a:solidFill>
                <a:latin typeface="Consolas"/>
              </a:defRPr>
            </a:pPr>
            <a:r>
              <a:t>// Overall Time: O(|t|) — single pass | Auxiliary Space: O(1) | Overall Space: O(1)</a:t>
            </a:r>
          </a:p>
        </p:txBody>
      </p:sp>
      <p:sp>
        <p:nvSpPr>
          <p:cNvPr id="5" name="TextBox 4"/>
          <p:cNvSpPr txBox="1"/>
          <p:nvPr/>
        </p:nvSpPr>
        <p:spPr>
          <a:xfrm>
            <a:off x="731520" y="4443984"/>
            <a:ext cx="10698480" cy="1463040"/>
          </a:xfrm>
          <a:prstGeom prst="rect">
            <a:avLst/>
          </a:prstGeom>
          <a:noFill/>
        </p:spPr>
        <p:txBody>
          <a:bodyPr wrap="square">
            <a:spAutoFit/>
          </a:bodyPr>
          <a:lstStyle/>
          <a:p>
            <a:pPr>
              <a:defRPr sz="1300">
                <a:solidFill>
                  <a:srgbClr val="DDE1F5"/>
                </a:solidFill>
              </a:defRPr>
            </a:pPr>
            <a:r>
              <a:t>• پیچیدگی زمانی خطی O(|t|): نشانگر pointerT در بدترین حالت یک بار تا پایان رشته t حرکت می‌کند.</a:t>
            </a:r>
          </a:p>
          <a:p>
            <a:pPr>
              <a:defRPr sz="1300">
                <a:solidFill>
                  <a:srgbClr val="DDE1F5"/>
                </a:solidFill>
              </a:defRPr>
            </a:pPr>
            <a:r>
              <a:t>• پیچیدگی فضایی O(1): تنها ۲ متغیر عددی ساده برای اندیس‌ها نگهداری می‌شود و هیچ رشته جدیدی تولید نمی‌شود.</a:t>
            </a:r>
          </a:p>
          <a:p>
            <a:pPr>
              <a:defRPr sz="1300">
                <a:solidFill>
                  <a:srgbClr val="DDE1F5"/>
                </a:solidFill>
              </a:defRPr>
            </a:pPr>
            <a:r>
              <a:t>• مدیریت خودکار موارد مرزی: اگر رشته s خالی باشد (s="")، شرط حلقه از ابتدا نقض شده و 0 == 0 فوراً true می‌دهد.</a:t>
            </a:r>
          </a:p>
          <a:p>
            <a:pPr>
              <a:defRPr sz="1300">
                <a:solidFill>
                  <a:srgbClr val="DDE1F5"/>
                </a:solidFill>
              </a:defRPr>
            </a:pPr>
            <a:r>
              <a:t>• پاسخ به سوال Follow-up: در صورت ۱ میلیارد کوئری، با پیش‌پردازش t در یک Map&lt;Char, List&lt;Int&gt;&gt; و باینری‌سرچ به O(|s| log |t|) می‌رسیم.</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تعاملی · SUBSEQUENCE VISUALIZER  |  شبیه‌ساز تعاملی و گام‌به‌گام: ردیابی تطابق زیردنباله</a:t>
            </a:r>
          </a:p>
          <a:p>
            <a:pPr>
              <a:defRPr sz="1400">
                <a:solidFill>
                  <a:srgbClr val="969EB4"/>
                </a:solidFill>
              </a:defRPr>
            </a:pPr>
            <a:r>
              <a:t>ردیابی تطابق s="abc" در دل t="ahbgdc" کاراکتر به کاراکتر  |  LeetCode #392</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گام ۱: تطابق a در اندیس ۰</a:t>
            </a:r>
          </a:p>
          <a:p>
            <a:pPr>
              <a:defRPr sz="1100">
                <a:solidFill>
                  <a:srgbClr val="DDE1F5"/>
                </a:solidFill>
              </a:defRPr>
            </a:pPr>
            <a:r>
              <a:t>کاراکتر اول یافت شد ➔ هر دو نشانگر جلو رفتند: pS=1 (b), pT=1 (h)</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گام ۲: عبور از h در اندیس ۱</a:t>
            </a:r>
          </a:p>
          <a:p>
            <a:pPr>
              <a:defRPr sz="1100">
                <a:solidFill>
                  <a:srgbClr val="DDE1F5"/>
                </a:solidFill>
              </a:defRPr>
            </a:pPr>
            <a:r>
              <a:t>نابرابری حروف ➔ فقط نشانگر متن جلو رفت: pS=1 (b), pT=2 (b)</a:t>
            </a:r>
          </a:p>
        </p:txBody>
      </p:sp>
      <p:sp>
        <p:nvSpPr>
          <p:cNvPr id="6" name="Rounded Rectangle 5"/>
          <p:cNvSpPr/>
          <p:nvPr/>
        </p:nvSpPr>
        <p:spPr>
          <a:xfrm>
            <a:off x="6195059"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گام ۳: تطابق b در اندیس ۲</a:t>
            </a:r>
          </a:p>
          <a:p>
            <a:pPr>
              <a:defRPr sz="1100">
                <a:solidFill>
                  <a:srgbClr val="DDE1F5"/>
                </a:solidFill>
              </a:defRPr>
            </a:pPr>
            <a:r>
              <a:t>کاراکتر دوم یافت شد ➔ هر دو نشانگر جلو رفتند: pS=2 (c), pT=3 (g)</a:t>
            </a:r>
          </a:p>
        </p:txBody>
      </p:sp>
      <p:sp>
        <p:nvSpPr>
          <p:cNvPr id="7" name="Rounded Rectangle 6"/>
          <p:cNvSpPr/>
          <p:nvPr/>
        </p:nvSpPr>
        <p:spPr>
          <a:xfrm>
            <a:off x="8926830"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گام ۴ و ۵: صید c در اندیس ۵</a:t>
            </a:r>
          </a:p>
          <a:p>
            <a:pPr>
              <a:defRPr sz="1100">
                <a:solidFill>
                  <a:srgbClr val="DDE1F5"/>
                </a:solidFill>
              </a:defRPr>
            </a:pPr>
            <a:r>
              <a:t>عبور از g و d و تطابق قطعی c ➔ pS=3 (طول رشته s) ➔ پایان با موفقیت 🎉</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تفاوت بنیادین الگو: در Move Zeroes دو نشانگر در یک آرایه با دو سرعت حرکت کردند؛ در اینجا هر نشانگر روی یک توالی مجزا است.</a:t>
            </a:r>
          </a:p>
          <a:p>
            <a:pPr>
              <a:defRPr sz="1300">
                <a:solidFill>
                  <a:srgbClr val="DDE1F5"/>
                </a:solidFill>
              </a:defRPr>
            </a:pPr>
            <a:r>
              <a:t>• عدم نیاز به Lookahead: الگوریتم نیازی به دانستن حروف بعدی ندارد و به صورت آنلاین (Streaming) نیز قابل اجراست.</a:t>
            </a:r>
          </a:p>
          <a:p>
            <a:pPr>
              <a:defRPr sz="1300">
                <a:solidFill>
                  <a:srgbClr val="DDE1F5"/>
                </a:solidFill>
              </a:defRPr>
            </a:pPr>
            <a:r>
              <a:t>• پوشش کامل تستی: رشته‌های خالی، رشته‌های بدون اشتراک، و رشته‌های کاملاً یکسان بدون شرط اضافه هندل می‌شوند.</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«پیمایش همزمان دو ساختار داده با دو نشانگر مستقل، دومین الگوی بنیادین خانواده Two Pointers است.»</a:t>
            </a:r>
          </a:p>
        </p:txBody>
      </p:sp>
    </p:spTree>
  </p:cSld>
  <p:clrMapOvr>
    <a:masterClrMapping/>
  </p:clrMapOvr>
</p:sld>
</file>

<file path=ppt/slides/slide39.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38BDF8"/>
                </a:solidFill>
              </a:defRPr>
            </a:pPr>
            <a:r>
              <a:t>🌊 مسئله هفتم · TWO POINTERS GREEDY  |  مسئله هفتم: ظرف با بیشترین آب (Container With Most Water — LeetCode #11)</a:t>
            </a:r>
          </a:p>
          <a:p>
            <a:pPr>
              <a:defRPr sz="1400">
                <a:solidFill>
                  <a:srgbClr val="969EB4"/>
                </a:solidFill>
              </a:defRPr>
            </a:pPr>
            <a:r>
              <a:t>یافتن دو خط عمودی با بیشترین حجم آب محصورشده | LeetCode 75</a:t>
            </a:r>
          </a:p>
        </p:txBody>
      </p:sp>
      <p:sp>
        <p:nvSpPr>
          <p:cNvPr id="5" name="Rounded Rectangle 4"/>
          <p:cNvSpPr/>
          <p:nvPr/>
        </p:nvSpPr>
        <p:spPr>
          <a:xfrm>
            <a:off x="731520" y="1463040"/>
            <a:ext cx="2503170" cy="2011680"/>
          </a:xfrm>
          <a:prstGeom prst="roundRect">
            <a:avLst/>
          </a:prstGeom>
          <a:solidFill>
            <a:srgbClr val="14142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عامل محدودکننده ارتفاع</a:t>
            </a:r>
          </a:p>
          <a:p>
            <a:pPr>
              <a:defRPr sz="1100">
                <a:solidFill>
                  <a:srgbClr val="DDE1F5"/>
                </a:solidFill>
              </a:defRPr>
            </a:pPr>
            <a:r>
              <a:t>آب از دیواره کوتاه‌تر سرریز می‌کند؛ ارتفاع موثر منحصراً با min(hL, hR) تعیین می‌شود.</a:t>
            </a:r>
          </a:p>
        </p:txBody>
      </p:sp>
      <p:sp>
        <p:nvSpPr>
          <p:cNvPr id="6" name="Rounded Rectangle 5"/>
          <p:cNvSpPr/>
          <p:nvPr/>
        </p:nvSpPr>
        <p:spPr>
          <a:xfrm>
            <a:off x="3463289" y="1463040"/>
            <a:ext cx="2503170" cy="2011680"/>
          </a:xfrm>
          <a:prstGeom prst="roundRect">
            <a:avLst/>
          </a:prstGeom>
          <a:solidFill>
            <a:srgbClr val="14142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معضل کاهش پیوسته عرض</a:t>
            </a:r>
          </a:p>
          <a:p>
            <a:pPr>
              <a:defRPr sz="1100">
                <a:solidFill>
                  <a:srgbClr val="DDE1F5"/>
                </a:solidFill>
              </a:defRPr>
            </a:pPr>
            <a:r>
              <a:t>با نزدیک شدن نشانگرها عرض (R - L) کم می‌شود؛ تنها راه جبران، یافتن دیوارهای بلندتر است.</a:t>
            </a:r>
          </a:p>
        </p:txBody>
      </p:sp>
      <p:sp>
        <p:nvSpPr>
          <p:cNvPr id="7" name="Rounded Rectangle 6"/>
          <p:cNvSpPr/>
          <p:nvPr/>
        </p:nvSpPr>
        <p:spPr>
          <a:xfrm>
            <a:off x="6195059" y="1463040"/>
            <a:ext cx="2503170" cy="2011680"/>
          </a:xfrm>
          <a:prstGeom prst="roundRect">
            <a:avLst/>
          </a:prstGeom>
          <a:solidFill>
            <a:srgbClr val="141428"/>
          </a:solidFill>
          <a:ln w="2794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۳. مقیاس بزرگ ورودی (10⁵)</a:t>
            </a:r>
          </a:p>
          <a:p>
            <a:pPr>
              <a:defRPr sz="1100">
                <a:solidFill>
                  <a:srgbClr val="DDE1F5"/>
                </a:solidFill>
              </a:defRPr>
            </a:pPr>
            <a:r>
              <a:t>طول آرایه تا ۱۰۰ هزار است؛ پس الگوریتم O(n²) با ۵ میلیارد عملیات قطعاً TLE می‌دهد.</a:t>
            </a:r>
          </a:p>
        </p:txBody>
      </p:sp>
      <p:sp>
        <p:nvSpPr>
          <p:cNvPr id="8" name="Rounded Rectangle 7"/>
          <p:cNvSpPr/>
          <p:nvPr/>
        </p:nvSpPr>
        <p:spPr>
          <a:xfrm>
            <a:off x="8926830" y="1463040"/>
            <a:ext cx="2503170" cy="2011680"/>
          </a:xfrm>
          <a:prstGeom prst="roundRect">
            <a:avLst/>
          </a:prstGeom>
          <a:solidFill>
            <a:srgbClr val="141428"/>
          </a:solidFill>
          <a:ln w="279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۴. قید حافظه O(1) کمکی</a:t>
            </a:r>
          </a:p>
          <a:p>
            <a:pPr>
              <a:defRPr sz="1100">
                <a:solidFill>
                  <a:srgbClr val="DDE1F5"/>
                </a:solidFill>
              </a:defRPr>
            </a:pPr>
            <a:r>
              <a:t>حل کامل مسئله تنها با دو نشانگر همگرا روی پشته، بدون حتی یک بایت حافظه اضافه.</a:t>
            </a:r>
          </a:p>
        </p:txBody>
      </p:sp>
      <p:sp>
        <p:nvSpPr>
          <p:cNvPr id="9" name="Rounded Rectangle 8"/>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تله رایج ارزیابی</a:t>
            </a:r>
          </a:p>
          <a:p>
            <a:pPr>
              <a:defRPr sz="1100">
                <a:solidFill>
                  <a:srgbClr val="DDE1F5"/>
                </a:solidFill>
              </a:defRPr>
            </a:pPr>
            <a:r>
              <a:t>سورت کردن آرایه باعث نابودی اندیس‌ها و عرض هندسی بین دیوارها می‌شود! نباید آرایه را مرتب کرد.</a:t>
            </a:r>
          </a:p>
        </p:txBody>
      </p:sp>
      <p:sp>
        <p:nvSpPr>
          <p:cNvPr id="10" name="Rounded Rectangle 9"/>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تفکر حریصانه (Greedy Choice)</a:t>
            </a:r>
          </a:p>
          <a:p>
            <a:pPr>
              <a:defRPr sz="1100">
                <a:solidFill>
                  <a:srgbClr val="DDE1F5"/>
                </a:solidFill>
              </a:defRPr>
            </a:pPr>
            <a:r>
              <a:t>در هر گام با اثبات ریاضی نشانگر ستون کوتاه‌تر را حرکت می‌دهیم تا شانس کشف ارتفاع بلندتر حفظ شود.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غیربهینه · O(n²) TLE  |  راه‌حل ساده و غیربهینه: بررسی تمام جفت‌ها با Brute Force O(n²)</a:t>
            </a:r>
          </a:p>
          <a:p>
            <a:pPr>
              <a:defRPr sz="1400">
                <a:solidFill>
                  <a:srgbClr val="969EB4"/>
                </a:solidFill>
              </a:defRPr>
            </a:pPr>
            <a:r>
              <a:t>چرا تست تمام جفت‌های دو دیواره در مقیاس ۱۰⁵ به شکست قطعی می‌انجامد؟ | LeetCode #11</a:t>
            </a:r>
          </a:p>
        </p:txBody>
      </p:sp>
      <p:sp>
        <p:nvSpPr>
          <p:cNvPr id="4" name="Rounded Rectangle 3"/>
          <p:cNvSpPr/>
          <p:nvPr/>
        </p:nvSpPr>
        <p:spPr>
          <a:xfrm>
            <a:off x="731520" y="1463040"/>
            <a:ext cx="2503170" cy="13258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6C6C"/>
                </a:solidFill>
              </a:defRPr>
            </a:pPr>
            <a:r>
              <a:t>۱. انفجار محاسباتی شدید</a:t>
            </a:r>
          </a:p>
          <a:p>
            <a:pPr>
              <a:defRPr sz="950">
                <a:solidFill>
                  <a:srgbClr val="DDE1F5"/>
                </a:solidFill>
              </a:defRPr>
            </a:pPr>
            <a:r>
              <a:t>برای n=100,000 تعداد جفت‌ها n(n-1)/2 یعنی ۵ میلیارد عملیات است که ۵۰ ثانیه طول می‌کشد!</a:t>
            </a:r>
          </a:p>
        </p:txBody>
      </p:sp>
      <p:sp>
        <p:nvSpPr>
          <p:cNvPr id="5" name="Rounded Rectangle 4"/>
          <p:cNvSpPr/>
          <p:nvPr/>
        </p:nvSpPr>
        <p:spPr>
          <a:xfrm>
            <a:off x="3463289" y="1463040"/>
            <a:ext cx="2503170" cy="13258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7C8FF5"/>
                </a:solidFill>
              </a:defRPr>
            </a:pPr>
            <a:r>
              <a:t>۲. خطای Time Limit Exceeded</a:t>
            </a:r>
          </a:p>
          <a:p>
            <a:pPr>
              <a:defRPr sz="950">
                <a:solidFill>
                  <a:srgbClr val="DDE1F5"/>
                </a:solidFill>
              </a:defRPr>
            </a:pPr>
            <a:r>
              <a:t>سقف زمانی لیت‌کد حدود ۱ ثانیه (۱۰⁸ عملیات) است؛ این روش در اولین تست‌کیس‌های حجیم رد می‌شود.</a:t>
            </a:r>
          </a:p>
        </p:txBody>
      </p:sp>
      <p:sp>
        <p:nvSpPr>
          <p:cNvPr id="6" name="Rounded Rectangle 5"/>
          <p:cNvSpPr/>
          <p:nvPr/>
        </p:nvSpPr>
        <p:spPr>
          <a:xfrm>
            <a:off x="6195059" y="1463040"/>
            <a:ext cx="2503170" cy="13258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A84C"/>
                </a:solidFill>
              </a:defRPr>
            </a:pPr>
            <a:r>
              <a:t>۳. محاسبات هرز و بیهوده</a:t>
            </a:r>
          </a:p>
          <a:p>
            <a:pPr>
              <a:defRPr sz="950">
                <a:solidFill>
                  <a:srgbClr val="DDE1F5"/>
                </a:solidFill>
              </a:defRPr>
            </a:pPr>
            <a:r>
              <a:t>بروت‌فورس جفت‌هایی را تست می‌کند که از نظر هندسی غیرممکن است مساحت بزرگ‌تری بسازند.</a:t>
            </a:r>
          </a:p>
        </p:txBody>
      </p:sp>
      <p:sp>
        <p:nvSpPr>
          <p:cNvPr id="7" name="Rounded Rectangle 6"/>
          <p:cNvSpPr/>
          <p:nvPr/>
        </p:nvSpPr>
        <p:spPr>
          <a:xfrm>
            <a:off x="8926830" y="1463040"/>
            <a:ext cx="2503170" cy="13258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ECCA3"/>
                </a:solidFill>
              </a:defRPr>
            </a:pPr>
            <a:r>
              <a:t>۴. راه نجات: دو نشانگر</a:t>
            </a:r>
          </a:p>
          <a:p>
            <a:pPr>
              <a:defRPr sz="950">
                <a:solidFill>
                  <a:srgbClr val="DDE1F5"/>
                </a:solidFill>
              </a:defRPr>
            </a:pPr>
            <a:r>
              <a:t>شروع از دورترین فاصله و همگرایی هدفمند در زمان خطی O(n) بدون محاسبات زائد.</a:t>
            </a:r>
          </a:p>
        </p:txBody>
      </p:sp>
      <p:sp>
        <p:nvSpPr>
          <p:cNvPr id="8" name="Rounded Rectangle 7"/>
          <p:cNvSpPr/>
          <p:nvPr/>
        </p:nvSpPr>
        <p:spPr>
          <a:xfrm>
            <a:off x="731520" y="2926080"/>
            <a:ext cx="10698480" cy="228600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000">
                <a:solidFill>
                  <a:srgbClr val="4ECCA3"/>
                </a:solidFill>
                <a:latin typeface="Consolas"/>
              </a:defRPr>
            </a:pPr>
            <a:r>
              <a:t>fun maxAreaBruteForce(height: IntArray): Int {</a:t>
            </a:r>
          </a:p>
          <a:p>
            <a:pPr algn="l">
              <a:defRPr sz="1000">
                <a:solidFill>
                  <a:srgbClr val="4ECCA3"/>
                </a:solidFill>
                <a:latin typeface="Consolas"/>
              </a:defRPr>
            </a:pPr>
            <a:r>
              <a:t>    var maxWater = 0 // Time: O(1), Space: O(1)</a:t>
            </a:r>
          </a:p>
          <a:p>
            <a:pPr algn="l">
              <a:defRPr sz="1000">
                <a:solidFill>
                  <a:srgbClr val="4ECCA3"/>
                </a:solidFill>
                <a:latin typeface="Consolas"/>
              </a:defRPr>
            </a:pPr>
            <a:r>
              <a:t>    for (i in 0 until height.size) { // O(n) outer iterations</a:t>
            </a:r>
          </a:p>
          <a:p>
            <a:pPr algn="l">
              <a:defRPr sz="1000">
                <a:solidFill>
                  <a:srgbClr val="4ECCA3"/>
                </a:solidFill>
                <a:latin typeface="Consolas"/>
              </a:defRPr>
            </a:pPr>
            <a:r>
              <a:t>        for (j in i + 1 until height.size) { // O(n) inner iterations</a:t>
            </a:r>
          </a:p>
          <a:p>
            <a:pPr algn="l">
              <a:defRPr sz="1000">
                <a:solidFill>
                  <a:srgbClr val="4ECCA3"/>
                </a:solidFill>
                <a:latin typeface="Consolas"/>
              </a:defRPr>
            </a:pPr>
            <a:r>
              <a:t>            val currentArea = (j - i) * minOf(height[i], height[j]) // O(1)</a:t>
            </a:r>
          </a:p>
          <a:p>
            <a:pPr algn="l">
              <a:defRPr sz="1000">
                <a:solidFill>
                  <a:srgbClr val="4ECCA3"/>
                </a:solidFill>
                <a:latin typeface="Consolas"/>
              </a:defRPr>
            </a:pPr>
            <a:r>
              <a:t>            maxWater = maxOf(maxWater, currentArea) // O(1)</a:t>
            </a:r>
          </a:p>
          <a:p>
            <a:pPr algn="l">
              <a:defRPr sz="1000">
                <a:solidFill>
                  <a:srgbClr val="4ECCA3"/>
                </a:solidFill>
                <a:latin typeface="Consolas"/>
              </a:defRPr>
            </a:pPr>
            <a:r>
              <a:t>        }</a:t>
            </a:r>
          </a:p>
          <a:p>
            <a:pPr algn="l">
              <a:defRPr sz="1000">
                <a:solidFill>
                  <a:srgbClr val="4ECCA3"/>
                </a:solidFill>
                <a:latin typeface="Consolas"/>
              </a:defRPr>
            </a:pPr>
            <a:r>
              <a:t>    }</a:t>
            </a:r>
          </a:p>
          <a:p>
            <a:pPr algn="l">
              <a:defRPr sz="1000">
                <a:solidFill>
                  <a:srgbClr val="4ECCA3"/>
                </a:solidFill>
                <a:latin typeface="Consolas"/>
              </a:defRPr>
            </a:pPr>
            <a:r>
              <a:t>    return maxWater // O(1)</a:t>
            </a:r>
          </a:p>
          <a:p>
            <a:pPr algn="l">
              <a:defRPr sz="1000">
                <a:solidFill>
                  <a:srgbClr val="4ECCA3"/>
                </a:solidFill>
                <a:latin typeface="Consolas"/>
              </a:defRPr>
            </a:pPr>
            <a:r>
              <a:t>}</a:t>
            </a:r>
          </a:p>
          <a:p>
            <a:pPr algn="l">
              <a:defRPr sz="1000">
                <a:solidFill>
                  <a:srgbClr val="4ECCA3"/>
                </a:solidFill>
                <a:latin typeface="Consolas"/>
              </a:defRPr>
            </a:pPr>
            <a:r>
              <a:t>// Overall Time: O(n²) (TLE for n = 10⁵) | Auxiliary Space: O(1) | Overall Space: O(1)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اثبات الگوریتمی · GREEDY INTUITION  |  تحلیل آنالوگ روی کاغذ: راز تصمیم حریصانه (Greedy Choice)</a:t>
            </a:r>
          </a:p>
          <a:p>
            <a:pPr>
              <a:defRPr sz="1400">
                <a:solidFill>
                  <a:srgbClr val="969EB4"/>
                </a:solidFill>
              </a:defRPr>
            </a:pPr>
            <a:r>
              <a:t>چرا جابجا کردن ستون بلندتر بیهوده است و فقط تغییر ستون کوتاه‌تر شانس افزایش مساحت دارد؟</a:t>
            </a:r>
          </a:p>
        </p:txBody>
      </p:sp>
      <p:sp>
        <p:nvSpPr>
          <p:cNvPr id="4" name="Rounded Rectangle 3"/>
          <p:cNvSpPr/>
          <p:nvPr/>
        </p:nvSpPr>
        <p:spPr>
          <a:xfrm>
            <a:off x="731520" y="146304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حرکت ستون بلندتر ❌</a:t>
            </a:r>
          </a:p>
          <a:p>
            <a:pPr>
              <a:defRPr sz="1100">
                <a:solidFill>
                  <a:srgbClr val="DDE1F5"/>
                </a:solidFill>
              </a:defRPr>
            </a:pPr>
            <a:r>
              <a:t>عرض ۱ واحد کم می‌شود. ارتفاع جدید هم توسط دیوار کوتاه فعلی محدود است؛ پس مساحت حتماً کمتر یا مساوی قبلی است!</a:t>
            </a:r>
          </a:p>
        </p:txBody>
      </p:sp>
      <p:sp>
        <p:nvSpPr>
          <p:cNvPr id="5" name="Rounded Rectangle 4"/>
          <p:cNvSpPr/>
          <p:nvPr/>
        </p:nvSpPr>
        <p:spPr>
          <a:xfrm>
            <a:off x="6217920" y="146304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حرکت ستون کوتاه‌تر ✅</a:t>
            </a:r>
          </a:p>
          <a:p>
            <a:pPr>
              <a:defRPr sz="1100">
                <a:solidFill>
                  <a:srgbClr val="DDE1F5"/>
                </a:solidFill>
              </a:defRPr>
            </a:pPr>
            <a:r>
              <a:t>عرض کم می‌شود اما گلوگاه کوتاهی حذف می‌شود؛ تنها شانس یافتن دیواری بسیار بلندتر برای جبران عرض همین است!</a:t>
            </a:r>
          </a:p>
        </p:txBody>
      </p:sp>
      <p:sp>
        <p:nvSpPr>
          <p:cNvPr id="6" name="TextBox 5"/>
          <p:cNvSpPr txBox="1"/>
          <p:nvPr/>
        </p:nvSpPr>
        <p:spPr>
          <a:xfrm>
            <a:off x="731520" y="3291840"/>
            <a:ext cx="10698480" cy="1463040"/>
          </a:xfrm>
          <a:prstGeom prst="rect">
            <a:avLst/>
          </a:prstGeom>
          <a:noFill/>
        </p:spPr>
        <p:txBody>
          <a:bodyPr wrap="square">
            <a:spAutoFit/>
          </a:bodyPr>
          <a:lstStyle/>
          <a:p>
            <a:pPr>
              <a:defRPr sz="1300">
                <a:solidFill>
                  <a:srgbClr val="DDE1F5"/>
                </a:solidFill>
              </a:defRPr>
            </a:pPr>
            <a:r>
              <a:t>• تریس روی آرایه نمونه: height = [1, 8, 6, 2, 5, 4, 8, 3, 7]</a:t>
            </a:r>
          </a:p>
          <a:p>
            <a:pPr>
              <a:defRPr sz="1300">
                <a:solidFill>
                  <a:srgbClr val="DDE1F5"/>
                </a:solidFill>
              </a:defRPr>
            </a:pPr>
            <a:r>
              <a:t>• گام ۱: L=0 (1), R=8 (7) ➔ عرض=۸، ارتفاع موثر=۱ ➔ مساحت = ۸. چون ۱ &lt; ۷ است، ستون چپ حرکت می‌کند (L++).</a:t>
            </a:r>
          </a:p>
          <a:p>
            <a:pPr>
              <a:defRPr sz="1300">
                <a:solidFill>
                  <a:srgbClr val="DDE1F5"/>
                </a:solidFill>
              </a:defRPr>
            </a:pPr>
            <a:r>
              <a:t>• گام ۲: L=1 (8), R=8 (7) ➔ عرض=۷، ارتفاع موثر=۷ ➔ مساحت = ۴۹ (بیشینه مطلق!). چون ۷ &lt; ۸ است، R--.</a:t>
            </a:r>
          </a:p>
          <a:p>
            <a:pPr>
              <a:defRPr sz="1300">
                <a:solidFill>
                  <a:srgbClr val="DDE1F5"/>
                </a:solidFill>
              </a:defRPr>
            </a:pPr>
            <a:r>
              <a:t>• گام‌های ۳ تا ۸: کاهش عرض باعث مساحت‌های ۱۸، ۴۰، ۱۶، ۱۵، ۴ و ۶ می‌شود و رکورد ۴۹ دست‌نخورده می‌ماند.</a:t>
            </a:r>
          </a:p>
        </p:txBody>
      </p:sp>
      <p:sp>
        <p:nvSpPr>
          <p:cNvPr id="7" name="Rounded Rectangle 6"/>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«در الگوریتم‌های دو نشانگر، اثبات ریاضی شرط حرکت اشاره‌گرها مهم‌ترین بخش ارزیابی است.»</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KOTLIN  |  پیاده‌سازی تمیز در کاتلین: الگوریتم O(n) با دو نشانگر</a:t>
            </a:r>
          </a:p>
          <a:p>
            <a:pPr>
              <a:defRPr sz="1400">
                <a:solidFill>
                  <a:srgbClr val="969EB4"/>
                </a:solidFill>
              </a:defRPr>
            </a:pPr>
            <a:r>
              <a:t>پیاده‌سازی بدون نقص با زمان خطی O(n) و مصرف حافظه ثابت O(1) | LeetCode #11</a:t>
            </a:r>
          </a:p>
        </p:txBody>
      </p:sp>
      <p:sp>
        <p:nvSpPr>
          <p:cNvPr id="4" name="Rounded Rectangle 3"/>
          <p:cNvSpPr/>
          <p:nvPr/>
        </p:nvSpPr>
        <p:spPr>
          <a:xfrm>
            <a:off x="731520" y="1463040"/>
            <a:ext cx="10698480" cy="2843784"/>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maxArea(height: IntArray): Int {</a:t>
            </a:r>
          </a:p>
          <a:p>
            <a:pPr algn="l">
              <a:defRPr sz="1100">
                <a:solidFill>
                  <a:srgbClr val="4ECCA3"/>
                </a:solidFill>
                <a:latin typeface="Consolas"/>
              </a:defRPr>
            </a:pPr>
            <a:r>
              <a:t>    var maxWater = 0 // Time: O(1), Space: O(1)</a:t>
            </a:r>
          </a:p>
          <a:p>
            <a:pPr algn="l">
              <a:defRPr sz="1100">
                <a:solidFill>
                  <a:srgbClr val="4ECCA3"/>
                </a:solidFill>
                <a:latin typeface="Consolas"/>
              </a:defRPr>
            </a:pPr>
            <a:r>
              <a:t>    var left = 0; var right = height.lastIndex // Time: O(1), Space: O(1)</a:t>
            </a:r>
          </a:p>
          <a:p>
            <a:pPr algn="l">
              <a:defRPr sz="1100">
                <a:solidFill>
                  <a:srgbClr val="4ECCA3"/>
                </a:solidFill>
                <a:latin typeface="Consolas"/>
              </a:defRPr>
            </a:pPr>
            <a:r>
              <a:t>    while (left &lt; right) { // O(n) iterations — 1 step convergence</a:t>
            </a:r>
          </a:p>
          <a:p>
            <a:pPr algn="l">
              <a:defRPr sz="1100">
                <a:solidFill>
                  <a:srgbClr val="4ECCA3"/>
                </a:solidFill>
                <a:latin typeface="Consolas"/>
              </a:defRPr>
            </a:pPr>
            <a:r>
              <a:t>        val width = right - left // O(1)</a:t>
            </a:r>
          </a:p>
          <a:p>
            <a:pPr algn="l">
              <a:defRPr sz="1100">
                <a:solidFill>
                  <a:srgbClr val="4ECCA3"/>
                </a:solidFill>
                <a:latin typeface="Consolas"/>
              </a:defRPr>
            </a:pPr>
            <a:r>
              <a:t>        val currentArea = width * minOf(height[left], height[right]) // O(1)</a:t>
            </a:r>
          </a:p>
          <a:p>
            <a:pPr algn="l">
              <a:defRPr sz="1100">
                <a:solidFill>
                  <a:srgbClr val="4ECCA3"/>
                </a:solidFill>
                <a:latin typeface="Consolas"/>
              </a:defRPr>
            </a:pPr>
            <a:r>
              <a:t>        if (currentArea &gt; maxWater) maxWater = currentArea // O(1)</a:t>
            </a:r>
          </a:p>
          <a:p>
            <a:pPr algn="l">
              <a:defRPr sz="1100">
                <a:solidFill>
                  <a:srgbClr val="4ECCA3"/>
                </a:solidFill>
                <a:latin typeface="Consolas"/>
              </a:defRPr>
            </a:pPr>
            <a:r>
              <a:t>        if (height[left] &lt; height[right]) left++ else right-- // O(1) greedy step</a:t>
            </a:r>
          </a:p>
          <a:p>
            <a:pPr algn="l">
              <a:defRPr sz="1100">
                <a:solidFill>
                  <a:srgbClr val="4ECCA3"/>
                </a:solidFill>
                <a:latin typeface="Consolas"/>
              </a:defRPr>
            </a:pPr>
            <a:r>
              <a:t>    }</a:t>
            </a:r>
          </a:p>
          <a:p>
            <a:pPr algn="l">
              <a:defRPr sz="1100">
                <a:solidFill>
                  <a:srgbClr val="4ECCA3"/>
                </a:solidFill>
                <a:latin typeface="Consolas"/>
              </a:defRPr>
            </a:pPr>
            <a:r>
              <a:t>    return maxWater // O(1)</a:t>
            </a:r>
          </a:p>
          <a:p>
            <a:pPr algn="l">
              <a:defRPr sz="1100">
                <a:solidFill>
                  <a:srgbClr val="4ECCA3"/>
                </a:solidFill>
                <a:latin typeface="Consolas"/>
              </a:defRPr>
            </a:pPr>
            <a:r>
              <a:t>}</a:t>
            </a:r>
          </a:p>
          <a:p>
            <a:pPr algn="l">
              <a:defRPr sz="1100">
                <a:solidFill>
                  <a:srgbClr val="4ECCA3"/>
                </a:solidFill>
                <a:latin typeface="Consolas"/>
              </a:defRPr>
            </a:pPr>
            <a:r>
              <a:t>// Overall Time: O(n) — single pass | Auxiliary Space: O(1) | Overall Space: O(1)</a:t>
            </a:r>
          </a:p>
        </p:txBody>
      </p:sp>
      <p:sp>
        <p:nvSpPr>
          <p:cNvPr id="5" name="TextBox 4"/>
          <p:cNvSpPr txBox="1"/>
          <p:nvPr/>
        </p:nvSpPr>
        <p:spPr>
          <a:xfrm>
            <a:off x="731520" y="4443984"/>
            <a:ext cx="10698480" cy="1463040"/>
          </a:xfrm>
          <a:prstGeom prst="rect">
            <a:avLst/>
          </a:prstGeom>
          <a:noFill/>
        </p:spPr>
        <p:txBody>
          <a:bodyPr wrap="square">
            <a:spAutoFit/>
          </a:bodyPr>
          <a:lstStyle/>
          <a:p>
            <a:pPr>
              <a:defRPr sz="1300">
                <a:solidFill>
                  <a:srgbClr val="DDE1F5"/>
                </a:solidFill>
              </a:defRPr>
            </a:pPr>
            <a:r>
              <a:t>• پیچیدگی زمانی O(n): در هر دور دقیقاً یک نشانگر جابجا می‌شود؛ حلقه حداکثر n - 1 بار می‌چرخد.</a:t>
            </a:r>
          </a:p>
          <a:p>
            <a:pPr>
              <a:defRPr sz="1300">
                <a:solidFill>
                  <a:srgbClr val="DDE1F5"/>
                </a:solidFill>
              </a:defRPr>
            </a:pPr>
            <a:r>
              <a:t>• پیچیدگی فضایی O(1): تنها ۴ متغیر عددی روی پشته Stack، بدون هیچ شیء اضافی در حافظه Heap.</a:t>
            </a:r>
          </a:p>
          <a:p>
            <a:pPr>
              <a:defRPr sz="1300">
                <a:solidFill>
                  <a:srgbClr val="DDE1F5"/>
                </a:solidFill>
              </a:defRPr>
            </a:pPr>
            <a:r>
              <a:t>• مدیریت تساوی: در صورت hLeft == hRight، حرکت هر نشانگری معادل است و خللی به صحت الگوریتم نمی‌زند.</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بصری · WATER LEVEL VISUALIZER  |  شبیه‌ساز تعاملی و بصری: بیشینه‌سازی حجم آب (دو نشانگر)</a:t>
            </a:r>
          </a:p>
          <a:p>
            <a:pPr>
              <a:defRPr sz="1400">
                <a:solidFill>
                  <a:srgbClr val="969EB4"/>
                </a:solidFill>
              </a:defRPr>
            </a:pPr>
            <a:r>
              <a:t>نمایش گام‌به‌گام ستون‌ها و تغییر حجم آب روی آرایه [1, 8, 6, 2, 5, 4, 8, 3, 7]  |  LeetCode #11</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گام ۰: L=0, R=8</a:t>
            </a:r>
          </a:p>
          <a:p>
            <a:pPr>
              <a:defRPr sz="1100">
                <a:solidFill>
                  <a:srgbClr val="DDE1F5"/>
                </a:solidFill>
              </a:defRPr>
            </a:pPr>
            <a:r>
              <a:t>عرض ۸، ارتفاع موثر ۱ ➔ مساحت ۸. ستون چپ کوتاه‌تر است ➔ L++.</a:t>
            </a:r>
          </a:p>
        </p:txBody>
      </p:sp>
      <p:sp>
        <p:nvSpPr>
          <p:cNvPr id="5" name="Rounded Rectangle 4"/>
          <p:cNvSpPr/>
          <p:nvPr/>
        </p:nvSpPr>
        <p:spPr>
          <a:xfrm>
            <a:off x="3463289"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گام ۱: L=1, R=8</a:t>
            </a:r>
          </a:p>
          <a:p>
            <a:pPr>
              <a:defRPr sz="1100">
                <a:solidFill>
                  <a:srgbClr val="DDE1F5"/>
                </a:solidFill>
              </a:defRPr>
            </a:pPr>
            <a:r>
              <a:t>عرض ۷، ارتفاع موثر ۷ ➔ مساحت ۴۹ 🎉 (صید بیشینه مطلق!). ستون راست کوتاه‌تر است ➔ R--.</a:t>
            </a:r>
          </a:p>
        </p:txBody>
      </p:sp>
      <p:sp>
        <p:nvSpPr>
          <p:cNvPr id="6" name="Rounded Rectangle 5"/>
          <p:cNvSpPr/>
          <p:nvPr/>
        </p:nvSpPr>
        <p:spPr>
          <a:xfrm>
            <a:off x="619505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گام‌های ۲ تا ۴: L=1</a:t>
            </a:r>
          </a:p>
          <a:p>
            <a:pPr>
              <a:defRPr sz="1100">
                <a:solidFill>
                  <a:srgbClr val="DDE1F5"/>
                </a:solidFill>
              </a:defRPr>
            </a:pPr>
            <a:r>
              <a:t>بررسی ستون‌های ۳، ۸ و ۴ ➔ مساحت‌های ۱۸، ۴۰ و ۱۶ (کمتر از ۴۹) ➔ ادامه R--.</a:t>
            </a:r>
          </a:p>
        </p:txBody>
      </p:sp>
      <p:sp>
        <p:nvSpPr>
          <p:cNvPr id="7" name="Rounded Rectangle 6"/>
          <p:cNvSpPr/>
          <p:nvPr/>
        </p:nvSpPr>
        <p:spPr>
          <a:xfrm>
            <a:off x="8926830"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گام‌های ۵ تا ۸: همگرایی</a:t>
            </a:r>
          </a:p>
          <a:p>
            <a:pPr>
              <a:defRPr sz="1100">
                <a:solidFill>
                  <a:srgbClr val="DDE1F5"/>
                </a:solidFill>
              </a:defRPr>
            </a:pPr>
            <a:r>
              <a:t>بررسی ۵، ۲ و ۶ و رسیدن به L=R ➔ پایان جستجو با رکورد نهایی ۴۹.</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نمودار میله‌ای زنده: در نسخه وب ارائه، ارتفاع ستون‌ها و آب بین آن‌ها به صورت تعاملی و رنگی شبیه‌سازی می‌شود.</a:t>
            </a:r>
          </a:p>
          <a:p>
            <a:pPr>
              <a:defRPr sz="1300">
                <a:solidFill>
                  <a:srgbClr val="DDE1F5"/>
                </a:solidFill>
              </a:defRPr>
            </a:pPr>
            <a:r>
              <a:t>• حفظ رکورد: با اینکه در گام ۳ دو ستون بلند ۸ و ۸ بررسی شدند، کاهش عرض مانع از شکستن رکورد ۴۹ شد.</a:t>
            </a:r>
          </a:p>
          <a:p>
            <a:pPr>
              <a:defRPr sz="1300">
                <a:solidFill>
                  <a:srgbClr val="DDE1F5"/>
                </a:solidFill>
              </a:defRPr>
            </a:pPr>
            <a:r>
              <a:t>• صحت کامل الگوریتم: هیچ ظرف احتمالی با مساحت بیشتر از ۴۹ در آرایه جا نماند.</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«تنها با ۸ گام در زمان خطی O(n)، بهینه‌ترین حالت بین ۳۶ جفت ممکن صید شد!»</a:t>
            </a:r>
          </a:p>
        </p:txBody>
      </p:sp>
    </p:spTree>
  </p:cSld>
  <p:clrMapOvr>
    <a:masterClrMapping/>
  </p:clrMapOvr>
</p:sld>
</file>

<file path=ppt/slides/slide44.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E9A84C"/>
                </a:solidFill>
              </a:defRPr>
            </a:pPr>
            <a:r>
              <a:t>💥 مسئله هشتم · MEDIUM  |  مسئله هشتم: بیشینه جفت‌های با مجموع k (Max Number of K-Sum Pairs — LeetCode #1679)</a:t>
            </a:r>
          </a:p>
          <a:p>
            <a:pPr>
              <a:defRPr sz="1400">
                <a:solidFill>
                  <a:srgbClr val="969EB4"/>
                </a:solidFill>
              </a:defRPr>
            </a:pPr>
            <a:r>
              <a:t>یافتن بیشترین تعداد جفت با مجموع k و حذف همزمان آن‌ها از آرایه | LeetCode 75</a:t>
            </a:r>
          </a:p>
        </p:txBody>
      </p:sp>
      <p:sp>
        <p:nvSpPr>
          <p:cNvPr id="5" name="Rounded Rectangle 4"/>
          <p:cNvSpPr/>
          <p:nvPr/>
        </p:nvSpPr>
        <p:spPr>
          <a:xfrm>
            <a:off x="731520" y="1463040"/>
            <a:ext cx="2503170" cy="2011680"/>
          </a:xfrm>
          <a:prstGeom prst="roundRect">
            <a:avLst/>
          </a:prstGeom>
          <a:solidFill>
            <a:srgbClr val="14142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صورت مسئله و هدف</a:t>
            </a:r>
          </a:p>
          <a:p>
            <a:pPr>
              <a:defRPr sz="1100">
                <a:solidFill>
                  <a:srgbClr val="DDE1F5"/>
                </a:solidFill>
              </a:defRPr>
            </a:pPr>
            <a:r>
              <a:t>در هر عملیات، دو عدد با مجموع k انتخاب و از آرایه حذف می‌شوند؛ هدف یافتن حداکثر عملیات ممکن است.</a:t>
            </a:r>
          </a:p>
        </p:txBody>
      </p:sp>
      <p:sp>
        <p:nvSpPr>
          <p:cNvPr id="6" name="Rounded Rectangle 5"/>
          <p:cNvSpPr/>
          <p:nvPr/>
        </p:nvSpPr>
        <p:spPr>
          <a:xfrm>
            <a:off x="3463289" y="1463040"/>
            <a:ext cx="2503170" cy="2011680"/>
          </a:xfrm>
          <a:prstGeom prst="roundRect">
            <a:avLst/>
          </a:prstGeom>
          <a:solidFill>
            <a:srgbClr val="14142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مصرف انحصاری هر عنصر</a:t>
            </a:r>
          </a:p>
          <a:p>
            <a:pPr>
              <a:defRPr sz="1100">
                <a:solidFill>
                  <a:srgbClr val="DDE1F5"/>
                </a:solidFill>
              </a:defRPr>
            </a:pPr>
            <a:r>
              <a:t>هر عدد حداکثر در یک جفت می‌تواند شرکت کند؛ برخلاف Two Sum که اولین جفت را می‌خواستیم.</a:t>
            </a:r>
          </a:p>
        </p:txBody>
      </p:sp>
      <p:sp>
        <p:nvSpPr>
          <p:cNvPr id="7" name="Rounded Rectangle 6"/>
          <p:cNvSpPr/>
          <p:nvPr/>
        </p:nvSpPr>
        <p:spPr>
          <a:xfrm>
            <a:off x="6195059" y="1463040"/>
            <a:ext cx="2503170" cy="2011680"/>
          </a:xfrm>
          <a:prstGeom prst="roundRect">
            <a:avLst/>
          </a:prstGeom>
          <a:solidFill>
            <a:srgbClr val="141428"/>
          </a:solidFill>
          <a:ln w="2794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۳. مقیاس بزرگ ورودی (10⁵)</a:t>
            </a:r>
          </a:p>
          <a:p>
            <a:pPr>
              <a:defRPr sz="1100">
                <a:solidFill>
                  <a:srgbClr val="DDE1F5"/>
                </a:solidFill>
              </a:defRPr>
            </a:pPr>
            <a:r>
              <a:t>طول آرایه تا ۱۰۰ هزار است؛ الگوریتم O(n²) با ۵ میلیارد عملیات قطعاً با TLE مواجه می‌شود.</a:t>
            </a:r>
          </a:p>
        </p:txBody>
      </p:sp>
      <p:sp>
        <p:nvSpPr>
          <p:cNvPr id="8" name="Rounded Rectangle 7"/>
          <p:cNvSpPr/>
          <p:nvPr/>
        </p:nvSpPr>
        <p:spPr>
          <a:xfrm>
            <a:off x="8926830" y="1463040"/>
            <a:ext cx="2503170" cy="2011680"/>
          </a:xfrm>
          <a:prstGeom prst="roundRect">
            <a:avLst/>
          </a:prstGeom>
          <a:solidFill>
            <a:srgbClr val="141428"/>
          </a:solidFill>
          <a:ln w="279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۴. دو مسیر حل مهندسی</a:t>
            </a:r>
          </a:p>
          <a:p>
            <a:pPr>
              <a:defRPr sz="1100">
                <a:solidFill>
                  <a:srgbClr val="DDE1F5"/>
                </a:solidFill>
              </a:defRPr>
            </a:pPr>
            <a:r>
              <a:t>مسیر اول: Sort + Two Pointers با O(n log n) و حافظه O(1). مسیر دوم: Hash Map فرکانسی با O(n) و حافظه O(n).</a:t>
            </a:r>
          </a:p>
        </p:txBody>
      </p:sp>
      <p:sp>
        <p:nvSpPr>
          <p:cNvPr id="9" name="Rounded Rectangle 8"/>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جستجوی دو حلقه‌ای و علامت‌گذاری (Brute Force)</a:t>
            </a:r>
          </a:p>
          <a:p>
            <a:pPr>
              <a:defRPr sz="1100">
                <a:solidFill>
                  <a:srgbClr val="DDE1F5"/>
                </a:solidFill>
              </a:defRPr>
            </a:pPr>
            <a:r>
              <a:t>بررسی تمام جفت‌ها با دو حلقه و علامت‌گذاری عناصر استفاده‌شده با آرایه visited که منجر به پیچیدگی O(n²) و TLE می‌شود.</a:t>
            </a:r>
          </a:p>
        </p:txBody>
      </p:sp>
      <p:sp>
        <p:nvSpPr>
          <p:cNvPr id="10" name="Rounded Rectangle 9"/>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مرتب‌سازی و همگرایی دو نشانگر (Two Pointers)</a:t>
            </a:r>
          </a:p>
          <a:p>
            <a:pPr>
              <a:defRPr sz="1100">
                <a:solidFill>
                  <a:srgbClr val="DDE1F5"/>
                </a:solidFill>
              </a:defRPr>
            </a:pPr>
            <a:r>
              <a:t>سورت آرایه و حرکت همگرای left و right؛ با یافتن هر جفت، هر دو نشانگر به داخل حرکت می‌کنند (زمان O(n log n) و حافظه O(1)).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غیربهینه · O(n²) TLE  |  راه‌حل ساده و غیربهینه: جستجوی جفت‌ها با حذف ترتیبی O(n²)</a:t>
            </a:r>
          </a:p>
          <a:p>
            <a:pPr>
              <a:defRPr sz="1400">
                <a:solidFill>
                  <a:srgbClr val="969EB4"/>
                </a:solidFill>
              </a:defRPr>
            </a:pPr>
            <a:r>
              <a:t>چرا اسکن دو حلقه‌ای و علامت‌گذاری دستی عناصر برای n=10⁵ به بن‌بست می‌خورد؟ | LeetCode #1679</a:t>
            </a:r>
          </a:p>
        </p:txBody>
      </p:sp>
      <p:sp>
        <p:nvSpPr>
          <p:cNvPr id="4" name="Rounded Rectangle 3"/>
          <p:cNvSpPr/>
          <p:nvPr/>
        </p:nvSpPr>
        <p:spPr>
          <a:xfrm>
            <a:off x="731520" y="1463040"/>
            <a:ext cx="2503170" cy="13258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6C6C"/>
                </a:solidFill>
              </a:defRPr>
            </a:pPr>
            <a:r>
              <a:t>۱. پیمایش‌های تکراری</a:t>
            </a:r>
          </a:p>
          <a:p>
            <a:pPr>
              <a:defRPr sz="950">
                <a:solidFill>
                  <a:srgbClr val="DDE1F5"/>
                </a:solidFill>
              </a:defRPr>
            </a:pPr>
            <a:r>
              <a:t>برای هر عنصر باید باقی‌مانده آرایه را اسکن کرد تا مکملی که هنوز استفاده نشده پیدا شود.</a:t>
            </a:r>
          </a:p>
        </p:txBody>
      </p:sp>
      <p:sp>
        <p:nvSpPr>
          <p:cNvPr id="5" name="Rounded Rectangle 4"/>
          <p:cNvSpPr/>
          <p:nvPr/>
        </p:nvSpPr>
        <p:spPr>
          <a:xfrm>
            <a:off x="3463289" y="1463040"/>
            <a:ext cx="2503170" cy="13258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6C6C"/>
                </a:solidFill>
              </a:defRPr>
            </a:pPr>
            <a:r>
              <a:t>۲. ۵ میلیارد عملیات (TLE)</a:t>
            </a:r>
          </a:p>
          <a:p>
            <a:pPr>
              <a:defRPr sz="950">
                <a:solidFill>
                  <a:srgbClr val="DDE1F5"/>
                </a:solidFill>
              </a:defRPr>
            </a:pPr>
            <a:r>
              <a:t>برای n=100,000 تعداد جفت‌ها تا n²/2 می‌رسد و بیش از ۵۰ ثانیه طول می‌کشد.</a:t>
            </a:r>
          </a:p>
        </p:txBody>
      </p:sp>
      <p:sp>
        <p:nvSpPr>
          <p:cNvPr id="6" name="Rounded Rectangle 5"/>
          <p:cNvSpPr/>
          <p:nvPr/>
        </p:nvSpPr>
        <p:spPr>
          <a:xfrm>
            <a:off x="6195059" y="1463040"/>
            <a:ext cx="2503170" cy="13258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A84C"/>
                </a:solidFill>
              </a:defRPr>
            </a:pPr>
            <a:r>
              <a:t>۳. مصرف حافظه برای آرایه used</a:t>
            </a:r>
          </a:p>
          <a:p>
            <a:pPr>
              <a:defRPr sz="950">
                <a:solidFill>
                  <a:srgbClr val="DDE1F5"/>
                </a:solidFill>
              </a:defRPr>
            </a:pPr>
            <a:r>
              <a:t>نیاز به یک آرایه کمکی BooleanArray به طول n برای ردیابی عناصر مصرف‌شده.</a:t>
            </a:r>
          </a:p>
        </p:txBody>
      </p:sp>
      <p:sp>
        <p:nvSpPr>
          <p:cNvPr id="7" name="Rounded Rectangle 6"/>
          <p:cNvSpPr/>
          <p:nvPr/>
        </p:nvSpPr>
        <p:spPr>
          <a:xfrm>
            <a:off x="8926830" y="1463040"/>
            <a:ext cx="2503170" cy="13258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ECCA3"/>
                </a:solidFill>
              </a:defRPr>
            </a:pPr>
            <a:r>
              <a:t>۴. راه نجات با مرتب‌سازی</a:t>
            </a:r>
          </a:p>
          <a:p>
            <a:pPr>
              <a:defRPr sz="950">
                <a:solidFill>
                  <a:srgbClr val="DDE1F5"/>
                </a:solidFill>
              </a:defRPr>
            </a:pPr>
            <a:r>
              <a:t>سورت کردن داده‌ها امکان تصمیم‌گیری قطعی در یک پیمایش دو نشانگر را فراهم می‌کند.</a:t>
            </a:r>
          </a:p>
        </p:txBody>
      </p:sp>
      <p:sp>
        <p:nvSpPr>
          <p:cNvPr id="8" name="Rounded Rectangle 7"/>
          <p:cNvSpPr/>
          <p:nvPr/>
        </p:nvSpPr>
        <p:spPr>
          <a:xfrm>
            <a:off x="731520" y="2926080"/>
            <a:ext cx="10698480" cy="228600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000">
                <a:solidFill>
                  <a:srgbClr val="4ECCA3"/>
                </a:solidFill>
                <a:latin typeface="Consolas"/>
              </a:defRPr>
            </a:pPr>
            <a:r>
              <a:t>fun maxOperationsNaive(nums: IntArray, k: Int): Int {</a:t>
            </a:r>
          </a:p>
          <a:p>
            <a:pPr algn="l">
              <a:defRPr sz="1000">
                <a:solidFill>
                  <a:srgbClr val="4ECCA3"/>
                </a:solidFill>
                <a:latin typeface="Consolas"/>
              </a:defRPr>
            </a:pPr>
            <a:r>
              <a:t>    var count = 0 // Time: O(1), Space: O(1)</a:t>
            </a:r>
          </a:p>
          <a:p>
            <a:pPr algn="l">
              <a:defRPr sz="1000">
                <a:solidFill>
                  <a:srgbClr val="4ECCA3"/>
                </a:solidFill>
                <a:latin typeface="Consolas"/>
              </a:defRPr>
            </a:pPr>
            <a:r>
              <a:t>    val used = BooleanArray(nums.size) // Time: O(n), Space: O(n) auxiliary</a:t>
            </a:r>
          </a:p>
          <a:p>
            <a:pPr algn="l">
              <a:defRPr sz="1000">
                <a:solidFill>
                  <a:srgbClr val="4ECCA3"/>
                </a:solidFill>
                <a:latin typeface="Consolas"/>
              </a:defRPr>
            </a:pPr>
            <a:r>
              <a:t>    for (i in 0 until nums.size) { // O(n) outer iterations</a:t>
            </a:r>
          </a:p>
          <a:p>
            <a:pPr algn="l">
              <a:defRPr sz="1000">
                <a:solidFill>
                  <a:srgbClr val="4ECCA3"/>
                </a:solidFill>
                <a:latin typeface="Consolas"/>
              </a:defRPr>
            </a:pPr>
            <a:r>
              <a:t>        if (used[i]) continue // Time: O(1)</a:t>
            </a:r>
          </a:p>
          <a:p>
            <a:pPr algn="l">
              <a:defRPr sz="1000">
                <a:solidFill>
                  <a:srgbClr val="4ECCA3"/>
                </a:solidFill>
                <a:latin typeface="Consolas"/>
              </a:defRPr>
            </a:pPr>
            <a:r>
              <a:t>        for (j in i + 1 until nums.size) { // O(n) inner iterations</a:t>
            </a:r>
          </a:p>
          <a:p>
            <a:pPr algn="l">
              <a:defRPr sz="1000">
                <a:solidFill>
                  <a:srgbClr val="4ECCA3"/>
                </a:solidFill>
                <a:latin typeface="Consolas"/>
              </a:defRPr>
            </a:pPr>
            <a:r>
              <a:t>            if (!used[j] &amp;&amp; nums[i] + nums[j] == k) { // Time: O(1)</a:t>
            </a:r>
          </a:p>
          <a:p>
            <a:pPr algn="l">
              <a:defRPr sz="1000">
                <a:solidFill>
                  <a:srgbClr val="4ECCA3"/>
                </a:solidFill>
                <a:latin typeface="Consolas"/>
              </a:defRPr>
            </a:pPr>
            <a:r>
              <a:t>                used[i] = true; used[j] = true // Time: O(1)</a:t>
            </a:r>
          </a:p>
          <a:p>
            <a:pPr algn="l">
              <a:defRPr sz="1000">
                <a:solidFill>
                  <a:srgbClr val="4ECCA3"/>
                </a:solidFill>
                <a:latin typeface="Consolas"/>
              </a:defRPr>
            </a:pPr>
            <a:r>
              <a:t>                count++ // Time: O(1)</a:t>
            </a:r>
          </a:p>
          <a:p>
            <a:pPr algn="l">
              <a:defRPr sz="1000">
                <a:solidFill>
                  <a:srgbClr val="4ECCA3"/>
                </a:solidFill>
                <a:latin typeface="Consolas"/>
              </a:defRPr>
            </a:pPr>
            <a:r>
              <a:t>                break // Time: O(1)</a:t>
            </a:r>
          </a:p>
          <a:p>
            <a:pPr algn="l">
              <a:defRPr sz="1000">
                <a:solidFill>
                  <a:srgbClr val="4ECCA3"/>
                </a:solidFill>
                <a:latin typeface="Consolas"/>
              </a:defRPr>
            </a:pPr>
            <a:r>
              <a:t>            }</a:t>
            </a:r>
          </a:p>
          <a:p>
            <a:pPr algn="l">
              <a:defRPr sz="1000">
                <a:solidFill>
                  <a:srgbClr val="4ECCA3"/>
                </a:solidFill>
                <a:latin typeface="Consolas"/>
              </a:defRPr>
            </a:pPr>
            <a:r>
              <a:t>        }</a:t>
            </a:r>
          </a:p>
          <a:p>
            <a:pPr algn="l">
              <a:defRPr sz="1000">
                <a:solidFill>
                  <a:srgbClr val="4ECCA3"/>
                </a:solidFill>
                <a:latin typeface="Consolas"/>
              </a:defRPr>
            </a:pPr>
            <a:r>
              <a:t>    }</a:t>
            </a:r>
          </a:p>
          <a:p>
            <a:pPr algn="l">
              <a:defRPr sz="1000">
                <a:solidFill>
                  <a:srgbClr val="4ECCA3"/>
                </a:solidFill>
                <a:latin typeface="Consolas"/>
              </a:defRPr>
            </a:pPr>
            <a:r>
              <a:t>    return count // Time: O(1), Space: O(1)</a:t>
            </a:r>
          </a:p>
          <a:p>
            <a:pPr algn="l">
              <a:defRPr sz="1000">
                <a:solidFill>
                  <a:srgbClr val="4ECCA3"/>
                </a:solidFill>
                <a:latin typeface="Consolas"/>
              </a:defRPr>
            </a:pPr>
            <a:r>
              <a:t>}</a:t>
            </a:r>
          </a:p>
          <a:p>
            <a:pPr algn="l">
              <a:defRPr sz="1000">
                <a:solidFill>
                  <a:srgbClr val="4ECCA3"/>
                </a:solidFill>
                <a:latin typeface="Consolas"/>
              </a:defRPr>
            </a:pPr>
            <a:r>
              <a:t>// Overall Time: O(n²) (TLE on n = 10⁵) | Auxiliary Space: O(n) | Overall Space: 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تریس آنالوگ · SORT + TWO POINTERS  |  تحلیل آنالوگ روی کاغذ: تریس همگرایی دو نشانگر روی آرایه مرتب</a:t>
            </a:r>
          </a:p>
          <a:p>
            <a:pPr>
              <a:defRPr sz="1400">
                <a:solidFill>
                  <a:srgbClr val="969EB4"/>
                </a:solidFill>
              </a:defRPr>
            </a:pPr>
            <a:r>
              <a:t>ردیابی گام‌به‌گام روی آرایه مرتب‌شده nums = [1, 2, 3, 4] با هدف مجموع k = 5</a:t>
            </a:r>
          </a:p>
        </p:txBody>
      </p:sp>
      <p:sp>
        <p:nvSpPr>
          <p:cNvPr id="4" name="Rounded Rectangle 3"/>
          <p:cNvSpPr/>
          <p:nvPr/>
        </p:nvSpPr>
        <p:spPr>
          <a:xfrm>
            <a:off x="731520" y="1463040"/>
            <a:ext cx="3413759"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حالت اول: sum == k</a:t>
            </a:r>
          </a:p>
          <a:p>
            <a:pPr>
              <a:defRPr sz="1100">
                <a:solidFill>
                  <a:srgbClr val="DDE1F5"/>
                </a:solidFill>
              </a:defRPr>
            </a:pPr>
            <a:r>
              <a:t>صید جفت طلایی! افزایش count++ و حرکت هر دو نشانگر به داخل: left++ و right--.</a:t>
            </a:r>
          </a:p>
        </p:txBody>
      </p:sp>
      <p:sp>
        <p:nvSpPr>
          <p:cNvPr id="5" name="Rounded Rectangle 4"/>
          <p:cNvSpPr/>
          <p:nvPr/>
        </p:nvSpPr>
        <p:spPr>
          <a:xfrm>
            <a:off x="4373880" y="1463040"/>
            <a:ext cx="3413759"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حالت دوم: sum &lt; k</a:t>
            </a:r>
          </a:p>
          <a:p>
            <a:pPr>
              <a:defRPr sz="1100">
                <a:solidFill>
                  <a:srgbClr val="DDE1F5"/>
                </a:solidFill>
              </a:defRPr>
            </a:pPr>
            <a:r>
              <a:t>جمع کوچک است! عنصر سمت چپ حتی با بزرگترین عنصر راست هم به k نرسید ➔ left++.</a:t>
            </a:r>
          </a:p>
        </p:txBody>
      </p:sp>
      <p:sp>
        <p:nvSpPr>
          <p:cNvPr id="6" name="Rounded Rectangle 5"/>
          <p:cNvSpPr/>
          <p:nvPr/>
        </p:nvSpPr>
        <p:spPr>
          <a:xfrm>
            <a:off x="8016239" y="1463040"/>
            <a:ext cx="3413759"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حالت سوم: sum &gt; k</a:t>
            </a:r>
          </a:p>
          <a:p>
            <a:pPr>
              <a:defRPr sz="1100">
                <a:solidFill>
                  <a:srgbClr val="DDE1F5"/>
                </a:solidFill>
              </a:defRPr>
            </a:pPr>
            <a:r>
              <a:t>جمع بزرگ است! عنصر سمت راست حتی با کوچکترین عنصر چپ هم از k بیشتر شد ➔ right--.</a:t>
            </a:r>
          </a:p>
        </p:txBody>
      </p:sp>
      <p:sp>
        <p:nvSpPr>
          <p:cNvPr id="7" name="TextBox 6"/>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گام ۰: سورت آرایه: [1, 2, 3, 4] در زمان O(n log n).</a:t>
            </a:r>
          </a:p>
          <a:p>
            <a:pPr>
              <a:defRPr sz="1300">
                <a:solidFill>
                  <a:srgbClr val="DDE1F5"/>
                </a:solidFill>
              </a:defRPr>
            </a:pPr>
            <a:r>
              <a:t>• گام ۱: left=0 (1), right=3 (4) ➔ جمع = ۵ == k 🎉 جفت اول صید شد! count=1، سپس left=1 و right=2.</a:t>
            </a:r>
          </a:p>
          <a:p>
            <a:pPr>
              <a:defRPr sz="1300">
                <a:solidFill>
                  <a:srgbClr val="DDE1F5"/>
                </a:solidFill>
              </a:defRPr>
            </a:pPr>
            <a:r>
              <a:t>• گام ۲: left=1 (2), right=2 (3) ➔ جمع = ۵ == k 🎉 جفت دوم صید شد! count=2، سپس left=2 و right=1.</a:t>
            </a:r>
          </a:p>
          <a:p>
            <a:pPr>
              <a:defRPr sz="1300">
                <a:solidFill>
                  <a:srgbClr val="DDE1F5"/>
                </a:solidFill>
              </a:defRPr>
            </a:pPr>
            <a:r>
              <a:t>• گام ۳: left (2) &gt; right (1) ➔ تقاطع نشانگرها و پایان جستجو! نتیجه قطعی: ۲ عملیات موفق.</a:t>
            </a:r>
          </a:p>
          <a:p>
            <a:pPr>
              <a:defRPr sz="1300">
                <a:solidFill>
                  <a:srgbClr val="DDE1F5"/>
                </a:solidFill>
              </a:defRPr>
            </a:pPr>
            <a:r>
              <a:t>• اثبات بدون ابهام: چون هر عنصر فقط یک‌بار مصرف می‌شود، پس از تشکیل جفت هر دو نشانگر همزمان جمع می‌شوند.</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«مرتب‌سازی به ما قطعیت ریاضی می‌دهد: عنصری که با هیچ عددی جفت نمی‌شود، بدون ریسک برای همیشه از پنجره کنار می‌رود.»</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KOTLIN  |  پیاده‌سازی تمیز در کاتلین: دو نشانگر روی آرایه مرتب‌شده</a:t>
            </a:r>
          </a:p>
          <a:p>
            <a:pPr>
              <a:defRPr sz="1400">
                <a:solidFill>
                  <a:srgbClr val="969EB4"/>
                </a:solidFill>
              </a:defRPr>
            </a:pPr>
            <a:r>
              <a:t>پیاده‌سازی بهینه با زمان O(n log n) و حافظه کمکی O(1) | LeetCode #1679</a:t>
            </a:r>
          </a:p>
        </p:txBody>
      </p:sp>
      <p:sp>
        <p:nvSpPr>
          <p:cNvPr id="4" name="Rounded Rectangle 3"/>
          <p:cNvSpPr/>
          <p:nvPr/>
        </p:nvSpPr>
        <p:spPr>
          <a:xfrm>
            <a:off x="731520" y="1463040"/>
            <a:ext cx="10698480" cy="292608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maxOperations(nums: IntArray, k: Int): Int {</a:t>
            </a:r>
          </a:p>
          <a:p>
            <a:pPr algn="l">
              <a:defRPr sz="1100">
                <a:solidFill>
                  <a:srgbClr val="4ECCA3"/>
                </a:solidFill>
                <a:latin typeface="Consolas"/>
              </a:defRPr>
            </a:pPr>
            <a:r>
              <a:t>    nums.sort() // Time: O(n log n), Space: O(log n) or O(1) in-place sort</a:t>
            </a:r>
          </a:p>
          <a:p>
            <a:pPr algn="l">
              <a:defRPr sz="1100">
                <a:solidFill>
                  <a:srgbClr val="4ECCA3"/>
                </a:solidFill>
                <a:latin typeface="Consolas"/>
              </a:defRPr>
            </a:pPr>
            <a:r>
              <a:t>    var operationsCount = 0 // Time: O(1), Space: O(1)</a:t>
            </a:r>
          </a:p>
          <a:p>
            <a:pPr algn="l">
              <a:defRPr sz="1100">
                <a:solidFill>
                  <a:srgbClr val="4ECCA3"/>
                </a:solidFill>
                <a:latin typeface="Consolas"/>
              </a:defRPr>
            </a:pPr>
            <a:r>
              <a:t>    var leftIndex = 0 // Time: O(1), Space: O(1)</a:t>
            </a:r>
          </a:p>
          <a:p>
            <a:pPr algn="l">
              <a:defRPr sz="1100">
                <a:solidFill>
                  <a:srgbClr val="4ECCA3"/>
                </a:solidFill>
                <a:latin typeface="Consolas"/>
              </a:defRPr>
            </a:pPr>
            <a:r>
              <a:t>    var rightIndex = nums.lastIndex // Time: O(1), Space: O(1)</a:t>
            </a:r>
          </a:p>
          <a:p>
            <a:pPr algn="l">
              <a:defRPr sz="1100">
                <a:solidFill>
                  <a:srgbClr val="4ECCA3"/>
                </a:solidFill>
                <a:latin typeface="Consolas"/>
              </a:defRPr>
            </a:pPr>
            <a:r>
              <a:t>    while (leftIndex &lt; rightIndex) { // O(n) iterations</a:t>
            </a:r>
          </a:p>
          <a:p>
            <a:pPr algn="l">
              <a:defRPr sz="1100">
                <a:solidFill>
                  <a:srgbClr val="4ECCA3"/>
                </a:solidFill>
                <a:latin typeface="Consolas"/>
              </a:defRPr>
            </a:pPr>
            <a:r>
              <a:t>        val currentSum = nums[leftIndex] + nums[rightIndex] // Time: O(1)</a:t>
            </a:r>
          </a:p>
          <a:p>
            <a:pPr algn="l">
              <a:defRPr sz="1100">
                <a:solidFill>
                  <a:srgbClr val="4ECCA3"/>
                </a:solidFill>
                <a:latin typeface="Consolas"/>
              </a:defRPr>
            </a:pPr>
            <a:r>
              <a:t>        when {</a:t>
            </a:r>
          </a:p>
          <a:p>
            <a:pPr algn="l">
              <a:defRPr sz="1100">
                <a:solidFill>
                  <a:srgbClr val="4ECCA3"/>
                </a:solidFill>
                <a:latin typeface="Consolas"/>
              </a:defRPr>
            </a:pPr>
            <a:r>
              <a:t>            currentSum == k -&gt; {</a:t>
            </a:r>
          </a:p>
          <a:p>
            <a:pPr algn="l">
              <a:defRPr sz="1100">
                <a:solidFill>
                  <a:srgbClr val="4ECCA3"/>
                </a:solidFill>
                <a:latin typeface="Consolas"/>
              </a:defRPr>
            </a:pPr>
            <a:r>
              <a:t>                operationsCount++ // Time: O(1)</a:t>
            </a:r>
          </a:p>
          <a:p>
            <a:pPr algn="l">
              <a:defRPr sz="1100">
                <a:solidFill>
                  <a:srgbClr val="4ECCA3"/>
                </a:solidFill>
                <a:latin typeface="Consolas"/>
              </a:defRPr>
            </a:pPr>
            <a:r>
              <a:t>                leftIndex++ // Time: O(1) — consume left element</a:t>
            </a:r>
          </a:p>
          <a:p>
            <a:pPr algn="l">
              <a:defRPr sz="1100">
                <a:solidFill>
                  <a:srgbClr val="4ECCA3"/>
                </a:solidFill>
                <a:latin typeface="Consolas"/>
              </a:defRPr>
            </a:pPr>
            <a:r>
              <a:t>                rightIndex-- // Time: O(1) — consume right element</a:t>
            </a:r>
          </a:p>
          <a:p>
            <a:pPr algn="l">
              <a:defRPr sz="1100">
                <a:solidFill>
                  <a:srgbClr val="4ECCA3"/>
                </a:solidFill>
                <a:latin typeface="Consolas"/>
              </a:defRPr>
            </a:pPr>
            <a:r>
              <a:t>            }</a:t>
            </a:r>
          </a:p>
          <a:p>
            <a:pPr algn="l">
              <a:defRPr sz="1100">
                <a:solidFill>
                  <a:srgbClr val="4ECCA3"/>
                </a:solidFill>
                <a:latin typeface="Consolas"/>
              </a:defRPr>
            </a:pPr>
            <a:r>
              <a:t>            currentSum &lt; k -&gt; leftIndex++ // Time: O(1) — sum too small</a:t>
            </a:r>
          </a:p>
          <a:p>
            <a:pPr algn="l">
              <a:defRPr sz="1100">
                <a:solidFill>
                  <a:srgbClr val="4ECCA3"/>
                </a:solidFill>
                <a:latin typeface="Consolas"/>
              </a:defRPr>
            </a:pPr>
            <a:r>
              <a:t>            else -&gt; rightIndex-- // Time: O(1) — sum too large</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    return operationsCount // Time: O(1), Space: O(1)</a:t>
            </a:r>
          </a:p>
          <a:p>
            <a:pPr algn="l">
              <a:defRPr sz="1100">
                <a:solidFill>
                  <a:srgbClr val="4ECCA3"/>
                </a:solidFill>
                <a:latin typeface="Consolas"/>
              </a:defRPr>
            </a:pPr>
            <a:r>
              <a:t>}</a:t>
            </a:r>
          </a:p>
          <a:p>
            <a:pPr algn="l">
              <a:defRPr sz="1100">
                <a:solidFill>
                  <a:srgbClr val="4ECCA3"/>
                </a:solidFill>
                <a:latin typeface="Consolas"/>
              </a:defRPr>
            </a:pPr>
            <a:r>
              <a:t>// Overall Time: O(n log n) | Auxiliary Space: O(1) (in-place) | Overall Space: O(1)</a:t>
            </a:r>
          </a:p>
        </p:txBody>
      </p:sp>
      <p:sp>
        <p:nvSpPr>
          <p:cNvPr id="5" name="TextBox 4"/>
          <p:cNvSpPr txBox="1"/>
          <p:nvPr/>
        </p:nvSpPr>
        <p:spPr>
          <a:xfrm>
            <a:off x="731520" y="4526280"/>
            <a:ext cx="10698480" cy="1463040"/>
          </a:xfrm>
          <a:prstGeom prst="rect">
            <a:avLst/>
          </a:prstGeom>
          <a:noFill/>
        </p:spPr>
        <p:txBody>
          <a:bodyPr wrap="square">
            <a:spAutoFit/>
          </a:bodyPr>
          <a:lstStyle/>
          <a:p>
            <a:pPr>
              <a:defRPr sz="1300">
                <a:solidFill>
                  <a:srgbClr val="DDE1F5"/>
                </a:solidFill>
              </a:defRPr>
            </a:pPr>
            <a:r>
              <a:t>• پیچیدگی زمانی O(n log n): مرحله سورت غالب است و حلقه دو نشانگر تنها O(n) زمان می‌برد.</a:t>
            </a:r>
          </a:p>
          <a:p>
            <a:pPr>
              <a:defRPr sz="1300">
                <a:solidFill>
                  <a:srgbClr val="DDE1F5"/>
                </a:solidFill>
              </a:defRPr>
            </a:pPr>
            <a:r>
              <a:t>• حافظه کمکی O(1): مرتب‌سازی درجا و ۴ متغیر ابتدایی روی پشته بدون تخصیص شیء روی هیپ.</a:t>
            </a:r>
          </a:p>
          <a:p>
            <a:pPr>
              <a:defRPr sz="1300">
                <a:solidFill>
                  <a:srgbClr val="DDE1F5"/>
                </a:solidFill>
              </a:defRPr>
            </a:pPr>
            <a:r>
              <a:t>• مقایسه با روش Hash Map فرکانسی: روش هش‌مپ زمان O(n) دارد اما O(n) حافظه مصرف می‌کند؛ تحلیل این دادوستد امتیاز ارزیابی است.</a:t>
            </a:r>
          </a:p>
          <a:p>
            <a:pPr>
              <a:defRPr sz="1300">
                <a:solidFill>
                  <a:srgbClr val="DDE1F5"/>
                </a:solidFill>
              </a:defRPr>
            </a:pPr>
            <a:r>
              <a:t>• ایمنی در برابر سرریز (Overflow): مقادیر ورودی تا ۱۰ به توان ۹ است و جمع دو عدد در محدوده Int ۳۲ بیتی سرریز نمی‌کند.</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تعاملی · K-SUM PAIRS VISUALIZER  |  شبیه‌ساز تعاملی و گام‌به‌گام: شکار جفت‌های با مجموع k</a:t>
            </a:r>
          </a:p>
          <a:p>
            <a:pPr>
              <a:defRPr sz="1400">
                <a:solidFill>
                  <a:srgbClr val="969EB4"/>
                </a:solidFill>
              </a:defRPr>
            </a:pPr>
            <a:r>
              <a:t>ردیابی مقادیر روی آرایه nums = [3, 1, 3, 4, 3] با هدف مجموع k = 6  |  LeetCode #1679</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گام ۰: سورت آرایه</a:t>
            </a:r>
          </a:p>
          <a:p>
            <a:pPr>
              <a:defRPr sz="1100">
                <a:solidFill>
                  <a:srgbClr val="DDE1F5"/>
                </a:solidFill>
              </a:defRPr>
            </a:pPr>
            <a:r>
              <a:t>مرتب‌سازی اولیه: [1, 3, 3, 3, 4] | L=0 (1), R=4 (4)</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گام ۱: L=0, R=4</a:t>
            </a:r>
          </a:p>
          <a:p>
            <a:pPr>
              <a:defRPr sz="1100">
                <a:solidFill>
                  <a:srgbClr val="DDE1F5"/>
                </a:solidFill>
              </a:defRPr>
            </a:pPr>
            <a:r>
              <a:t>جمع: 1 + 4 = 5 &lt; 6 ➔ کوچک است! ➔ L++ (حذف عدد ۱ از پنجره)</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گام ۲: L=1, R=4</a:t>
            </a:r>
          </a:p>
          <a:p>
            <a:pPr>
              <a:defRPr sz="1100">
                <a:solidFill>
                  <a:srgbClr val="DDE1F5"/>
                </a:solidFill>
              </a:defRPr>
            </a:pPr>
            <a:r>
              <a:t>جمع: 3 + 4 = 7 &gt; 6 ➔ بزرگ است! ➔ R-- (حذف عدد ۴ از پنجره)</a:t>
            </a:r>
          </a:p>
        </p:txBody>
      </p:sp>
      <p:sp>
        <p:nvSpPr>
          <p:cNvPr id="7" name="Rounded Rectangle 6"/>
          <p:cNvSpPr/>
          <p:nvPr/>
        </p:nvSpPr>
        <p:spPr>
          <a:xfrm>
            <a:off x="8926830"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گام ۳: L=1, R=3</a:t>
            </a:r>
          </a:p>
          <a:p>
            <a:pPr>
              <a:defRPr sz="1100">
                <a:solidFill>
                  <a:srgbClr val="DDE1F5"/>
                </a:solidFill>
              </a:defRPr>
            </a:pPr>
            <a:r>
              <a:t>جمع: 3 + 3 = 6 == 6 🎉 صید جفت اول! ➔ L=2, R=2 ➔ پایان جستجو با ۱ جفت</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چالش اعداد تکراری: مشاهده کردید که عدد ۳ سوم بدون استفاده ماند زیرا جفت دیگری برایش وجود نداشت.</a:t>
            </a:r>
          </a:p>
          <a:p>
            <a:pPr>
              <a:defRPr sz="1300">
                <a:solidFill>
                  <a:srgbClr val="DDE1F5"/>
                </a:solidFill>
              </a:defRPr>
            </a:pPr>
            <a:r>
              <a:t>• تکامل خانواده Two Pointers: از Move Zeroes (هم‌جهت) تا Is Subsequence (دو رشته) تا Container (حریصانه) و K-Sum Pairs (همگرایی با سورت).</a:t>
            </a:r>
          </a:p>
          <a:p>
            <a:pPr>
              <a:defRPr sz="1300">
                <a:solidFill>
                  <a:srgbClr val="DDE1F5"/>
                </a:solidFill>
              </a:defRPr>
            </a:pPr>
            <a:r>
              <a:t>• پوشش کامل تست‌کیس‌ها: آرایه بدون هیچ جفت منطبق، آرایه با همه جفت‌های یکسان، و مقادیر مرزی بزرگ.</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«تسلط بر این ۴ مسئله، جعبه‌ابزار شما را برای رویارویی با هر مسئله Two Pointers در ارزیابی‌های فنی تکمیل می‌کند.»</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38BDF8"/>
                </a:solidFill>
              </a:defRPr>
            </a:pPr>
            <a:r>
              <a:t>🚀 چالش پروداکشن · REAL-WORLD  |  مطالعه موردی در پروداکشن: چالش CardStack در سپینو</a:t>
            </a:r>
          </a:p>
          <a:p>
            <a:pPr>
              <a:defRPr sz="1400">
                <a:solidFill>
                  <a:srgbClr val="969EB4"/>
                </a:solidFill>
              </a:defRPr>
            </a:pPr>
            <a:r>
              <a:t>شرح کامل صورت مسئله در اپلیکیشن سپینو و نمایش کل کد ابتدایی پیاده‌سازی شده:</a:t>
            </a:r>
          </a:p>
        </p:txBody>
      </p:sp>
      <p:sp>
        <p:nvSpPr>
          <p:cNvPr id="5" name="Rounded Rectangle 4"/>
          <p:cNvSpPr/>
          <p:nvPr/>
        </p:nvSpPr>
        <p:spPr>
          <a:xfrm>
            <a:off x="731520" y="1463040"/>
            <a:ext cx="5234940" cy="1325880"/>
          </a:xfrm>
          <a:prstGeom prst="roundRect">
            <a:avLst/>
          </a:prstGeom>
          <a:solidFill>
            <a:srgbClr val="14142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7C8FF5"/>
                </a:solidFill>
              </a:defRPr>
            </a:pPr>
            <a:r>
              <a:t>۱. صورت مسئله و داده‌های ورودی</a:t>
            </a:r>
          </a:p>
          <a:p>
            <a:pPr>
              <a:defRPr sz="950">
                <a:solidFill>
                  <a:srgbClr val="DDE1F5"/>
                </a:solidFill>
              </a:defRPr>
            </a:pPr>
            <a:r>
              <a:t>در CardStack سپینو (KMP &amp; Compose): دو لیست currentItems (کارت‌های زنده با وضعیت انیمیشن و فوکوس) و newCardsList (دیتای تازه از سرور).</a:t>
            </a:r>
          </a:p>
        </p:txBody>
      </p:sp>
      <p:sp>
        <p:nvSpPr>
          <p:cNvPr id="6" name="Rounded Rectangle 5"/>
          <p:cNvSpPr/>
          <p:nvPr/>
        </p:nvSpPr>
        <p:spPr>
          <a:xfrm>
            <a:off x="6195059" y="1463040"/>
            <a:ext cx="5234940" cy="1325880"/>
          </a:xfrm>
          <a:prstGeom prst="roundRect">
            <a:avLst/>
          </a:prstGeom>
          <a:solidFill>
            <a:srgbClr val="14142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ECCA3"/>
                </a:solidFill>
              </a:defRPr>
            </a:pPr>
            <a:r>
              <a:t>۲. رفتار مورد انتظار معماری</a:t>
            </a:r>
          </a:p>
          <a:p>
            <a:pPr>
              <a:defRPr sz="950">
                <a:solidFill>
                  <a:srgbClr val="DDE1F5"/>
                </a:solidFill>
              </a:defRPr>
            </a:pPr>
            <a:r>
              <a:t>حفظ کارت‌های مشترک بدون فلیکر یا ریست انیمیشن، حذف کارت‌های منقضی‌شده، و الحاق جدیدها به انتهای پشته. پاک‌کردن لیست در Compose فاجعه است.</a:t>
            </a:r>
          </a:p>
        </p:txBody>
      </p:sp>
      <p:sp>
        <p:nvSpPr>
          <p:cNvPr id="7" name="Rounded Rectangle 6"/>
          <p:cNvSpPr/>
          <p:nvPr/>
        </p:nvSpPr>
        <p:spPr>
          <a:xfrm>
            <a:off x="731520" y="2926080"/>
            <a:ext cx="10698480" cy="192024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000">
                <a:solidFill>
                  <a:srgbClr val="4ECCA3"/>
                </a:solidFill>
                <a:latin typeface="Consolas"/>
              </a:defRPr>
            </a:pPr>
            <a:r>
              <a:t>internal fun &lt;T&gt; syncCardStackState(</a:t>
            </a:r>
          </a:p>
          <a:p>
            <a:pPr algn="l">
              <a:defRPr sz="1000">
                <a:solidFill>
                  <a:srgbClr val="4ECCA3"/>
                </a:solidFill>
                <a:latin typeface="Consolas"/>
              </a:defRPr>
            </a:pPr>
            <a:r>
              <a:t>    currentItems: List&lt;T&gt;,</a:t>
            </a:r>
          </a:p>
          <a:p>
            <a:pPr algn="l">
              <a:defRPr sz="1000">
                <a:solidFill>
                  <a:srgbClr val="4ECCA3"/>
                </a:solidFill>
                <a:latin typeface="Consolas"/>
              </a:defRPr>
            </a:pPr>
            <a:r>
              <a:t>    newCardsList: List&lt;T&gt;,</a:t>
            </a:r>
          </a:p>
          <a:p>
            <a:pPr algn="l">
              <a:defRPr sz="1000">
                <a:solidFill>
                  <a:srgbClr val="4ECCA3"/>
                </a:solidFill>
                <a:latin typeface="Consolas"/>
              </a:defRPr>
            </a:pPr>
            <a:r>
              <a:t>): List&lt;T&gt; {</a:t>
            </a:r>
          </a:p>
          <a:p>
            <a:pPr algn="l">
              <a:defRPr sz="1000">
                <a:solidFill>
                  <a:srgbClr val="4ECCA3"/>
                </a:solidFill>
                <a:latin typeface="Consolas"/>
              </a:defRPr>
            </a:pPr>
            <a:r>
              <a:t>    val remainingOldItems = currentItems.filter { it in newCardsList } // Time: O(N × M), Space: O(N)</a:t>
            </a:r>
          </a:p>
          <a:p>
            <a:pPr algn="l">
              <a:defRPr sz="1000">
                <a:solidFill>
                  <a:srgbClr val="4ECCA3"/>
                </a:solidFill>
                <a:latin typeface="Consolas"/>
              </a:defRPr>
            </a:pPr>
            <a:r>
              <a:t>    val newItems = newCardsList.filter { it !in currentItems } // Time: O(M × N), Space: O(M)</a:t>
            </a:r>
          </a:p>
          <a:p>
            <a:pPr algn="l">
              <a:defRPr sz="1000">
                <a:solidFill>
                  <a:srgbClr val="4ECCA3"/>
                </a:solidFill>
                <a:latin typeface="Consolas"/>
              </a:defRPr>
            </a:pPr>
            <a:r>
              <a:t>    return remainingOldItems + newItems // Time: O(N + M), Space: O(N + M)</a:t>
            </a:r>
          </a:p>
          <a:p>
            <a:pPr algn="l">
              <a:defRPr sz="1000">
                <a:solidFill>
                  <a:srgbClr val="4ECCA3"/>
                </a:solidFill>
                <a:latin typeface="Consolas"/>
              </a:defRPr>
            </a:pPr>
            <a:r>
              <a:t>}</a:t>
            </a:r>
          </a:p>
          <a:p>
            <a:pPr algn="l">
              <a:defRPr sz="1000">
                <a:solidFill>
                  <a:srgbClr val="4ECCA3"/>
                </a:solidFill>
                <a:latin typeface="Consolas"/>
              </a:defRPr>
            </a:pPr>
            <a:r>
              <a:t>// Overall Time: O(N × M) ≈ O(N²) — linear List.contains() scans | Overall Space: O(N + 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هزینه پنهان · HIDDEN O(N²)  |  کالبدشکافی کد اولیه: چطور دو خط کاتلین به حلقه O(N²) تبدیل شد؟</a:t>
            </a:r>
          </a:p>
          <a:p>
            <a:pPr>
              <a:defRPr sz="1400">
                <a:solidFill>
                  <a:srgbClr val="969EB4"/>
                </a:solidFill>
              </a:defRPr>
            </a:pPr>
            <a:r>
              <a:t>وقتی کامپایلر این دو خط اعلانی را اجرا می‌کند، زیر کاپوت چه فاجعه‌ای رخ می‌دهد؟</a:t>
            </a:r>
          </a:p>
        </p:txBody>
      </p:sp>
      <p:sp>
        <p:nvSpPr>
          <p:cNvPr id="4" name="Rounded Rectangle 3"/>
          <p:cNvSpPr/>
          <p:nvPr/>
        </p:nvSpPr>
        <p:spPr>
          <a:xfrm>
            <a:off x="731520" y="1463040"/>
            <a:ext cx="3413759" cy="13258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A84C"/>
                </a:solidFill>
              </a:defRPr>
            </a:pPr>
            <a:r>
              <a:t>ظاهر فریبنده کاتلین</a:t>
            </a:r>
          </a:p>
          <a:p>
            <a:pPr>
              <a:defRPr sz="950">
                <a:solidFill>
                  <a:srgbClr val="DDE1F5"/>
                </a:solidFill>
              </a:defRPr>
            </a:pPr>
            <a:r>
              <a:t>کد فقط ۲ خط است، هیچ خطای کامپایلری ندارد و تست‌های اولیه با ۲-۳ کارت سریعاً پاس شدند.</a:t>
            </a:r>
          </a:p>
        </p:txBody>
      </p:sp>
      <p:sp>
        <p:nvSpPr>
          <p:cNvPr id="5" name="Rounded Rectangle 4"/>
          <p:cNvSpPr/>
          <p:nvPr/>
        </p:nvSpPr>
        <p:spPr>
          <a:xfrm>
            <a:off x="4373880" y="1463040"/>
            <a:ext cx="3413759" cy="13258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6C6C"/>
                </a:solidFill>
              </a:defRPr>
            </a:pPr>
            <a:r>
              <a:t>زیر کاپوت عملگر in</a:t>
            </a:r>
          </a:p>
          <a:p>
            <a:pPr>
              <a:defRPr sz="950">
                <a:solidFill>
                  <a:srgbClr val="DDE1F5"/>
                </a:solidFill>
              </a:defRPr>
            </a:pPr>
            <a:r>
              <a:t>در List عملگر in معادل contains() است که کل لیست را خطی با O(M) جستجو می‌کند.</a:t>
            </a:r>
          </a:p>
        </p:txBody>
      </p:sp>
      <p:sp>
        <p:nvSpPr>
          <p:cNvPr id="6" name="Rounded Rectangle 5"/>
          <p:cNvSpPr/>
          <p:nvPr/>
        </p:nvSpPr>
        <p:spPr>
          <a:xfrm>
            <a:off x="8016239" y="1463040"/>
            <a:ext cx="3413759" cy="13258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6C6C"/>
                </a:solidFill>
              </a:defRPr>
            </a:pPr>
            <a:r>
              <a:t>پیچیدگی نمایی O(N²)</a:t>
            </a:r>
          </a:p>
          <a:p>
            <a:pPr>
              <a:defRPr sz="950">
                <a:solidFill>
                  <a:srgbClr val="DDE1F5"/>
                </a:solidFill>
              </a:defRPr>
            </a:pPr>
            <a:r>
              <a:t>برای دو لیست با اندازه N و M، تعداد مقایسه‌ها برابر 2×N×M است (با ۱۰۰ کارت = ۲۰,۰۰۰ مقایسه!).</a:t>
            </a:r>
          </a:p>
        </p:txBody>
      </p:sp>
      <p:sp>
        <p:nvSpPr>
          <p:cNvPr id="7" name="Rounded Rectangle 6"/>
          <p:cNvSpPr/>
          <p:nvPr/>
        </p:nvSpPr>
        <p:spPr>
          <a:xfrm>
            <a:off x="731520" y="2926080"/>
            <a:ext cx="10698480" cy="192024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000">
                <a:solidFill>
                  <a:srgbClr val="4ECCA3"/>
                </a:solidFill>
                <a:latin typeface="Consolas"/>
              </a:defRPr>
            </a:pPr>
            <a:r>
              <a:t>internal fun &lt;T&gt; syncCardStackState(</a:t>
            </a:r>
          </a:p>
          <a:p>
            <a:pPr algn="l">
              <a:defRPr sz="1000">
                <a:solidFill>
                  <a:srgbClr val="4ECCA3"/>
                </a:solidFill>
                <a:latin typeface="Consolas"/>
              </a:defRPr>
            </a:pPr>
            <a:r>
              <a:t>    currentItems: List&lt;T&gt;,</a:t>
            </a:r>
          </a:p>
          <a:p>
            <a:pPr algn="l">
              <a:defRPr sz="1000">
                <a:solidFill>
                  <a:srgbClr val="4ECCA3"/>
                </a:solidFill>
                <a:latin typeface="Consolas"/>
              </a:defRPr>
            </a:pPr>
            <a:r>
              <a:t>    newCardsList: List&lt;T&gt;,</a:t>
            </a:r>
          </a:p>
          <a:p>
            <a:pPr algn="l">
              <a:defRPr sz="1000">
                <a:solidFill>
                  <a:srgbClr val="4ECCA3"/>
                </a:solidFill>
                <a:latin typeface="Consolas"/>
              </a:defRPr>
            </a:pPr>
            <a:r>
              <a:t>): List&lt;T&gt; {</a:t>
            </a:r>
          </a:p>
          <a:p>
            <a:pPr algn="l">
              <a:defRPr sz="1000">
                <a:solidFill>
                  <a:srgbClr val="4ECCA3"/>
                </a:solidFill>
                <a:latin typeface="Consolas"/>
              </a:defRPr>
            </a:pPr>
            <a:r>
              <a:t>    val remainingOldItems = currentItems.filter { it in newCardsList } // Time: O(N × M), Space: O(N)</a:t>
            </a:r>
          </a:p>
          <a:p>
            <a:pPr algn="l">
              <a:defRPr sz="1000">
                <a:solidFill>
                  <a:srgbClr val="4ECCA3"/>
                </a:solidFill>
                <a:latin typeface="Consolas"/>
              </a:defRPr>
            </a:pPr>
            <a:r>
              <a:t>    val newItems = newCardsList.filter { it !in currentItems } // Time: O(M × N), Space: O(M)</a:t>
            </a:r>
          </a:p>
          <a:p>
            <a:pPr algn="l">
              <a:defRPr sz="1000">
                <a:solidFill>
                  <a:srgbClr val="4ECCA3"/>
                </a:solidFill>
                <a:latin typeface="Consolas"/>
              </a:defRPr>
            </a:pPr>
            <a:r>
              <a:t>    return remainingOldItems + newItems // Time: O(N + M), Space: O(N + M)</a:t>
            </a:r>
          </a:p>
          <a:p>
            <a:pPr algn="l">
              <a:defRPr sz="1000">
                <a:solidFill>
                  <a:srgbClr val="4ECCA3"/>
                </a:solidFill>
                <a:latin typeface="Consolas"/>
              </a:defRPr>
            </a:pPr>
            <a:r>
              <a:t>}</a:t>
            </a:r>
          </a:p>
          <a:p>
            <a:pPr algn="l">
              <a:defRPr sz="1000">
                <a:solidFill>
                  <a:srgbClr val="4ECCA3"/>
                </a:solidFill>
                <a:latin typeface="Consolas"/>
              </a:defRPr>
            </a:pPr>
            <a:r>
              <a:t>// Overall Time: O(N × M) ≈ O(N²) — linear List.contains() scans | Overall Space: O(N + 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تحلیل گلوگاه · BOTTLENECK ANALYSIS  |  کالبدشکافی ایراد: هزینه پنهان و افت فریم در UI</a:t>
            </a:r>
          </a:p>
          <a:p>
            <a:pPr>
              <a:defRPr sz="1400">
                <a:solidFill>
                  <a:srgbClr val="969EB4"/>
                </a:solidFill>
              </a:defRPr>
            </a:pPr>
            <a:r>
              <a:t>چرا این کد در محیط پروداکشن باعث لگ و مصرف غیرعادی باتری می‌شود؟</a:t>
            </a:r>
          </a:p>
        </p:txBody>
      </p:sp>
      <p:sp>
        <p:nvSpPr>
          <p:cNvPr id="4" name="Rounded Rectangle 3"/>
          <p:cNvSpPr/>
          <p:nvPr/>
        </p:nvSpPr>
        <p:spPr>
          <a:xfrm>
            <a:off x="731520" y="1463040"/>
            <a:ext cx="5234940" cy="20116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 پیمایش خطی مداوم (Linear Scan)</a:t>
            </a:r>
          </a:p>
          <a:p>
            <a:pPr>
              <a:defRPr sz="1100">
                <a:solidFill>
                  <a:srgbClr val="DDE1F5"/>
                </a:solidFill>
              </a:defRPr>
            </a:pPr>
            <a:r>
              <a:t>ساختار List ترتیبی است؛ ترکیب آن با filter یک حلقه تو در تو (Nested Loop) پنهان است.</a:t>
            </a:r>
          </a:p>
        </p:txBody>
      </p:sp>
      <p:sp>
        <p:nvSpPr>
          <p:cNvPr id="5" name="Rounded Rectangle 4"/>
          <p:cNvSpPr/>
          <p:nvPr/>
        </p:nvSpPr>
        <p:spPr>
          <a:xfrm>
            <a:off x="6195059" y="1463040"/>
            <a:ext cx="523494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 افت فریم و لگ در کامپوز (Jank)</a:t>
            </a:r>
          </a:p>
          <a:p>
            <a:pPr>
              <a:defRPr sz="1100">
                <a:solidFill>
                  <a:srgbClr val="DDE1F5"/>
                </a:solidFill>
              </a:defRPr>
            </a:pPr>
            <a:r>
              <a:t>در Compose محاسبه State روی Main Thread است؛ هزاران مقایسه باعث گذر از بودجه ۱۶ میلی‌ثانیه‌ای فریم می‌شود.</a:t>
            </a:r>
          </a:p>
        </p:txBody>
      </p:sp>
      <p:sp>
        <p:nvSpPr>
          <p:cNvPr id="6" name="TextBox 5"/>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پنهان از چشم لینترها: Detekt و کامپایلر ایراد سینتکسی نمی‌گیرند؛ اما Profiler فریز فریم‌ها را ثبت می‌کند.</a:t>
            </a:r>
          </a:p>
          <a:p>
            <a:pPr>
              <a:defRPr sz="1300">
                <a:solidFill>
                  <a:srgbClr val="DDE1F5"/>
                </a:solidFill>
              </a:defRPr>
            </a:pPr>
            <a:r>
              <a:t>• در مقیاس ۵۰ تا ۱۰۰ کارت: ۲۰,۰۰۰ عملیات مقایسه سنگین شیء رخ می‌دهد.</a:t>
            </a:r>
          </a:p>
        </p:txBody>
      </p:sp>
      <p:sp>
        <p:nvSpPr>
          <p:cNvPr id="7" name="Rounded Rectangle 6"/>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«در ۶۰ فریم بر ثانیه، هر فریم فقط ۱۶ میلی‌ثانیه زمان دارد؛ حلقه‌های O(N²) اولین قاتل روانی UI هستند.»</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OPTIMAL O(N)  |  راه‌حل بهینه: جهش به O(N) با HashSet و تحلیل چرایی</a:t>
            </a:r>
          </a:p>
          <a:p>
            <a:pPr>
              <a:defRPr sz="1400">
                <a:solidFill>
                  <a:srgbClr val="969EB4"/>
                </a:solidFill>
              </a:defRPr>
            </a:pPr>
            <a:r>
              <a:t>به‌کارگیری جدول هش برای جستجوی آنی O(1) و کاهش زمان کل به خطی O(N + M):</a:t>
            </a:r>
          </a:p>
        </p:txBody>
      </p:sp>
      <p:sp>
        <p:nvSpPr>
          <p:cNvPr id="4" name="Rounded Rectangle 3"/>
          <p:cNvSpPr/>
          <p:nvPr/>
        </p:nvSpPr>
        <p:spPr>
          <a:xfrm>
            <a:off x="731520" y="1463040"/>
            <a:ext cx="5234940" cy="13258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ECCA3"/>
                </a:solidFill>
              </a:defRPr>
            </a:pPr>
            <a:r>
              <a:t>⚡ جستجوی آنی O(1)</a:t>
            </a:r>
          </a:p>
          <a:p>
            <a:pPr>
              <a:defRPr sz="950">
                <a:solidFill>
                  <a:srgbClr val="DDE1F5"/>
                </a:solidFill>
              </a:defRPr>
            </a:pPr>
            <a:r>
              <a:t>با toSet() جدول هش ساخته می‌شود و جستجو با تابع هش در زمان ثابت انجام می‌گیرد.</a:t>
            </a:r>
          </a:p>
        </p:txBody>
      </p:sp>
      <p:sp>
        <p:nvSpPr>
          <p:cNvPr id="5" name="Rounded Rectangle 4"/>
          <p:cNvSpPr/>
          <p:nvPr/>
        </p:nvSpPr>
        <p:spPr>
          <a:xfrm>
            <a:off x="6195059" y="1463040"/>
            <a:ext cx="5234940" cy="13258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ECCA3"/>
                </a:solidFill>
              </a:defRPr>
            </a:pPr>
            <a:r>
              <a:t>🚀 کاهش به خطی O(N + M)</a:t>
            </a:r>
          </a:p>
          <a:p>
            <a:pPr>
              <a:defRPr sz="950">
                <a:solidFill>
                  <a:srgbClr val="DDE1F5"/>
                </a:solidFill>
              </a:defRPr>
            </a:pPr>
            <a:r>
              <a:t>کل هزینه به O(N + M) تبدیل شده و حتی برای ۱۰,۰۰۰ کارت در کسری از میلی‌ثانیه اجرا می‌شود.</a:t>
            </a:r>
          </a:p>
        </p:txBody>
      </p:sp>
      <p:sp>
        <p:nvSpPr>
          <p:cNvPr id="6" name="Rounded Rectangle 5"/>
          <p:cNvSpPr/>
          <p:nvPr/>
        </p:nvSpPr>
        <p:spPr>
          <a:xfrm>
            <a:off x="731520" y="2926080"/>
            <a:ext cx="10698480" cy="228600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000">
                <a:solidFill>
                  <a:srgbClr val="4ECCA3"/>
                </a:solidFill>
                <a:latin typeface="Consolas"/>
              </a:defRPr>
            </a:pPr>
            <a:r>
              <a:t>internal fun &lt;T&gt; syncCardStackState(</a:t>
            </a:r>
          </a:p>
          <a:p>
            <a:pPr algn="l">
              <a:defRPr sz="1000">
                <a:solidFill>
                  <a:srgbClr val="4ECCA3"/>
                </a:solidFill>
                <a:latin typeface="Consolas"/>
              </a:defRPr>
            </a:pPr>
            <a:r>
              <a:t>    currentItems: List&lt;T&gt;,</a:t>
            </a:r>
          </a:p>
          <a:p>
            <a:pPr algn="l">
              <a:defRPr sz="1000">
                <a:solidFill>
                  <a:srgbClr val="4ECCA3"/>
                </a:solidFill>
                <a:latin typeface="Consolas"/>
              </a:defRPr>
            </a:pPr>
            <a:r>
              <a:t>    newCardsList: List&lt;T&gt;,</a:t>
            </a:r>
          </a:p>
          <a:p>
            <a:pPr algn="l">
              <a:defRPr sz="1000">
                <a:solidFill>
                  <a:srgbClr val="4ECCA3"/>
                </a:solidFill>
                <a:latin typeface="Consolas"/>
              </a:defRPr>
            </a:pPr>
            <a:r>
              <a:t>): List&lt;T&gt; {</a:t>
            </a:r>
          </a:p>
          <a:p>
            <a:pPr algn="l">
              <a:defRPr sz="1000">
                <a:solidFill>
                  <a:srgbClr val="4ECCA3"/>
                </a:solidFill>
                <a:latin typeface="Consolas"/>
              </a:defRPr>
            </a:pPr>
            <a:r>
              <a:t>    val newCardsSet = newCardsList.toSet() // Time: O(M), Space: O(M)</a:t>
            </a:r>
          </a:p>
          <a:p>
            <a:pPr algn="l">
              <a:defRPr sz="1000">
                <a:solidFill>
                  <a:srgbClr val="4ECCA3"/>
                </a:solidFill>
                <a:latin typeface="Consolas"/>
              </a:defRPr>
            </a:pPr>
            <a:r>
              <a:t>    val currentItemsSet = currentItems.toSet() // Time: O(N), Space: O(N)</a:t>
            </a:r>
          </a:p>
          <a:p>
            <a:pPr algn="l">
              <a:defRPr sz="1000">
                <a:solidFill>
                  <a:srgbClr val="4ECCA3"/>
                </a:solidFill>
                <a:latin typeface="Consolas"/>
              </a:defRPr>
            </a:pPr>
            <a:r>
              <a:t>    val remainingOldItems = currentItems.filter { it in newCardsSet } // Time: O(N), Space: O(N)</a:t>
            </a:r>
          </a:p>
          <a:p>
            <a:pPr algn="l">
              <a:defRPr sz="1000">
                <a:solidFill>
                  <a:srgbClr val="4ECCA3"/>
                </a:solidFill>
                <a:latin typeface="Consolas"/>
              </a:defRPr>
            </a:pPr>
            <a:r>
              <a:t>    val newItems = newCardsList.filter { it !in currentItemsSet } // Time: O(M), Space: O(M)</a:t>
            </a:r>
          </a:p>
          <a:p>
            <a:pPr algn="l">
              <a:defRPr sz="1000">
                <a:solidFill>
                  <a:srgbClr val="4ECCA3"/>
                </a:solidFill>
                <a:latin typeface="Consolas"/>
              </a:defRPr>
            </a:pPr>
            <a:r>
              <a:t>    return remainingOldItems + newItems // Time: O(N + M), Space: O(N + M)</a:t>
            </a:r>
          </a:p>
          <a:p>
            <a:pPr algn="l">
              <a:defRPr sz="1000">
                <a:solidFill>
                  <a:srgbClr val="4ECCA3"/>
                </a:solidFill>
                <a:latin typeface="Consolas"/>
              </a:defRPr>
            </a:pPr>
            <a:r>
              <a:t>}</a:t>
            </a:r>
          </a:p>
          <a:p>
            <a:pPr algn="l">
              <a:defRPr sz="1000">
                <a:solidFill>
                  <a:srgbClr val="4ECCA3"/>
                </a:solidFill>
                <a:latin typeface="Consolas"/>
              </a:defRPr>
            </a:pPr>
            <a:r>
              <a:t>// Overall Time: O(N + M) — linear time (60 FPS) | Auxiliary Space: O(N + M)</a:t>
            </a:r>
          </a:p>
        </p:txBody>
      </p:sp>
      <p:sp>
        <p:nvSpPr>
          <p:cNvPr id="7" name="Rounded Rectangle 6"/>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«قاعده طلایی: همیشه پیش از فیلتر یا مقایسه اشتراک دو لیست در کاتلین، لیست مرجع را به Set تبدیل کنید.»</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برنامه اقدام · ACTION PLAN  |  جمع‌بندی و برنامه ۳۰ روزه آینده</a:t>
            </a:r>
          </a:p>
          <a:p>
            <a:pPr>
              <a:defRPr sz="1400">
                <a:solidFill>
                  <a:srgbClr val="969EB4"/>
                </a:solidFill>
              </a:defRPr>
            </a:pPr>
            <a:r>
              <a:t>نقشه راه ۴ هفته‌ای برای رسیدن به آمادگی در جلسات ارزیابی:</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هفته اول: مبانی آرایه و هش</a:t>
            </a:r>
          </a:p>
          <a:p>
            <a:pPr>
              <a:defRPr sz="1100">
                <a:solidFill>
                  <a:srgbClr val="DDE1F5"/>
                </a:solidFill>
              </a:defRPr>
            </a:pPr>
            <a:r>
              <a:t>حل ۵ مسئله Easy اول Blind 75 مانند جمع دو تایی و Contains Duplicate.</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هفته دوم: نشانگرها و پنجره</a:t>
            </a:r>
          </a:p>
          <a:p>
            <a:pPr>
              <a:defRPr sz="1100">
                <a:solidFill>
                  <a:srgbClr val="DDE1F5"/>
                </a:solidFill>
              </a:defRPr>
            </a:pPr>
            <a:r>
              <a:t>الگوهای Two Pointers و Sliding Window با مرور منظم مسائل هفته اول.</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هفته سوم: ساختارها و پشته</a:t>
            </a:r>
          </a:p>
          <a:p>
            <a:pPr>
              <a:defRPr sz="1100">
                <a:solidFill>
                  <a:srgbClr val="DDE1F5"/>
                </a:solidFill>
              </a:defRPr>
            </a:pPr>
            <a:r>
              <a:t>درخت‌ها، پشته (Stack) و پیمایش‌های DFS و BFS پایه با رسم روی کاغذ.</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هفته چهارم: تست‌های Medium</a:t>
            </a:r>
          </a:p>
          <a:p>
            <a:pPr>
              <a:defRPr sz="1100">
                <a:solidFill>
                  <a:srgbClr val="DDE1F5"/>
                </a:solidFill>
              </a:defRPr>
            </a:pPr>
            <a:r>
              <a:t>ورود به مسائل سطح Medium و تمرین با تایمر ۳۰ دقیقه‌ای ارزیابی.</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«پیوستگی روزانه ۴۵ دقیقه تمرین عمیق، معجزه‌ای خلق می‌کند که تمرین‌های ۱۰ ساعته‌ی بی‌هدف هرگز نخواهد کرد.»</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18320" cy="3657600"/>
          </a:xfrm>
          <a:prstGeom prst="rect">
            <a:avLst/>
          </a:prstGeom>
          <a:noFill/>
        </p:spPr>
        <p:txBody>
          <a:bodyPr wrap="square">
            <a:spAutoFit/>
          </a:bodyPr>
          <a:lstStyle/>
          <a:p>
            <a:pPr algn="ctr">
              <a:defRPr sz="4600" b="1">
                <a:solidFill>
                  <a:srgbClr val="4ECCA3"/>
                </a:solidFill>
              </a:defRPr>
            </a:pPr>
            <a:r>
              <a:t>متشکرم از همراهی شما</a:t>
            </a:r>
          </a:p>
          <a:p>
            <a:pPr algn="ctr">
              <a:defRPr sz="2800">
                <a:solidFill>
                  <a:srgbClr val="7C8FF5"/>
                </a:solidFill>
              </a:defRPr>
            </a:pPr>
            <a:r>
              <a:t>پرسش و پاسخ (Q&amp;A)</a:t>
            </a:r>
          </a:p>
          <a:p>
            <a:br/>
            <a:pPr algn="ctr">
              <a:defRPr sz="2000">
                <a:solidFill>
                  <a:srgbClr val="DDE1F5"/>
                </a:solidFill>
              </a:defRPr>
            </a:pPr>
            <a:r>
              <a:t>Milad Faridnia</a:t>
            </a:r>
          </a:p>
          <a:p>
            <a:pPr algn="ctr">
              <a:defRPr sz="1400">
                <a:solidFill>
                  <a:srgbClr val="E9A84C"/>
                </a:solidFill>
              </a:defRPr>
            </a:pPr>
            <a:r>
              <a:t>LeetCode.com · NeetCode.io · Blind 75</a:t>
            </a:r>
          </a:p>
        </p:txBody>
      </p:sp>
    </p:spTree>
  </p:cSld>
  <p:clrMapOvr>
    <a:masterClrMapping/>
  </p:clrMapOvr>
</p:sld>
</file>

<file path=ppt/slides/slide5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0D0D1A"/>
        </a:solidFill>
      </p:bgPr>
    </p:bg>
    <p:spTree>
      <p:nvGrpSpPr>
        <p:cNvPr id="1" name=""/>
        <p:cNvGrpSpPr/>
        <p:nvPr/>
      </p:nvGrpSpPr>
      <p:grpSpPr>
        <a:xfrm/>
      </p:grpSpPr>
      <p:sp>
        <p:nvSpPr>
          <p:cNvPr id="24" name="">
            <a:extLst>
              <a:ext uri="{FF2B5EF4-FFF2-40B4-BE49-F238E27FC236}">
                <ns2:creationId id="{7C6DE70D-B3BE-4109-A1A7-8984E9F2E3AD}"/>
              </a:ext>
            </a:extLst>
          </p:cNvPr>
          <p:cNvSpPr>
            <a:spLocks noGrp="1"/>
          </p:cNvSpPr>
          <p:nvPr/>
        </p:nvSpPr>
        <p:spPr>
          <a:xfrm>
            <a:off x="0" y="0"/>
            <a:ext cx="12192000" cy="47625"/>
          </a:xfrm>
          <a:prstGeom prst="rect">
            <a:avLst/>
          </a:prstGeom>
          <a:solidFill>
            <a:srgbClr val="4ECCA3"/>
          </a:solidFill>
          <a:ln w="0">
            <a:noFill/>
          </a:ln>
        </p:spPr>
      </p:sp>
      <p:sp>
        <p:nvSpPr>
          <p:cNvPr id="2" name="">
            <a:extLst>
              <a:ext uri="{FF2B5EF4-FFF2-40B4-BE49-F238E27FC236}">
                <ns2:creationId id="{B108B84B-CF53-4750-8520-18BC9625EFAD}"/>
              </a:ext>
            </a:extLst>
          </p:cNvPr>
          <p:cNvSpPr>
            <a:spLocks noGrp="1"/>
          </p:cNvSpPr>
          <p:nvPr/>
        </p:nvSpPr>
        <p:spPr>
          <a:xfrm>
            <a:off x="723900" y="266700"/>
            <a:ext cx="10744200" cy="495300"/>
          </a:xfrm>
          <a:prstGeom prst="rect">
            <a:avLst/>
          </a:prstGeom>
          <a:noFill/>
          <a:ln w="0">
            <a:noFill/>
          </a:ln>
        </p:spPr>
        <p:txBody>
          <a:bodyPr lIns="0" tIns="0" rIns="0" bIns="0" anchor="t"/>
          <a:lstStyle>
            <a:defPPr algn="r">
              <a:defRPr sz="2175" b="1">
                <a:solidFill>
                  <a:srgbClr val="4ECCA3"/>
                </a:solidFill>
              </a:defRPr>
            </a:defPPr>
            <a:lvl1pPr algn="r">
              <a:defRPr sz="2175" b="1">
                <a:solidFill>
                  <a:srgbClr val="4ECCA3"/>
                </a:solidFill>
              </a:defRPr>
            </a:lvl1pPr>
            <a:lvl2pPr algn="r">
              <a:defRPr sz="2175" b="1">
                <a:solidFill>
                  <a:srgbClr val="4ECCA3"/>
                </a:solidFill>
              </a:defRPr>
            </a:lvl2pPr>
            <a:lvl3pPr algn="r">
              <a:defRPr sz="2175" b="1">
                <a:solidFill>
                  <a:srgbClr val="4ECCA3"/>
                </a:solidFill>
              </a:defRPr>
            </a:lvl3pPr>
            <a:lvl4pPr algn="r">
              <a:defRPr sz="2175" b="1">
                <a:solidFill>
                  <a:srgbClr val="4ECCA3"/>
                </a:solidFill>
              </a:defRPr>
            </a:lvl4pPr>
            <a:lvl5pPr algn="r">
              <a:defRPr sz="2175" b="1">
                <a:solidFill>
                  <a:srgbClr val="4ECCA3"/>
                </a:solidFill>
              </a:defRPr>
            </a:lvl5pPr>
            <a:lvl6pPr algn="r">
              <a:defRPr sz="2175" b="1">
                <a:solidFill>
                  <a:srgbClr val="4ECCA3"/>
                </a:solidFill>
              </a:defRPr>
            </a:lvl6pPr>
            <a:lvl7pPr algn="r">
              <a:defRPr sz="2175" b="1">
                <a:solidFill>
                  <a:srgbClr val="4ECCA3"/>
                </a:solidFill>
              </a:defRPr>
            </a:lvl7pPr>
            <a:lvl8pPr algn="r">
              <a:defRPr sz="2175" b="1">
                <a:solidFill>
                  <a:srgbClr val="4ECCA3"/>
                </a:solidFill>
              </a:defRPr>
            </a:lvl8pPr>
            <a:lvl9pPr algn="r">
              <a:defRPr sz="2175" b="1">
                <a:solidFill>
                  <a:srgbClr val="4ECCA3"/>
                </a:solidFill>
              </a:defRPr>
            </a:lvl9pPr>
          </a:lstStyle>
          <a:p>
            <a:pPr algn="r" rtl="1">
              <a:defRPr sz="2175" b="1">
                <a:solidFill>
                  <a:srgbClr val="4ECCA3"/>
                </a:solidFill>
              </a:defRPr>
            </a:pPr>
            <a:r>
              <a:rPr sz="2175" b="1" lang="fa-IR">
                <a:solidFill>
                  <a:srgbClr val="4ECCA3"/>
                </a:solidFill>
              </a:rPr>
              <a:t>مسئله چهارم: حذف یک مقدار (Remove Element — LeetCode #27)</a:t>
            </a:r>
          </a:p>
        </p:txBody>
      </p:sp>
      <p:sp>
        <p:nvSpPr>
          <p:cNvPr id="3" name="">
            <a:extLst>
              <a:ext uri="{FF2B5EF4-FFF2-40B4-BE49-F238E27FC236}">
                <ns2:creationId id="{82A49077-2793-423F-B3F4-F89CF5FA7809}"/>
              </a:ext>
            </a:extLst>
          </p:cNvPr>
          <p:cNvSpPr>
            <a:spLocks noGrp="1"/>
          </p:cNvSpPr>
          <p:nvPr/>
        </p:nvSpPr>
        <p:spPr>
          <a:xfrm>
            <a:off x="723900" y="838200"/>
            <a:ext cx="10744200" cy="619125"/>
          </a:xfrm>
          <a:prstGeom prst="rect">
            <a:avLst/>
          </a:prstGeom>
          <a:noFill/>
          <a:ln w="0">
            <a:noFill/>
          </a:ln>
        </p:spPr>
        <p:txBody>
          <a:bodyPr lIns="0" tIns="0" rIns="0" bIns="0" anchor="t"/>
          <a:lstStyle>
            <a:defPPr algn="r">
              <a:defRPr sz="1425" b="0">
                <a:solidFill>
                  <a:srgbClr val="969EB4"/>
                </a:solidFill>
              </a:defRPr>
            </a:defPPr>
            <a:lvl1pPr algn="r">
              <a:defRPr sz="1425" b="0">
                <a:solidFill>
                  <a:srgbClr val="969EB4"/>
                </a:solidFill>
              </a:defRPr>
            </a:lvl1pPr>
            <a:lvl2pPr algn="r">
              <a:defRPr sz="1425" b="0">
                <a:solidFill>
                  <a:srgbClr val="969EB4"/>
                </a:solidFill>
              </a:defRPr>
            </a:lvl2pPr>
            <a:lvl3pPr algn="r">
              <a:defRPr sz="1425" b="0">
                <a:solidFill>
                  <a:srgbClr val="969EB4"/>
                </a:solidFill>
              </a:defRPr>
            </a:lvl3pPr>
            <a:lvl4pPr algn="r">
              <a:defRPr sz="1425" b="0">
                <a:solidFill>
                  <a:srgbClr val="969EB4"/>
                </a:solidFill>
              </a:defRPr>
            </a:lvl4pPr>
            <a:lvl5pPr algn="r">
              <a:defRPr sz="1425" b="0">
                <a:solidFill>
                  <a:srgbClr val="969EB4"/>
                </a:solidFill>
              </a:defRPr>
            </a:lvl5pPr>
            <a:lvl6pPr algn="r">
              <a:defRPr sz="1425" b="0">
                <a:solidFill>
                  <a:srgbClr val="969EB4"/>
                </a:solidFill>
              </a:defRPr>
            </a:lvl6pPr>
            <a:lvl7pPr algn="r">
              <a:defRPr sz="1425" b="0">
                <a:solidFill>
                  <a:srgbClr val="969EB4"/>
                </a:solidFill>
              </a:defRPr>
            </a:lvl7pPr>
            <a:lvl8pPr algn="r">
              <a:defRPr sz="1425" b="0">
                <a:solidFill>
                  <a:srgbClr val="969EB4"/>
                </a:solidFill>
              </a:defRPr>
            </a:lvl8pPr>
            <a:lvl9pPr algn="r">
              <a:defRPr sz="1425" b="0">
                <a:solidFill>
                  <a:srgbClr val="969EB4"/>
                </a:solidFill>
              </a:defRPr>
            </a:lvl9pPr>
          </a:lstStyle>
          <a:p>
            <a:pPr algn="r" rtl="1">
              <a:defRPr sz="1425" b="0">
                <a:solidFill>
                  <a:srgbClr val="969EB4"/>
                </a:solidFill>
              </a:defRPr>
            </a:pPr>
            <a:r>
              <a:rPr sz="1425" b="0" lang="fa-IR">
                <a:solidFill>
                  <a:srgbClr val="969EB4"/>
                </a:solidFill>
              </a:rPr>
              <a:t>همهٔ عددهای برابر با val را کنار بگذارید؛ بقیه را ابتدای همان آرایه بنویسید و تعدادشان را برگردانید.</a:t>
            </a:r>
          </a:p>
        </p:txBody>
      </p:sp>
      <p:sp>
        <p:nvSpPr>
          <p:cNvPr id="4" name="">
            <a:extLst>
              <a:ext uri="{FF2B5EF4-FFF2-40B4-BE49-F238E27FC236}">
                <ns2:creationId id="{FB986ACC-7876-4E00-B7ED-04079CBE7A7A}"/>
              </a:ext>
            </a:extLst>
          </p:cNvPr>
          <p:cNvSpPr>
            <a:spLocks noGrp="1"/>
          </p:cNvSpPr>
          <p:nvPr/>
        </p:nvSpPr>
        <p:spPr>
          <a:xfrm>
            <a:off x="723900" y="1504950"/>
            <a:ext cx="10744200" cy="428625"/>
          </a:xfrm>
          <a:prstGeom prst="rect">
            <a:avLst/>
          </a:prstGeom>
          <a:noFill/>
          <a:ln w="0">
            <a:noFill/>
          </a:ln>
        </p:spPr>
        <p:txBody>
          <a:bodyPr lIns="0" tIns="0" rIns="0" bIns="0" anchor="t"/>
          <a:lstStyle>
            <a:defPPr algn="l">
              <a:defRPr sz="1725" b="1">
                <a:solidFill>
                  <a:srgbClr val="E9A84C"/>
                </a:solidFill>
              </a:defRPr>
            </a:defPPr>
            <a:lvl1pPr algn="l">
              <a:defRPr sz="1725" b="1">
                <a:solidFill>
                  <a:srgbClr val="E9A84C"/>
                </a:solidFill>
              </a:defRPr>
            </a:lvl1pPr>
            <a:lvl2pPr algn="l">
              <a:defRPr sz="1725" b="1">
                <a:solidFill>
                  <a:srgbClr val="E9A84C"/>
                </a:solidFill>
              </a:defRPr>
            </a:lvl2pPr>
            <a:lvl3pPr algn="l">
              <a:defRPr sz="1725" b="1">
                <a:solidFill>
                  <a:srgbClr val="E9A84C"/>
                </a:solidFill>
              </a:defRPr>
            </a:lvl3pPr>
            <a:lvl4pPr algn="l">
              <a:defRPr sz="1725" b="1">
                <a:solidFill>
                  <a:srgbClr val="E9A84C"/>
                </a:solidFill>
              </a:defRPr>
            </a:lvl4pPr>
            <a:lvl5pPr algn="l">
              <a:defRPr sz="1725" b="1">
                <a:solidFill>
                  <a:srgbClr val="E9A84C"/>
                </a:solidFill>
              </a:defRPr>
            </a:lvl5pPr>
            <a:lvl6pPr algn="l">
              <a:defRPr sz="1725" b="1">
                <a:solidFill>
                  <a:srgbClr val="E9A84C"/>
                </a:solidFill>
              </a:defRPr>
            </a:lvl6pPr>
            <a:lvl7pPr algn="l">
              <a:defRPr sz="1725" b="1">
                <a:solidFill>
                  <a:srgbClr val="E9A84C"/>
                </a:solidFill>
              </a:defRPr>
            </a:lvl7pPr>
            <a:lvl8pPr algn="l">
              <a:defRPr sz="1725" b="1">
                <a:solidFill>
                  <a:srgbClr val="E9A84C"/>
                </a:solidFill>
              </a:defRPr>
            </a:lvl8pPr>
            <a:lvl9pPr algn="l">
              <a:defRPr sz="1725" b="1">
                <a:solidFill>
                  <a:srgbClr val="E9A84C"/>
                </a:solidFill>
              </a:defRPr>
            </a:lvl9pPr>
          </a:lstStyle>
          <a:p>
            <a:pPr algn="l">
              <a:defRPr sz="1725" b="1">
                <a:solidFill>
                  <a:srgbClr val="E9A84C"/>
                </a:solidFill>
              </a:defRPr>
            </a:pPr>
            <a:r>
              <a:rPr sz="1725" b="1">
                <a:solidFill>
                  <a:srgbClr val="E9A84C"/>
                </a:solidFill>
              </a:rPr>
              <a:t>nums = [3, 2, 2, 3]     val = 3     →     k = 2;  [2, 2, _, _]</a:t>
            </a:r>
          </a:p>
        </p:txBody>
      </p:sp>
      <p:sp>
        <p:nvSpPr>
          <p:cNvPr id="5" name="">
            <a:extLst>
              <a:ext uri="{FF2B5EF4-FFF2-40B4-BE49-F238E27FC236}">
                <ns2:creationId id="{3E11B5E3-4E98-4776-B35E-5C416BAEEE2B}"/>
              </a:ext>
            </a:extLst>
          </p:cNvPr>
          <p:cNvSpPr>
            <a:spLocks noGrp="1"/>
          </p:cNvSpPr>
          <p:nvPr/>
        </p:nvSpPr>
        <p:spPr>
          <a:xfrm>
            <a:off x="8882063" y="2114550"/>
            <a:ext cx="2586038" cy="1733550"/>
          </a:xfrm>
          <a:prstGeom prst="rect">
            <a:avLst/>
          </a:prstGeom>
          <a:solidFill>
            <a:srgbClr val="141428"/>
          </a:solidFill>
          <a:ln w="9525">
            <a:solidFill>
              <a:srgbClr val="4ECCA3"/>
            </a:solidFill>
          </a:ln>
        </p:spPr>
      </p:sp>
      <p:sp>
        <p:nvSpPr>
          <p:cNvPr id="6" name="">
            <a:extLst>
              <a:ext uri="{FF2B5EF4-FFF2-40B4-BE49-F238E27FC236}">
                <ns2:creationId id="{7F2C5C29-B2C8-4B32-89F4-3FA8ECE32BFD}"/>
              </a:ext>
            </a:extLst>
          </p:cNvPr>
          <p:cNvSpPr>
            <a:spLocks noGrp="1"/>
          </p:cNvSpPr>
          <p:nvPr/>
        </p:nvSpPr>
        <p:spPr>
          <a:xfrm>
            <a:off x="8996363" y="2228850"/>
            <a:ext cx="2357438" cy="400050"/>
          </a:xfrm>
          <a:prstGeom prst="rect">
            <a:avLst/>
          </a:prstGeom>
          <a:noFill/>
          <a:ln w="0">
            <a:noFill/>
          </a:ln>
        </p:spPr>
        <p:txBody>
          <a:bodyPr lIns="0" tIns="0" rIns="0" bIns="0" anchor="t"/>
          <a:lstStyle>
            <a:defPPr algn="r">
              <a:defRPr sz="1425" b="1">
                <a:solidFill>
                  <a:srgbClr val="4ECCA3"/>
                </a:solidFill>
              </a:defRPr>
            </a:defPPr>
            <a:lvl1pPr algn="r">
              <a:defRPr sz="1425" b="1">
                <a:solidFill>
                  <a:srgbClr val="4ECCA3"/>
                </a:solidFill>
              </a:defRPr>
            </a:lvl1pPr>
            <a:lvl2pPr algn="r">
              <a:defRPr sz="1425" b="1">
                <a:solidFill>
                  <a:srgbClr val="4ECCA3"/>
                </a:solidFill>
              </a:defRPr>
            </a:lvl2pPr>
            <a:lvl3pPr algn="r">
              <a:defRPr sz="1425" b="1">
                <a:solidFill>
                  <a:srgbClr val="4ECCA3"/>
                </a:solidFill>
              </a:defRPr>
            </a:lvl3pPr>
            <a:lvl4pPr algn="r">
              <a:defRPr sz="1425" b="1">
                <a:solidFill>
                  <a:srgbClr val="4ECCA3"/>
                </a:solidFill>
              </a:defRPr>
            </a:lvl4pPr>
            <a:lvl5pPr algn="r">
              <a:defRPr sz="1425" b="1">
                <a:solidFill>
                  <a:srgbClr val="4ECCA3"/>
                </a:solidFill>
              </a:defRPr>
            </a:lvl5pPr>
            <a:lvl6pPr algn="r">
              <a:defRPr sz="1425" b="1">
                <a:solidFill>
                  <a:srgbClr val="4ECCA3"/>
                </a:solidFill>
              </a:defRPr>
            </a:lvl6pPr>
            <a:lvl7pPr algn="r">
              <a:defRPr sz="1425" b="1">
                <a:solidFill>
                  <a:srgbClr val="4ECCA3"/>
                </a:solidFill>
              </a:defRPr>
            </a:lvl7pPr>
            <a:lvl8pPr algn="r">
              <a:defRPr sz="1425" b="1">
                <a:solidFill>
                  <a:srgbClr val="4ECCA3"/>
                </a:solidFill>
              </a:defRPr>
            </a:lvl8pPr>
            <a:lvl9pPr algn="r">
              <a:defRPr sz="1425" b="1">
                <a:solidFill>
                  <a:srgbClr val="4ECCA3"/>
                </a:solidFill>
              </a:defRPr>
            </a:lvl9pPr>
          </a:lstStyle>
          <a:p>
            <a:pPr algn="r" rtl="1">
              <a:defRPr sz="1425" b="1">
                <a:solidFill>
                  <a:srgbClr val="4ECCA3"/>
                </a:solidFill>
              </a:defRPr>
            </a:pPr>
            <a:r>
              <a:rPr sz="1425" b="1" lang="fa-IR">
                <a:solidFill>
                  <a:srgbClr val="4ECCA3"/>
                </a:solidFill>
              </a:rPr>
              <a:t>۱. ورودی و جواب</a:t>
            </a:r>
          </a:p>
        </p:txBody>
      </p:sp>
      <p:sp>
        <p:nvSpPr>
          <p:cNvPr id="7" name="">
            <a:extLst>
              <a:ext uri="{FF2B5EF4-FFF2-40B4-BE49-F238E27FC236}">
                <ns2:creationId id="{945726C7-D738-4535-AF3C-B9DA35567392}"/>
              </a:ext>
            </a:extLst>
          </p:cNvPr>
          <p:cNvSpPr>
            <a:spLocks noGrp="1"/>
          </p:cNvSpPr>
          <p:nvPr/>
        </p:nvSpPr>
        <p:spPr>
          <a:xfrm>
            <a:off x="8996363" y="2667000"/>
            <a:ext cx="2357438" cy="1104900"/>
          </a:xfrm>
          <a:prstGeom prst="rect">
            <a:avLst/>
          </a:prstGeom>
          <a:noFill/>
          <a:ln w="0">
            <a:noFill/>
          </a:ln>
        </p:spPr>
        <p:txBody>
          <a:bodyPr lIns="0" tIns="0" rIns="0" bIns="0" anchor="t"/>
          <a:lstStyle>
            <a:defPPr algn="r">
              <a:defRPr sz="1275" b="0">
                <a:solidFill>
                  <a:srgbClr val="DDE1F5"/>
                </a:solidFill>
              </a:defRPr>
            </a:defPPr>
            <a:lvl1pPr algn="r">
              <a:defRPr sz="1275" b="0">
                <a:solidFill>
                  <a:srgbClr val="DDE1F5"/>
                </a:solidFill>
              </a:defRPr>
            </a:lvl1pPr>
            <a:lvl2pPr algn="r">
              <a:defRPr sz="1275" b="0">
                <a:solidFill>
                  <a:srgbClr val="DDE1F5"/>
                </a:solidFill>
              </a:defRPr>
            </a:lvl2pPr>
            <a:lvl3pPr algn="r">
              <a:defRPr sz="1275" b="0">
                <a:solidFill>
                  <a:srgbClr val="DDE1F5"/>
                </a:solidFill>
              </a:defRPr>
            </a:lvl3pPr>
            <a:lvl4pPr algn="r">
              <a:defRPr sz="1275" b="0">
                <a:solidFill>
                  <a:srgbClr val="DDE1F5"/>
                </a:solidFill>
              </a:defRPr>
            </a:lvl4pPr>
            <a:lvl5pPr algn="r">
              <a:defRPr sz="1275" b="0">
                <a:solidFill>
                  <a:srgbClr val="DDE1F5"/>
                </a:solidFill>
              </a:defRPr>
            </a:lvl5pPr>
            <a:lvl6pPr algn="r">
              <a:defRPr sz="1275" b="0">
                <a:solidFill>
                  <a:srgbClr val="DDE1F5"/>
                </a:solidFill>
              </a:defRPr>
            </a:lvl6pPr>
            <a:lvl7pPr algn="r">
              <a:defRPr sz="1275" b="0">
                <a:solidFill>
                  <a:srgbClr val="DDE1F5"/>
                </a:solidFill>
              </a:defRPr>
            </a:lvl7pPr>
            <a:lvl8pPr algn="r">
              <a:defRPr sz="1275" b="0">
                <a:solidFill>
                  <a:srgbClr val="DDE1F5"/>
                </a:solidFill>
              </a:defRPr>
            </a:lvl8pPr>
            <a:lvl9pPr algn="r">
              <a:defRPr sz="1275" b="0">
                <a:solidFill>
                  <a:srgbClr val="DDE1F5"/>
                </a:solidFill>
              </a:defRPr>
            </a:lvl9pPr>
          </a:lstStyle>
          <a:p>
            <a:pPr algn="r" rtl="1">
              <a:defRPr sz="1275" b="0">
                <a:solidFill>
                  <a:srgbClr val="DDE1F5"/>
                </a:solidFill>
              </a:defRPr>
            </a:pPr>
            <a:r>
              <a:rPr sz="1275" b="0" lang="fa-IR">
                <a:solidFill>
                  <a:srgbClr val="DDE1F5"/>
                </a:solidFill>
              </a:rPr>
              <a:t>nums = ‪[3, 2, 2, 3]‬ و val = 3؛ جواب k = 2 است. دو خانهٔ اول باید ‪[2, 2]‬ باشند.</a:t>
            </a:r>
          </a:p>
        </p:txBody>
      </p:sp>
      <p:sp>
        <p:nvSpPr>
          <p:cNvPr id="8" name="">
            <a:extLst>
              <a:ext uri="{FF2B5EF4-FFF2-40B4-BE49-F238E27FC236}">
                <ns2:creationId id="{3593F5D7-83A3-466D-BAD0-BE081EA4DCBE}"/>
              </a:ext>
            </a:extLst>
          </p:cNvPr>
          <p:cNvSpPr>
            <a:spLocks noGrp="1"/>
          </p:cNvSpPr>
          <p:nvPr/>
        </p:nvSpPr>
        <p:spPr>
          <a:xfrm>
            <a:off x="6162675" y="2114550"/>
            <a:ext cx="2586038" cy="1733550"/>
          </a:xfrm>
          <a:prstGeom prst="rect">
            <a:avLst/>
          </a:prstGeom>
          <a:solidFill>
            <a:srgbClr val="141428"/>
          </a:solidFill>
          <a:ln w="9525">
            <a:solidFill>
              <a:srgbClr val="7C8FF5"/>
            </a:solidFill>
          </a:ln>
        </p:spPr>
      </p:sp>
      <p:sp>
        <p:nvSpPr>
          <p:cNvPr id="9" name="">
            <a:extLst>
              <a:ext uri="{FF2B5EF4-FFF2-40B4-BE49-F238E27FC236}">
                <ns2:creationId id="{D9A6A065-F2D0-4E79-B1F9-0CA60F9955D6}"/>
              </a:ext>
            </a:extLst>
          </p:cNvPr>
          <p:cNvSpPr>
            <a:spLocks noGrp="1"/>
          </p:cNvSpPr>
          <p:nvPr/>
        </p:nvSpPr>
        <p:spPr>
          <a:xfrm>
            <a:off x="6276975" y="2228850"/>
            <a:ext cx="2357438" cy="400050"/>
          </a:xfrm>
          <a:prstGeom prst="rect">
            <a:avLst/>
          </a:prstGeom>
          <a:noFill/>
          <a:ln w="0">
            <a:noFill/>
          </a:ln>
        </p:spPr>
        <p:txBody>
          <a:bodyPr lIns="0" tIns="0" rIns="0" bIns="0" anchor="t"/>
          <a:lstStyle>
            <a:defPPr algn="r">
              <a:defRPr sz="1425" b="1">
                <a:solidFill>
                  <a:srgbClr val="7C8FF5"/>
                </a:solidFill>
              </a:defRPr>
            </a:defPPr>
            <a:lvl1pPr algn="r">
              <a:defRPr sz="1425" b="1">
                <a:solidFill>
                  <a:srgbClr val="7C8FF5"/>
                </a:solidFill>
              </a:defRPr>
            </a:lvl1pPr>
            <a:lvl2pPr algn="r">
              <a:defRPr sz="1425" b="1">
                <a:solidFill>
                  <a:srgbClr val="7C8FF5"/>
                </a:solidFill>
              </a:defRPr>
            </a:lvl2pPr>
            <a:lvl3pPr algn="r">
              <a:defRPr sz="1425" b="1">
                <a:solidFill>
                  <a:srgbClr val="7C8FF5"/>
                </a:solidFill>
              </a:defRPr>
            </a:lvl3pPr>
            <a:lvl4pPr algn="r">
              <a:defRPr sz="1425" b="1">
                <a:solidFill>
                  <a:srgbClr val="7C8FF5"/>
                </a:solidFill>
              </a:defRPr>
            </a:lvl4pPr>
            <a:lvl5pPr algn="r">
              <a:defRPr sz="1425" b="1">
                <a:solidFill>
                  <a:srgbClr val="7C8FF5"/>
                </a:solidFill>
              </a:defRPr>
            </a:lvl5pPr>
            <a:lvl6pPr algn="r">
              <a:defRPr sz="1425" b="1">
                <a:solidFill>
                  <a:srgbClr val="7C8FF5"/>
                </a:solidFill>
              </a:defRPr>
            </a:lvl6pPr>
            <a:lvl7pPr algn="r">
              <a:defRPr sz="1425" b="1">
                <a:solidFill>
                  <a:srgbClr val="7C8FF5"/>
                </a:solidFill>
              </a:defRPr>
            </a:lvl7pPr>
            <a:lvl8pPr algn="r">
              <a:defRPr sz="1425" b="1">
                <a:solidFill>
                  <a:srgbClr val="7C8FF5"/>
                </a:solidFill>
              </a:defRPr>
            </a:lvl8pPr>
            <a:lvl9pPr algn="r">
              <a:defRPr sz="1425" b="1">
                <a:solidFill>
                  <a:srgbClr val="7C8FF5"/>
                </a:solidFill>
              </a:defRPr>
            </a:lvl9pPr>
          </a:lstStyle>
          <a:p>
            <a:pPr algn="r" rtl="1">
              <a:defRPr sz="1425" b="1">
                <a:solidFill>
                  <a:srgbClr val="7C8FF5"/>
                </a:solidFill>
              </a:defRPr>
            </a:pPr>
            <a:r>
              <a:rPr sz="1425" b="1" lang="fa-IR">
                <a:solidFill>
                  <a:srgbClr val="7C8FF5"/>
                </a:solidFill>
              </a:rPr>
              <a:t>۲. حذف یعنی چه؟</a:t>
            </a:r>
          </a:p>
        </p:txBody>
      </p:sp>
      <p:sp>
        <p:nvSpPr>
          <p:cNvPr id="10" name="">
            <a:extLst>
              <a:ext uri="{FF2B5EF4-FFF2-40B4-BE49-F238E27FC236}">
                <ns2:creationId id="{B4CCAAD0-537B-4799-ADC4-53A6A6F22C65}"/>
              </a:ext>
            </a:extLst>
          </p:cNvPr>
          <p:cNvSpPr>
            <a:spLocks noGrp="1"/>
          </p:cNvSpPr>
          <p:nvPr/>
        </p:nvSpPr>
        <p:spPr>
          <a:xfrm>
            <a:off x="6276975" y="2667000"/>
            <a:ext cx="2357438" cy="1104900"/>
          </a:xfrm>
          <a:prstGeom prst="rect">
            <a:avLst/>
          </a:prstGeom>
          <a:noFill/>
          <a:ln w="0">
            <a:noFill/>
          </a:ln>
        </p:spPr>
        <p:txBody>
          <a:bodyPr lIns="0" tIns="0" rIns="0" bIns="0" anchor="t"/>
          <a:lstStyle>
            <a:defPPr algn="r">
              <a:defRPr sz="1275" b="0">
                <a:solidFill>
                  <a:srgbClr val="DDE1F5"/>
                </a:solidFill>
              </a:defRPr>
            </a:defPPr>
            <a:lvl1pPr algn="r">
              <a:defRPr sz="1275" b="0">
                <a:solidFill>
                  <a:srgbClr val="DDE1F5"/>
                </a:solidFill>
              </a:defRPr>
            </a:lvl1pPr>
            <a:lvl2pPr algn="r">
              <a:defRPr sz="1275" b="0">
                <a:solidFill>
                  <a:srgbClr val="DDE1F5"/>
                </a:solidFill>
              </a:defRPr>
            </a:lvl2pPr>
            <a:lvl3pPr algn="r">
              <a:defRPr sz="1275" b="0">
                <a:solidFill>
                  <a:srgbClr val="DDE1F5"/>
                </a:solidFill>
              </a:defRPr>
            </a:lvl3pPr>
            <a:lvl4pPr algn="r">
              <a:defRPr sz="1275" b="0">
                <a:solidFill>
                  <a:srgbClr val="DDE1F5"/>
                </a:solidFill>
              </a:defRPr>
            </a:lvl4pPr>
            <a:lvl5pPr algn="r">
              <a:defRPr sz="1275" b="0">
                <a:solidFill>
                  <a:srgbClr val="DDE1F5"/>
                </a:solidFill>
              </a:defRPr>
            </a:lvl5pPr>
            <a:lvl6pPr algn="r">
              <a:defRPr sz="1275" b="0">
                <a:solidFill>
                  <a:srgbClr val="DDE1F5"/>
                </a:solidFill>
              </a:defRPr>
            </a:lvl6pPr>
            <a:lvl7pPr algn="r">
              <a:defRPr sz="1275" b="0">
                <a:solidFill>
                  <a:srgbClr val="DDE1F5"/>
                </a:solidFill>
              </a:defRPr>
            </a:lvl7pPr>
            <a:lvl8pPr algn="r">
              <a:defRPr sz="1275" b="0">
                <a:solidFill>
                  <a:srgbClr val="DDE1F5"/>
                </a:solidFill>
              </a:defRPr>
            </a:lvl8pPr>
            <a:lvl9pPr algn="r">
              <a:defRPr sz="1275" b="0">
                <a:solidFill>
                  <a:srgbClr val="DDE1F5"/>
                </a:solidFill>
              </a:defRPr>
            </a:lvl9pPr>
          </a:lstStyle>
          <a:p>
            <a:pPr algn="r" rtl="1">
              <a:defRPr sz="1275" b="0">
                <a:solidFill>
                  <a:srgbClr val="DDE1F5"/>
                </a:solidFill>
              </a:defRPr>
            </a:pPr>
            <a:r>
              <a:rPr sz="1275" b="0" lang="fa-IR">
                <a:solidFill>
                  <a:srgbClr val="DDE1F5"/>
                </a:solidFill>
              </a:rPr>
              <a:t>طول آرایه عوض نمی‌شود. فقط k خانهٔ اول جواب‌اند؛ مقدار خانه‌های بعدی مهم نیست.</a:t>
            </a:r>
          </a:p>
        </p:txBody>
      </p:sp>
      <p:sp>
        <p:nvSpPr>
          <p:cNvPr id="11" name="">
            <a:extLst>
              <a:ext uri="{FF2B5EF4-FFF2-40B4-BE49-F238E27FC236}">
                <ns2:creationId id="{9E3D1D04-3978-46AE-8791-44C63415D26A}"/>
              </a:ext>
            </a:extLst>
          </p:cNvPr>
          <p:cNvSpPr>
            <a:spLocks noGrp="1"/>
          </p:cNvSpPr>
          <p:nvPr/>
        </p:nvSpPr>
        <p:spPr>
          <a:xfrm>
            <a:off x="3443288" y="2114550"/>
            <a:ext cx="2586038" cy="1733550"/>
          </a:xfrm>
          <a:prstGeom prst="rect">
            <a:avLst/>
          </a:prstGeom>
          <a:solidFill>
            <a:srgbClr val="141428"/>
          </a:solidFill>
          <a:ln w="9525">
            <a:solidFill>
              <a:srgbClr val="E9A84C"/>
            </a:solidFill>
          </a:ln>
        </p:spPr>
      </p:sp>
      <p:sp>
        <p:nvSpPr>
          <p:cNvPr id="12" name="">
            <a:extLst>
              <a:ext uri="{FF2B5EF4-FFF2-40B4-BE49-F238E27FC236}">
                <ns2:creationId id="{29D034BA-A976-4CE4-8517-CD242C3FE83D}"/>
              </a:ext>
            </a:extLst>
          </p:cNvPr>
          <p:cNvSpPr>
            <a:spLocks noGrp="1"/>
          </p:cNvSpPr>
          <p:nvPr/>
        </p:nvSpPr>
        <p:spPr>
          <a:xfrm>
            <a:off x="3557588" y="2228850"/>
            <a:ext cx="2357438" cy="400050"/>
          </a:xfrm>
          <a:prstGeom prst="rect">
            <a:avLst/>
          </a:prstGeom>
          <a:noFill/>
          <a:ln w="0">
            <a:noFill/>
          </a:ln>
        </p:spPr>
        <p:txBody>
          <a:bodyPr lIns="0" tIns="0" rIns="0" bIns="0" anchor="t"/>
          <a:lstStyle>
            <a:defPPr algn="r">
              <a:defRPr sz="1425" b="1">
                <a:solidFill>
                  <a:srgbClr val="E9A84C"/>
                </a:solidFill>
              </a:defRPr>
            </a:defPPr>
            <a:lvl1pPr algn="r">
              <a:defRPr sz="1425" b="1">
                <a:solidFill>
                  <a:srgbClr val="E9A84C"/>
                </a:solidFill>
              </a:defRPr>
            </a:lvl1pPr>
            <a:lvl2pPr algn="r">
              <a:defRPr sz="1425" b="1">
                <a:solidFill>
                  <a:srgbClr val="E9A84C"/>
                </a:solidFill>
              </a:defRPr>
            </a:lvl2pPr>
            <a:lvl3pPr algn="r">
              <a:defRPr sz="1425" b="1">
                <a:solidFill>
                  <a:srgbClr val="E9A84C"/>
                </a:solidFill>
              </a:defRPr>
            </a:lvl3pPr>
            <a:lvl4pPr algn="r">
              <a:defRPr sz="1425" b="1">
                <a:solidFill>
                  <a:srgbClr val="E9A84C"/>
                </a:solidFill>
              </a:defRPr>
            </a:lvl4pPr>
            <a:lvl5pPr algn="r">
              <a:defRPr sz="1425" b="1">
                <a:solidFill>
                  <a:srgbClr val="E9A84C"/>
                </a:solidFill>
              </a:defRPr>
            </a:lvl5pPr>
            <a:lvl6pPr algn="r">
              <a:defRPr sz="1425" b="1">
                <a:solidFill>
                  <a:srgbClr val="E9A84C"/>
                </a:solidFill>
              </a:defRPr>
            </a:lvl6pPr>
            <a:lvl7pPr algn="r">
              <a:defRPr sz="1425" b="1">
                <a:solidFill>
                  <a:srgbClr val="E9A84C"/>
                </a:solidFill>
              </a:defRPr>
            </a:lvl7pPr>
            <a:lvl8pPr algn="r">
              <a:defRPr sz="1425" b="1">
                <a:solidFill>
                  <a:srgbClr val="E9A84C"/>
                </a:solidFill>
              </a:defRPr>
            </a:lvl8pPr>
            <a:lvl9pPr algn="r">
              <a:defRPr sz="1425" b="1">
                <a:solidFill>
                  <a:srgbClr val="E9A84C"/>
                </a:solidFill>
              </a:defRPr>
            </a:lvl9pPr>
          </a:lstStyle>
          <a:p>
            <a:pPr algn="r" rtl="1">
              <a:defRPr sz="1425" b="1">
                <a:solidFill>
                  <a:srgbClr val="E9A84C"/>
                </a:solidFill>
              </a:defRPr>
            </a:pPr>
            <a:r>
              <a:rPr sz="1425" b="1" lang="fa-IR">
                <a:solidFill>
                  <a:srgbClr val="E9A84C"/>
                </a:solidFill>
              </a:rPr>
              <a:t>۳. روی همان آرایه کار کنید</a:t>
            </a:r>
          </a:p>
        </p:txBody>
      </p:sp>
      <p:sp>
        <p:nvSpPr>
          <p:cNvPr id="13" name="">
            <a:extLst>
              <a:ext uri="{FF2B5EF4-FFF2-40B4-BE49-F238E27FC236}">
                <ns2:creationId id="{2BA855AC-8AC9-4837-BF75-017DE452571D}"/>
              </a:ext>
            </a:extLst>
          </p:cNvPr>
          <p:cNvSpPr>
            <a:spLocks noGrp="1"/>
          </p:cNvSpPr>
          <p:nvPr/>
        </p:nvSpPr>
        <p:spPr>
          <a:xfrm>
            <a:off x="3557588" y="2667000"/>
            <a:ext cx="2357438" cy="1104900"/>
          </a:xfrm>
          <a:prstGeom prst="rect">
            <a:avLst/>
          </a:prstGeom>
          <a:noFill/>
          <a:ln w="0">
            <a:noFill/>
          </a:ln>
        </p:spPr>
        <p:txBody>
          <a:bodyPr lIns="0" tIns="0" rIns="0" bIns="0" anchor="t"/>
          <a:lstStyle>
            <a:defPPr algn="r">
              <a:defRPr sz="1275" b="0">
                <a:solidFill>
                  <a:srgbClr val="DDE1F5"/>
                </a:solidFill>
              </a:defRPr>
            </a:defPPr>
            <a:lvl1pPr algn="r">
              <a:defRPr sz="1275" b="0">
                <a:solidFill>
                  <a:srgbClr val="DDE1F5"/>
                </a:solidFill>
              </a:defRPr>
            </a:lvl1pPr>
            <a:lvl2pPr algn="r">
              <a:defRPr sz="1275" b="0">
                <a:solidFill>
                  <a:srgbClr val="DDE1F5"/>
                </a:solidFill>
              </a:defRPr>
            </a:lvl2pPr>
            <a:lvl3pPr algn="r">
              <a:defRPr sz="1275" b="0">
                <a:solidFill>
                  <a:srgbClr val="DDE1F5"/>
                </a:solidFill>
              </a:defRPr>
            </a:lvl3pPr>
            <a:lvl4pPr algn="r">
              <a:defRPr sz="1275" b="0">
                <a:solidFill>
                  <a:srgbClr val="DDE1F5"/>
                </a:solidFill>
              </a:defRPr>
            </a:lvl4pPr>
            <a:lvl5pPr algn="r">
              <a:defRPr sz="1275" b="0">
                <a:solidFill>
                  <a:srgbClr val="DDE1F5"/>
                </a:solidFill>
              </a:defRPr>
            </a:lvl5pPr>
            <a:lvl6pPr algn="r">
              <a:defRPr sz="1275" b="0">
                <a:solidFill>
                  <a:srgbClr val="DDE1F5"/>
                </a:solidFill>
              </a:defRPr>
            </a:lvl6pPr>
            <a:lvl7pPr algn="r">
              <a:defRPr sz="1275" b="0">
                <a:solidFill>
                  <a:srgbClr val="DDE1F5"/>
                </a:solidFill>
              </a:defRPr>
            </a:lvl7pPr>
            <a:lvl8pPr algn="r">
              <a:defRPr sz="1275" b="0">
                <a:solidFill>
                  <a:srgbClr val="DDE1F5"/>
                </a:solidFill>
              </a:defRPr>
            </a:lvl8pPr>
            <a:lvl9pPr algn="r">
              <a:defRPr sz="1275" b="0">
                <a:solidFill>
                  <a:srgbClr val="DDE1F5"/>
                </a:solidFill>
              </a:defRPr>
            </a:lvl9pPr>
          </a:lstStyle>
          <a:p>
            <a:pPr algn="r" rtl="1">
              <a:defRPr sz="1275" b="0">
                <a:solidFill>
                  <a:srgbClr val="DDE1F5"/>
                </a:solidFill>
              </a:defRPr>
            </a:pPr>
            <a:r>
              <a:rPr sz="1275" b="0" lang="fa-IR">
                <a:solidFill>
                  <a:srgbClr val="DDE1F5"/>
                </a:solidFill>
              </a:rPr>
              <a:t>آرایهٔ کمکی نسازید. طول ورودی از صفر تا ۱۰۰ است؛ ورودی خالی هم مجاز است.</a:t>
            </a:r>
          </a:p>
        </p:txBody>
      </p:sp>
      <p:sp>
        <p:nvSpPr>
          <p:cNvPr id="14" name="">
            <a:extLst>
              <a:ext uri="{FF2B5EF4-FFF2-40B4-BE49-F238E27FC236}">
                <ns2:creationId id="{B2209BBE-0020-4A46-85D1-DAD8991BDA69}"/>
              </a:ext>
            </a:extLst>
          </p:cNvPr>
          <p:cNvSpPr>
            <a:spLocks noGrp="1"/>
          </p:cNvSpPr>
          <p:nvPr/>
        </p:nvSpPr>
        <p:spPr>
          <a:xfrm>
            <a:off x="723900" y="2114550"/>
            <a:ext cx="2586038" cy="1733550"/>
          </a:xfrm>
          <a:prstGeom prst="rect">
            <a:avLst/>
          </a:prstGeom>
          <a:solidFill>
            <a:srgbClr val="141428"/>
          </a:solidFill>
          <a:ln w="9525">
            <a:solidFill>
              <a:srgbClr val="38BDF8"/>
            </a:solidFill>
          </a:ln>
        </p:spPr>
      </p:sp>
      <p:sp>
        <p:nvSpPr>
          <p:cNvPr id="15" name="">
            <a:extLst>
              <a:ext uri="{FF2B5EF4-FFF2-40B4-BE49-F238E27FC236}">
                <ns2:creationId id="{A59A7002-1385-45BA-B6BC-F5977A9F86BE}"/>
              </a:ext>
            </a:extLst>
          </p:cNvPr>
          <p:cNvSpPr>
            <a:spLocks noGrp="1"/>
          </p:cNvSpPr>
          <p:nvPr/>
        </p:nvSpPr>
        <p:spPr>
          <a:xfrm>
            <a:off x="838200" y="2228850"/>
            <a:ext cx="2357438" cy="400050"/>
          </a:xfrm>
          <a:prstGeom prst="rect">
            <a:avLst/>
          </a:prstGeom>
          <a:noFill/>
          <a:ln w="0">
            <a:noFill/>
          </a:ln>
        </p:spPr>
        <p:txBody>
          <a:bodyPr lIns="0" tIns="0" rIns="0" bIns="0" anchor="t"/>
          <a:lstStyle>
            <a:defPPr algn="r">
              <a:defRPr sz="1425" b="1">
                <a:solidFill>
                  <a:srgbClr val="38BDF8"/>
                </a:solidFill>
              </a:defRPr>
            </a:defPPr>
            <a:lvl1pPr algn="r">
              <a:defRPr sz="1425" b="1">
                <a:solidFill>
                  <a:srgbClr val="38BDF8"/>
                </a:solidFill>
              </a:defRPr>
            </a:lvl1pPr>
            <a:lvl2pPr algn="r">
              <a:defRPr sz="1425" b="1">
                <a:solidFill>
                  <a:srgbClr val="38BDF8"/>
                </a:solidFill>
              </a:defRPr>
            </a:lvl2pPr>
            <a:lvl3pPr algn="r">
              <a:defRPr sz="1425" b="1">
                <a:solidFill>
                  <a:srgbClr val="38BDF8"/>
                </a:solidFill>
              </a:defRPr>
            </a:lvl3pPr>
            <a:lvl4pPr algn="r">
              <a:defRPr sz="1425" b="1">
                <a:solidFill>
                  <a:srgbClr val="38BDF8"/>
                </a:solidFill>
              </a:defRPr>
            </a:lvl4pPr>
            <a:lvl5pPr algn="r">
              <a:defRPr sz="1425" b="1">
                <a:solidFill>
                  <a:srgbClr val="38BDF8"/>
                </a:solidFill>
              </a:defRPr>
            </a:lvl5pPr>
            <a:lvl6pPr algn="r">
              <a:defRPr sz="1425" b="1">
                <a:solidFill>
                  <a:srgbClr val="38BDF8"/>
                </a:solidFill>
              </a:defRPr>
            </a:lvl6pPr>
            <a:lvl7pPr algn="r">
              <a:defRPr sz="1425" b="1">
                <a:solidFill>
                  <a:srgbClr val="38BDF8"/>
                </a:solidFill>
              </a:defRPr>
            </a:lvl7pPr>
            <a:lvl8pPr algn="r">
              <a:defRPr sz="1425" b="1">
                <a:solidFill>
                  <a:srgbClr val="38BDF8"/>
                </a:solidFill>
              </a:defRPr>
            </a:lvl8pPr>
            <a:lvl9pPr algn="r">
              <a:defRPr sz="1425" b="1">
                <a:solidFill>
                  <a:srgbClr val="38BDF8"/>
                </a:solidFill>
              </a:defRPr>
            </a:lvl9pPr>
          </a:lstStyle>
          <a:p>
            <a:pPr algn="r" rtl="1">
              <a:defRPr sz="1425" b="1">
                <a:solidFill>
                  <a:srgbClr val="38BDF8"/>
                </a:solidFill>
              </a:defRPr>
            </a:pPr>
            <a:r>
              <a:rPr sz="1425" b="1" lang="fa-IR">
                <a:solidFill>
                  <a:srgbClr val="38BDF8"/>
                </a:solidFill>
              </a:rPr>
              <a:t>۴. ترتیب چطور؟</a:t>
            </a:r>
          </a:p>
        </p:txBody>
      </p:sp>
      <p:sp>
        <p:nvSpPr>
          <p:cNvPr id="16" name="">
            <a:extLst>
              <a:ext uri="{FF2B5EF4-FFF2-40B4-BE49-F238E27FC236}">
                <ns2:creationId id="{EA62ADC4-592A-4B2F-9592-BB85D2934003}"/>
              </a:ext>
            </a:extLst>
          </p:cNvPr>
          <p:cNvSpPr>
            <a:spLocks noGrp="1"/>
          </p:cNvSpPr>
          <p:nvPr/>
        </p:nvSpPr>
        <p:spPr>
          <a:xfrm>
            <a:off x="838200" y="2667000"/>
            <a:ext cx="2357438" cy="1104900"/>
          </a:xfrm>
          <a:prstGeom prst="rect">
            <a:avLst/>
          </a:prstGeom>
          <a:noFill/>
          <a:ln w="0">
            <a:noFill/>
          </a:ln>
        </p:spPr>
        <p:txBody>
          <a:bodyPr lIns="0" tIns="0" rIns="0" bIns="0" anchor="t"/>
          <a:lstStyle>
            <a:defPPr algn="r">
              <a:defRPr sz="1275" b="0">
                <a:solidFill>
                  <a:srgbClr val="DDE1F5"/>
                </a:solidFill>
              </a:defRPr>
            </a:defPPr>
            <a:lvl1pPr algn="r">
              <a:defRPr sz="1275" b="0">
                <a:solidFill>
                  <a:srgbClr val="DDE1F5"/>
                </a:solidFill>
              </a:defRPr>
            </a:lvl1pPr>
            <a:lvl2pPr algn="r">
              <a:defRPr sz="1275" b="0">
                <a:solidFill>
                  <a:srgbClr val="DDE1F5"/>
                </a:solidFill>
              </a:defRPr>
            </a:lvl2pPr>
            <a:lvl3pPr algn="r">
              <a:defRPr sz="1275" b="0">
                <a:solidFill>
                  <a:srgbClr val="DDE1F5"/>
                </a:solidFill>
              </a:defRPr>
            </a:lvl3pPr>
            <a:lvl4pPr algn="r">
              <a:defRPr sz="1275" b="0">
                <a:solidFill>
                  <a:srgbClr val="DDE1F5"/>
                </a:solidFill>
              </a:defRPr>
            </a:lvl4pPr>
            <a:lvl5pPr algn="r">
              <a:defRPr sz="1275" b="0">
                <a:solidFill>
                  <a:srgbClr val="DDE1F5"/>
                </a:solidFill>
              </a:defRPr>
            </a:lvl5pPr>
            <a:lvl6pPr algn="r">
              <a:defRPr sz="1275" b="0">
                <a:solidFill>
                  <a:srgbClr val="DDE1F5"/>
                </a:solidFill>
              </a:defRPr>
            </a:lvl6pPr>
            <a:lvl7pPr algn="r">
              <a:defRPr sz="1275" b="0">
                <a:solidFill>
                  <a:srgbClr val="DDE1F5"/>
                </a:solidFill>
              </a:defRPr>
            </a:lvl7pPr>
            <a:lvl8pPr algn="r">
              <a:defRPr sz="1275" b="0">
                <a:solidFill>
                  <a:srgbClr val="DDE1F5"/>
                </a:solidFill>
              </a:defRPr>
            </a:lvl8pPr>
            <a:lvl9pPr algn="r">
              <a:defRPr sz="1275" b="0">
                <a:solidFill>
                  <a:srgbClr val="DDE1F5"/>
                </a:solidFill>
              </a:defRPr>
            </a:lvl9pPr>
          </a:lstStyle>
          <a:p>
            <a:pPr algn="r" rtl="1">
              <a:defRPr sz="1275" b="0">
                <a:solidFill>
                  <a:srgbClr val="DDE1F5"/>
                </a:solidFill>
              </a:defRPr>
            </a:pPr>
            <a:r>
              <a:rPr sz="1275" b="0" lang="fa-IR">
                <a:solidFill>
                  <a:srgbClr val="DDE1F5"/>
                </a:solidFill>
              </a:rPr>
              <a:t>خود مسئله حفظ ترتیب را لازم نمی‌داند؛ روش ما ترتیب را هم حفظ می‌کند و برای درس بعد آماده‌مان می‌کند.</a:t>
            </a:r>
          </a:p>
        </p:txBody>
      </p:sp>
      <p:sp>
        <p:nvSpPr>
          <p:cNvPr id="17" name="">
            <a:extLst>
              <a:ext uri="{FF2B5EF4-FFF2-40B4-BE49-F238E27FC236}">
                <ns2:creationId id="{23A9D486-B7D2-46B0-9A42-FB5B22F264B1}"/>
              </a:ext>
            </a:extLst>
          </p:cNvPr>
          <p:cNvSpPr>
            <a:spLocks noGrp="1"/>
          </p:cNvSpPr>
          <p:nvPr/>
        </p:nvSpPr>
        <p:spPr>
          <a:xfrm>
            <a:off x="6162675" y="4114800"/>
            <a:ext cx="5305425" cy="1381125"/>
          </a:xfrm>
          <a:prstGeom prst="rect">
            <a:avLst/>
          </a:prstGeom>
          <a:solidFill>
            <a:srgbClr val="141428"/>
          </a:solidFill>
          <a:ln w="9525">
            <a:solidFill>
              <a:srgbClr val="4ECCA3"/>
            </a:solidFill>
          </a:ln>
        </p:spPr>
      </p:sp>
      <p:sp>
        <p:nvSpPr>
          <p:cNvPr id="18" name="">
            <a:extLst>
              <a:ext uri="{FF2B5EF4-FFF2-40B4-BE49-F238E27FC236}">
                <ns2:creationId id="{38E90A29-9E82-43D0-BA1D-E32DC6CF069D}"/>
              </a:ext>
            </a:extLst>
          </p:cNvPr>
          <p:cNvSpPr>
            <a:spLocks noGrp="1"/>
          </p:cNvSpPr>
          <p:nvPr/>
        </p:nvSpPr>
        <p:spPr>
          <a:xfrm>
            <a:off x="6296025" y="4248150"/>
            <a:ext cx="5038725" cy="342900"/>
          </a:xfrm>
          <a:prstGeom prst="rect">
            <a:avLst/>
          </a:prstGeom>
          <a:noFill/>
          <a:ln w="0">
            <a:noFill/>
          </a:ln>
        </p:spPr>
        <p:txBody>
          <a:bodyPr lIns="0" tIns="0" rIns="0" bIns="0" anchor="t"/>
          <a:lstStyle>
            <a:defPPr algn="r">
              <a:defRPr sz="1575" b="1">
                <a:solidFill>
                  <a:srgbClr val="4ECCA3"/>
                </a:solidFill>
              </a:defRPr>
            </a:defPPr>
            <a:lvl1pPr algn="r">
              <a:defRPr sz="1575" b="1">
                <a:solidFill>
                  <a:srgbClr val="4ECCA3"/>
                </a:solidFill>
              </a:defRPr>
            </a:lvl1pPr>
            <a:lvl2pPr algn="r">
              <a:defRPr sz="1575" b="1">
                <a:solidFill>
                  <a:srgbClr val="4ECCA3"/>
                </a:solidFill>
              </a:defRPr>
            </a:lvl2pPr>
            <a:lvl3pPr algn="r">
              <a:defRPr sz="1575" b="1">
                <a:solidFill>
                  <a:srgbClr val="4ECCA3"/>
                </a:solidFill>
              </a:defRPr>
            </a:lvl3pPr>
            <a:lvl4pPr algn="r">
              <a:defRPr sz="1575" b="1">
                <a:solidFill>
                  <a:srgbClr val="4ECCA3"/>
                </a:solidFill>
              </a:defRPr>
            </a:lvl4pPr>
            <a:lvl5pPr algn="r">
              <a:defRPr sz="1575" b="1">
                <a:solidFill>
                  <a:srgbClr val="4ECCA3"/>
                </a:solidFill>
              </a:defRPr>
            </a:lvl5pPr>
            <a:lvl6pPr algn="r">
              <a:defRPr sz="1575" b="1">
                <a:solidFill>
                  <a:srgbClr val="4ECCA3"/>
                </a:solidFill>
              </a:defRPr>
            </a:lvl6pPr>
            <a:lvl7pPr algn="r">
              <a:defRPr sz="1575" b="1">
                <a:solidFill>
                  <a:srgbClr val="4ECCA3"/>
                </a:solidFill>
              </a:defRPr>
            </a:lvl7pPr>
            <a:lvl8pPr algn="r">
              <a:defRPr sz="1575" b="1">
                <a:solidFill>
                  <a:srgbClr val="4ECCA3"/>
                </a:solidFill>
              </a:defRPr>
            </a:lvl8pPr>
            <a:lvl9pPr algn="r">
              <a:defRPr sz="1575" b="1">
                <a:solidFill>
                  <a:srgbClr val="4ECCA3"/>
                </a:solidFill>
              </a:defRPr>
            </a:lvl9pPr>
          </a:lstStyle>
          <a:p>
            <a:pPr algn="r" rtl="1">
              <a:defRPr sz="1575" b="1">
                <a:solidFill>
                  <a:srgbClr val="4ECCA3"/>
                </a:solidFill>
              </a:defRPr>
            </a:pPr>
            <a:r>
              <a:rPr sz="1575" b="1" lang="fa-IR">
                <a:solidFill>
                  <a:srgbClr val="4ECCA3"/>
                </a:solidFill>
              </a:rPr>
              <a:t>روش بهتر: فقط عددهای مطلوب را بنویسیم</a:t>
            </a:r>
          </a:p>
        </p:txBody>
      </p:sp>
      <p:sp>
        <p:nvSpPr>
          <p:cNvPr id="19" name="">
            <a:extLst>
              <a:ext uri="{FF2B5EF4-FFF2-40B4-BE49-F238E27FC236}">
                <ns2:creationId id="{99C44E55-EA79-47DA-B0C0-6153CA0D91CC}"/>
              </a:ext>
            </a:extLst>
          </p:cNvPr>
          <p:cNvSpPr>
            <a:spLocks noGrp="1"/>
          </p:cNvSpPr>
          <p:nvPr/>
        </p:nvSpPr>
        <p:spPr>
          <a:xfrm>
            <a:off x="6296025" y="4695825"/>
            <a:ext cx="5038725" cy="685800"/>
          </a:xfrm>
          <a:prstGeom prst="rect">
            <a:avLst/>
          </a:prstGeom>
          <a:noFill/>
          <a:ln w="0">
            <a:noFill/>
          </a:ln>
        </p:spPr>
        <p:txBody>
          <a:bodyPr lIns="0" tIns="0" rIns="0" bIns="0" anchor="t"/>
          <a:lstStyle>
            <a:defPPr algn="r">
              <a:defRPr sz="1425" b="0">
                <a:solidFill>
                  <a:srgbClr val="DDE1F5"/>
                </a:solidFill>
              </a:defRPr>
            </a:defPPr>
            <a:lvl1pPr algn="r">
              <a:defRPr sz="1425" b="0">
                <a:solidFill>
                  <a:srgbClr val="DDE1F5"/>
                </a:solidFill>
              </a:defRPr>
            </a:lvl1pPr>
            <a:lvl2pPr algn="r">
              <a:defRPr sz="1425" b="0">
                <a:solidFill>
                  <a:srgbClr val="DDE1F5"/>
                </a:solidFill>
              </a:defRPr>
            </a:lvl2pPr>
            <a:lvl3pPr algn="r">
              <a:defRPr sz="1425" b="0">
                <a:solidFill>
                  <a:srgbClr val="DDE1F5"/>
                </a:solidFill>
              </a:defRPr>
            </a:lvl3pPr>
            <a:lvl4pPr algn="r">
              <a:defRPr sz="1425" b="0">
                <a:solidFill>
                  <a:srgbClr val="DDE1F5"/>
                </a:solidFill>
              </a:defRPr>
            </a:lvl4pPr>
            <a:lvl5pPr algn="r">
              <a:defRPr sz="1425" b="0">
                <a:solidFill>
                  <a:srgbClr val="DDE1F5"/>
                </a:solidFill>
              </a:defRPr>
            </a:lvl5pPr>
            <a:lvl6pPr algn="r">
              <a:defRPr sz="1425" b="0">
                <a:solidFill>
                  <a:srgbClr val="DDE1F5"/>
                </a:solidFill>
              </a:defRPr>
            </a:lvl6pPr>
            <a:lvl7pPr algn="r">
              <a:defRPr sz="1425" b="0">
                <a:solidFill>
                  <a:srgbClr val="DDE1F5"/>
                </a:solidFill>
              </a:defRPr>
            </a:lvl7pPr>
            <a:lvl8pPr algn="r">
              <a:defRPr sz="1425" b="0">
                <a:solidFill>
                  <a:srgbClr val="DDE1F5"/>
                </a:solidFill>
              </a:defRPr>
            </a:lvl8pPr>
            <a:lvl9pPr algn="r">
              <a:defRPr sz="1425" b="0">
                <a:solidFill>
                  <a:srgbClr val="DDE1F5"/>
                </a:solidFill>
              </a:defRPr>
            </a:lvl9pPr>
          </a:lstStyle>
          <a:p>
            <a:pPr algn="r" rtl="1">
              <a:defRPr sz="1425" b="0">
                <a:solidFill>
                  <a:srgbClr val="DDE1F5"/>
                </a:solidFill>
              </a:defRPr>
            </a:pPr>
            <a:r>
              <a:rPr sz="1425" b="0" lang="fa-IR">
                <a:solidFill>
                  <a:srgbClr val="DDE1F5"/>
                </a:solidFill>
              </a:rPr>
              <a:t>یکی همهٔ خانه‌ها را می‌خواند؛ دیگری جای نوشتن عدد بعدی را نگه می‌دارد. عدد برابر با val را رد می‌کنیم.</a:t>
            </a:r>
          </a:p>
        </p:txBody>
      </p:sp>
      <p:sp>
        <p:nvSpPr>
          <p:cNvPr id="20" name="">
            <a:extLst>
              <a:ext uri="{FF2B5EF4-FFF2-40B4-BE49-F238E27FC236}">
                <ns2:creationId id="{02995B72-4FA0-4C77-B199-D2CACAC800BC}"/>
              </a:ext>
            </a:extLst>
          </p:cNvPr>
          <p:cNvSpPr>
            <a:spLocks noGrp="1"/>
          </p:cNvSpPr>
          <p:nvPr/>
        </p:nvSpPr>
        <p:spPr>
          <a:xfrm>
            <a:off x="723900" y="4114800"/>
            <a:ext cx="5305425" cy="1381125"/>
          </a:xfrm>
          <a:prstGeom prst="rect">
            <a:avLst/>
          </a:prstGeom>
          <a:solidFill>
            <a:srgbClr val="141428"/>
          </a:solidFill>
          <a:ln w="9525">
            <a:solidFill>
              <a:srgbClr val="E96C6C"/>
            </a:solidFill>
          </a:ln>
        </p:spPr>
      </p:sp>
      <p:sp>
        <p:nvSpPr>
          <p:cNvPr id="21" name="">
            <a:extLst>
              <a:ext uri="{FF2B5EF4-FFF2-40B4-BE49-F238E27FC236}">
                <ns2:creationId id="{38DC029E-90E2-4585-BE57-DDBFFC9A278F}"/>
              </a:ext>
            </a:extLst>
          </p:cNvPr>
          <p:cNvSpPr>
            <a:spLocks noGrp="1"/>
          </p:cNvSpPr>
          <p:nvPr/>
        </p:nvSpPr>
        <p:spPr>
          <a:xfrm>
            <a:off x="857250" y="4248150"/>
            <a:ext cx="5038725" cy="342900"/>
          </a:xfrm>
          <a:prstGeom prst="rect">
            <a:avLst/>
          </a:prstGeom>
          <a:noFill/>
          <a:ln w="0">
            <a:noFill/>
          </a:ln>
        </p:spPr>
        <p:txBody>
          <a:bodyPr lIns="0" tIns="0" rIns="0" bIns="0" anchor="t"/>
          <a:lstStyle>
            <a:defPPr algn="r">
              <a:defRPr sz="1575" b="1">
                <a:solidFill>
                  <a:srgbClr val="E96C6C"/>
                </a:solidFill>
              </a:defRPr>
            </a:defPPr>
            <a:lvl1pPr algn="r">
              <a:defRPr sz="1575" b="1">
                <a:solidFill>
                  <a:srgbClr val="E96C6C"/>
                </a:solidFill>
              </a:defRPr>
            </a:lvl1pPr>
            <a:lvl2pPr algn="r">
              <a:defRPr sz="1575" b="1">
                <a:solidFill>
                  <a:srgbClr val="E96C6C"/>
                </a:solidFill>
              </a:defRPr>
            </a:lvl2pPr>
            <a:lvl3pPr algn="r">
              <a:defRPr sz="1575" b="1">
                <a:solidFill>
                  <a:srgbClr val="E96C6C"/>
                </a:solidFill>
              </a:defRPr>
            </a:lvl3pPr>
            <a:lvl4pPr algn="r">
              <a:defRPr sz="1575" b="1">
                <a:solidFill>
                  <a:srgbClr val="E96C6C"/>
                </a:solidFill>
              </a:defRPr>
            </a:lvl4pPr>
            <a:lvl5pPr algn="r">
              <a:defRPr sz="1575" b="1">
                <a:solidFill>
                  <a:srgbClr val="E96C6C"/>
                </a:solidFill>
              </a:defRPr>
            </a:lvl5pPr>
            <a:lvl6pPr algn="r">
              <a:defRPr sz="1575" b="1">
                <a:solidFill>
                  <a:srgbClr val="E96C6C"/>
                </a:solidFill>
              </a:defRPr>
            </a:lvl6pPr>
            <a:lvl7pPr algn="r">
              <a:defRPr sz="1575" b="1">
                <a:solidFill>
                  <a:srgbClr val="E96C6C"/>
                </a:solidFill>
              </a:defRPr>
            </a:lvl7pPr>
            <a:lvl8pPr algn="r">
              <a:defRPr sz="1575" b="1">
                <a:solidFill>
                  <a:srgbClr val="E96C6C"/>
                </a:solidFill>
              </a:defRPr>
            </a:lvl8pPr>
            <a:lvl9pPr algn="r">
              <a:defRPr sz="1575" b="1">
                <a:solidFill>
                  <a:srgbClr val="E96C6C"/>
                </a:solidFill>
              </a:defRPr>
            </a:lvl9pPr>
          </a:lstStyle>
          <a:p>
            <a:pPr algn="r" rtl="1">
              <a:defRPr sz="1575" b="1">
                <a:solidFill>
                  <a:srgbClr val="E96C6C"/>
                </a:solidFill>
              </a:defRPr>
            </a:pPr>
            <a:r>
              <a:rPr sz="1575" b="1" lang="fa-IR">
                <a:solidFill>
                  <a:srgbClr val="E96C6C"/>
                </a:solidFill>
              </a:rPr>
              <a:t>روش اولیه: هر بار بقیه را جابه‌جا کنیم</a:t>
            </a:r>
          </a:p>
        </p:txBody>
      </p:sp>
      <p:sp>
        <p:nvSpPr>
          <p:cNvPr id="22" name="">
            <a:extLst>
              <a:ext uri="{FF2B5EF4-FFF2-40B4-BE49-F238E27FC236}">
                <ns2:creationId id="{3235B1E4-3596-431E-8C3D-00A38EDAC207}"/>
              </a:ext>
            </a:extLst>
          </p:cNvPr>
          <p:cNvSpPr>
            <a:spLocks noGrp="1"/>
          </p:cNvSpPr>
          <p:nvPr/>
        </p:nvSpPr>
        <p:spPr>
          <a:xfrm>
            <a:off x="857250" y="4695825"/>
            <a:ext cx="5038725" cy="685800"/>
          </a:xfrm>
          <a:prstGeom prst="rect">
            <a:avLst/>
          </a:prstGeom>
          <a:noFill/>
          <a:ln w="0">
            <a:noFill/>
          </a:ln>
        </p:spPr>
        <p:txBody>
          <a:bodyPr lIns="0" tIns="0" rIns="0" bIns="0" anchor="t"/>
          <a:lstStyle>
            <a:defPPr algn="r">
              <a:defRPr sz="1425" b="0">
                <a:solidFill>
                  <a:srgbClr val="DDE1F5"/>
                </a:solidFill>
              </a:defRPr>
            </a:defPPr>
            <a:lvl1pPr algn="r">
              <a:defRPr sz="1425" b="0">
                <a:solidFill>
                  <a:srgbClr val="DDE1F5"/>
                </a:solidFill>
              </a:defRPr>
            </a:lvl1pPr>
            <a:lvl2pPr algn="r">
              <a:defRPr sz="1425" b="0">
                <a:solidFill>
                  <a:srgbClr val="DDE1F5"/>
                </a:solidFill>
              </a:defRPr>
            </a:lvl2pPr>
            <a:lvl3pPr algn="r">
              <a:defRPr sz="1425" b="0">
                <a:solidFill>
                  <a:srgbClr val="DDE1F5"/>
                </a:solidFill>
              </a:defRPr>
            </a:lvl3pPr>
            <a:lvl4pPr algn="r">
              <a:defRPr sz="1425" b="0">
                <a:solidFill>
                  <a:srgbClr val="DDE1F5"/>
                </a:solidFill>
              </a:defRPr>
            </a:lvl4pPr>
            <a:lvl5pPr algn="r">
              <a:defRPr sz="1425" b="0">
                <a:solidFill>
                  <a:srgbClr val="DDE1F5"/>
                </a:solidFill>
              </a:defRPr>
            </a:lvl5pPr>
            <a:lvl6pPr algn="r">
              <a:defRPr sz="1425" b="0">
                <a:solidFill>
                  <a:srgbClr val="DDE1F5"/>
                </a:solidFill>
              </a:defRPr>
            </a:lvl6pPr>
            <a:lvl7pPr algn="r">
              <a:defRPr sz="1425" b="0">
                <a:solidFill>
                  <a:srgbClr val="DDE1F5"/>
                </a:solidFill>
              </a:defRPr>
            </a:lvl7pPr>
            <a:lvl8pPr algn="r">
              <a:defRPr sz="1425" b="0">
                <a:solidFill>
                  <a:srgbClr val="DDE1F5"/>
                </a:solidFill>
              </a:defRPr>
            </a:lvl8pPr>
            <a:lvl9pPr algn="r">
              <a:defRPr sz="1425" b="0">
                <a:solidFill>
                  <a:srgbClr val="DDE1F5"/>
                </a:solidFill>
              </a:defRPr>
            </a:lvl9pPr>
          </a:lstStyle>
          <a:p>
            <a:pPr algn="r" rtl="1">
              <a:defRPr sz="1425" b="0">
                <a:solidFill>
                  <a:srgbClr val="DDE1F5"/>
                </a:solidFill>
              </a:defRPr>
            </a:pPr>
            <a:r>
              <a:rPr sz="1425" b="0" lang="fa-IR">
                <a:solidFill>
                  <a:srgbClr val="DDE1F5"/>
                </a:solidFill>
              </a:rPr>
              <a:t>با دیدن 3، همهٔ عددهای بعدی را یک خانه به چپ ببریم. این جابه‌جایی ممکن است بارها تکرار شود.</a:t>
            </a:r>
          </a:p>
        </p:txBody>
      </p:sp>
      <p:sp>
        <p:nvSpPr>
          <p:cNvPr id="23" name="">
            <a:extLst>
              <a:ext uri="{FF2B5EF4-FFF2-40B4-BE49-F238E27FC236}">
                <ns2:creationId id="{0CF62263-DDA9-42DC-839D-4589ED9CC57C}"/>
              </a:ext>
            </a:extLst>
          </p:cNvPr>
          <p:cNvSpPr>
            <a:spLocks noGrp="1"/>
          </p:cNvSpPr>
          <p:nvPr/>
        </p:nvSpPr>
        <p:spPr>
          <a:xfrm>
            <a:off x="723900" y="6496050"/>
            <a:ext cx="10744200" cy="209550"/>
          </a:xfrm>
          <a:prstGeom prst="rect">
            <a:avLst/>
          </a:prstGeom>
          <a:noFill/>
          <a:ln w="0">
            <a:noFill/>
          </a:ln>
        </p:spPr>
        <p:txBody>
          <a:bodyPr lIns="0" tIns="0" rIns="0" bIns="0" anchor="t"/>
          <a:lstStyle>
            <a:defPPr algn="r">
              <a:defRPr sz="975" b="0">
                <a:solidFill>
                  <a:srgbClr val="969EB4"/>
                </a:solidFill>
              </a:defRPr>
            </a:defPPr>
            <a:lvl1pPr algn="r">
              <a:defRPr sz="975" b="0">
                <a:solidFill>
                  <a:srgbClr val="969EB4"/>
                </a:solidFill>
              </a:defRPr>
            </a:lvl1pPr>
            <a:lvl2pPr algn="r">
              <a:defRPr sz="975" b="0">
                <a:solidFill>
                  <a:srgbClr val="969EB4"/>
                </a:solidFill>
              </a:defRPr>
            </a:lvl2pPr>
            <a:lvl3pPr algn="r">
              <a:defRPr sz="975" b="0">
                <a:solidFill>
                  <a:srgbClr val="969EB4"/>
                </a:solidFill>
              </a:defRPr>
            </a:lvl3pPr>
            <a:lvl4pPr algn="r">
              <a:defRPr sz="975" b="0">
                <a:solidFill>
                  <a:srgbClr val="969EB4"/>
                </a:solidFill>
              </a:defRPr>
            </a:lvl4pPr>
            <a:lvl5pPr algn="r">
              <a:defRPr sz="975" b="0">
                <a:solidFill>
                  <a:srgbClr val="969EB4"/>
                </a:solidFill>
              </a:defRPr>
            </a:lvl5pPr>
            <a:lvl6pPr algn="r">
              <a:defRPr sz="975" b="0">
                <a:solidFill>
                  <a:srgbClr val="969EB4"/>
                </a:solidFill>
              </a:defRPr>
            </a:lvl6pPr>
            <a:lvl7pPr algn="r">
              <a:defRPr sz="975" b="0">
                <a:solidFill>
                  <a:srgbClr val="969EB4"/>
                </a:solidFill>
              </a:defRPr>
            </a:lvl7pPr>
            <a:lvl8pPr algn="r">
              <a:defRPr sz="975" b="0">
                <a:solidFill>
                  <a:srgbClr val="969EB4"/>
                </a:solidFill>
              </a:defRPr>
            </a:lvl8pPr>
            <a:lvl9pPr algn="r">
              <a:defRPr sz="975" b="0">
                <a:solidFill>
                  <a:srgbClr val="969EB4"/>
                </a:solidFill>
              </a:defRPr>
            </a:lvl9pPr>
          </a:lstStyle>
          <a:p>
            <a:pPr algn="r">
              <a:defRPr sz="975" b="0">
                <a:solidFill>
                  <a:srgbClr val="969EB4"/>
                </a:solidFill>
              </a:defRPr>
            </a:pPr>
            <a:r>
              <a:rPr sz="975" b="0">
                <a:solidFill>
                  <a:srgbClr val="969EB4"/>
                </a:solidFill>
              </a:rPr>
              <a:t>28 / 57</a:t>
            </a:r>
          </a:p>
        </p:txBody>
      </p:sp>
    </p:spTree>
    <p:extLst>
      <p:ext uri="{BB962C8B-B14F-4D97-AF65-F5344CB8AC3E}">
        <ns3:creationId val="1833981502"/>
      </p:ext>
    </p:extLst>
  </p:cSld>
</p:sld>
</file>

<file path=ppt/slides/slide5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0D0D1A"/>
        </a:solidFill>
      </p:bgPr>
    </p:bg>
    <p:spTree>
      <p:nvGrpSpPr>
        <p:cNvPr id="1" name=""/>
        <p:cNvGrpSpPr/>
        <p:nvPr/>
      </p:nvGrpSpPr>
      <p:grpSpPr>
        <a:xfrm/>
      </p:grpSpPr>
      <p:sp>
        <p:nvSpPr>
          <p:cNvPr id="19" name="">
            <a:extLst>
              <a:ext uri="{FF2B5EF4-FFF2-40B4-BE49-F238E27FC236}">
                <ns2:creationId id="{3FE57B42-4E95-4292-BDEE-7F2168F330BB}"/>
              </a:ext>
            </a:extLst>
          </p:cNvPr>
          <p:cNvSpPr>
            <a:spLocks noGrp="1"/>
          </p:cNvSpPr>
          <p:nvPr/>
        </p:nvSpPr>
        <p:spPr>
          <a:xfrm>
            <a:off x="0" y="0"/>
            <a:ext cx="12192000" cy="47625"/>
          </a:xfrm>
          <a:prstGeom prst="rect">
            <a:avLst/>
          </a:prstGeom>
          <a:solidFill>
            <a:srgbClr val="4ECCA3"/>
          </a:solidFill>
          <a:ln w="0">
            <a:noFill/>
          </a:ln>
        </p:spPr>
      </p:sp>
      <p:sp>
        <p:nvSpPr>
          <p:cNvPr id="2" name="">
            <a:extLst>
              <a:ext uri="{FF2B5EF4-FFF2-40B4-BE49-F238E27FC236}">
                <ns2:creationId id="{63BDB969-31BE-4492-8D02-A3F663B7DA47}"/>
              </a:ext>
            </a:extLst>
          </p:cNvPr>
          <p:cNvSpPr>
            <a:spLocks noGrp="1"/>
          </p:cNvSpPr>
          <p:nvPr/>
        </p:nvSpPr>
        <p:spPr>
          <a:xfrm>
            <a:off x="723900" y="266700"/>
            <a:ext cx="10744200" cy="495300"/>
          </a:xfrm>
          <a:prstGeom prst="rect">
            <a:avLst/>
          </a:prstGeom>
          <a:noFill/>
          <a:ln w="0">
            <a:noFill/>
          </a:ln>
        </p:spPr>
        <p:txBody>
          <a:bodyPr lIns="0" tIns="0" rIns="0" bIns="0" anchor="t"/>
          <a:lstStyle>
            <a:defPPr algn="r">
              <a:defRPr sz="2175" b="1">
                <a:solidFill>
                  <a:srgbClr val="4ECCA3"/>
                </a:solidFill>
              </a:defRPr>
            </a:defPPr>
            <a:lvl1pPr algn="r">
              <a:defRPr sz="2175" b="1">
                <a:solidFill>
                  <a:srgbClr val="4ECCA3"/>
                </a:solidFill>
              </a:defRPr>
            </a:lvl1pPr>
            <a:lvl2pPr algn="r">
              <a:defRPr sz="2175" b="1">
                <a:solidFill>
                  <a:srgbClr val="4ECCA3"/>
                </a:solidFill>
              </a:defRPr>
            </a:lvl2pPr>
            <a:lvl3pPr algn="r">
              <a:defRPr sz="2175" b="1">
                <a:solidFill>
                  <a:srgbClr val="4ECCA3"/>
                </a:solidFill>
              </a:defRPr>
            </a:lvl3pPr>
            <a:lvl4pPr algn="r">
              <a:defRPr sz="2175" b="1">
                <a:solidFill>
                  <a:srgbClr val="4ECCA3"/>
                </a:solidFill>
              </a:defRPr>
            </a:lvl4pPr>
            <a:lvl5pPr algn="r">
              <a:defRPr sz="2175" b="1">
                <a:solidFill>
                  <a:srgbClr val="4ECCA3"/>
                </a:solidFill>
              </a:defRPr>
            </a:lvl5pPr>
            <a:lvl6pPr algn="r">
              <a:defRPr sz="2175" b="1">
                <a:solidFill>
                  <a:srgbClr val="4ECCA3"/>
                </a:solidFill>
              </a:defRPr>
            </a:lvl6pPr>
            <a:lvl7pPr algn="r">
              <a:defRPr sz="2175" b="1">
                <a:solidFill>
                  <a:srgbClr val="4ECCA3"/>
                </a:solidFill>
              </a:defRPr>
            </a:lvl7pPr>
            <a:lvl8pPr algn="r">
              <a:defRPr sz="2175" b="1">
                <a:solidFill>
                  <a:srgbClr val="4ECCA3"/>
                </a:solidFill>
              </a:defRPr>
            </a:lvl8pPr>
            <a:lvl9pPr algn="r">
              <a:defRPr sz="2175" b="1">
                <a:solidFill>
                  <a:srgbClr val="4ECCA3"/>
                </a:solidFill>
              </a:defRPr>
            </a:lvl9pPr>
          </a:lstStyle>
          <a:p>
            <a:pPr algn="r" rtl="1">
              <a:defRPr sz="2175" b="1">
                <a:solidFill>
                  <a:srgbClr val="4ECCA3"/>
                </a:solidFill>
              </a:defRPr>
            </a:pPr>
            <a:r>
              <a:rPr sz="2175" b="1" lang="fa-IR">
                <a:solidFill>
                  <a:srgbClr val="4ECCA3"/>
                </a:solidFill>
              </a:rPr>
              <a:t>روش اولیه: حذف با جابه‌جایی بقیهٔ عددها</a:t>
            </a:r>
          </a:p>
        </p:txBody>
      </p:sp>
      <p:sp>
        <p:nvSpPr>
          <p:cNvPr id="3" name="">
            <a:extLst>
              <a:ext uri="{FF2B5EF4-FFF2-40B4-BE49-F238E27FC236}">
                <ns2:creationId id="{3B658028-043A-43F6-AEAA-7C9C15F39EFB}"/>
              </a:ext>
            </a:extLst>
          </p:cNvPr>
          <p:cNvSpPr>
            <a:spLocks noGrp="1"/>
          </p:cNvSpPr>
          <p:nvPr/>
        </p:nvSpPr>
        <p:spPr>
          <a:xfrm>
            <a:off x="723900" y="838200"/>
            <a:ext cx="10744200" cy="619125"/>
          </a:xfrm>
          <a:prstGeom prst="rect">
            <a:avLst/>
          </a:prstGeom>
          <a:noFill/>
          <a:ln w="0">
            <a:noFill/>
          </a:ln>
        </p:spPr>
        <p:txBody>
          <a:bodyPr lIns="0" tIns="0" rIns="0" bIns="0" anchor="t"/>
          <a:lstStyle>
            <a:defPPr algn="r">
              <a:defRPr sz="1425" b="0">
                <a:solidFill>
                  <a:srgbClr val="969EB4"/>
                </a:solidFill>
              </a:defRPr>
            </a:defPPr>
            <a:lvl1pPr algn="r">
              <a:defRPr sz="1425" b="0">
                <a:solidFill>
                  <a:srgbClr val="969EB4"/>
                </a:solidFill>
              </a:defRPr>
            </a:lvl1pPr>
            <a:lvl2pPr algn="r">
              <a:defRPr sz="1425" b="0">
                <a:solidFill>
                  <a:srgbClr val="969EB4"/>
                </a:solidFill>
              </a:defRPr>
            </a:lvl2pPr>
            <a:lvl3pPr algn="r">
              <a:defRPr sz="1425" b="0">
                <a:solidFill>
                  <a:srgbClr val="969EB4"/>
                </a:solidFill>
              </a:defRPr>
            </a:lvl3pPr>
            <a:lvl4pPr algn="r">
              <a:defRPr sz="1425" b="0">
                <a:solidFill>
                  <a:srgbClr val="969EB4"/>
                </a:solidFill>
              </a:defRPr>
            </a:lvl4pPr>
            <a:lvl5pPr algn="r">
              <a:defRPr sz="1425" b="0">
                <a:solidFill>
                  <a:srgbClr val="969EB4"/>
                </a:solidFill>
              </a:defRPr>
            </a:lvl5pPr>
            <a:lvl6pPr algn="r">
              <a:defRPr sz="1425" b="0">
                <a:solidFill>
                  <a:srgbClr val="969EB4"/>
                </a:solidFill>
              </a:defRPr>
            </a:lvl6pPr>
            <a:lvl7pPr algn="r">
              <a:defRPr sz="1425" b="0">
                <a:solidFill>
                  <a:srgbClr val="969EB4"/>
                </a:solidFill>
              </a:defRPr>
            </a:lvl7pPr>
            <a:lvl8pPr algn="r">
              <a:defRPr sz="1425" b="0">
                <a:solidFill>
                  <a:srgbClr val="969EB4"/>
                </a:solidFill>
              </a:defRPr>
            </a:lvl8pPr>
            <a:lvl9pPr algn="r">
              <a:defRPr sz="1425" b="0">
                <a:solidFill>
                  <a:srgbClr val="969EB4"/>
                </a:solidFill>
              </a:defRPr>
            </a:lvl9pPr>
          </a:lstStyle>
          <a:p>
            <a:pPr algn="r" rtl="1">
              <a:defRPr sz="1425" b="0">
                <a:solidFill>
                  <a:srgbClr val="969EB4"/>
                </a:solidFill>
              </a:defRPr>
            </a:pPr>
            <a:r>
              <a:rPr sz="1425" b="0" lang="fa-IR">
                <a:solidFill>
                  <a:srgbClr val="969EB4"/>
                </a:solidFill>
              </a:rPr>
              <a:t>اگر یک عدد را حذف کنیم، می‌توانیم همهٔ عددهای بعدی را یک خانه به چپ ببریم.</a:t>
            </a:r>
          </a:p>
        </p:txBody>
      </p:sp>
      <p:sp>
        <p:nvSpPr>
          <p:cNvPr id="4" name="">
            <a:extLst>
              <a:ext uri="{FF2B5EF4-FFF2-40B4-BE49-F238E27FC236}">
                <ns2:creationId id="{1D96C190-F04C-46D4-B09B-E971D6240FE5}"/>
              </a:ext>
            </a:extLst>
          </p:cNvPr>
          <p:cNvSpPr>
            <a:spLocks noGrp="1"/>
          </p:cNvSpPr>
          <p:nvPr/>
        </p:nvSpPr>
        <p:spPr>
          <a:xfrm>
            <a:off x="8882063" y="1466850"/>
            <a:ext cx="2586038" cy="1190625"/>
          </a:xfrm>
          <a:prstGeom prst="rect">
            <a:avLst/>
          </a:prstGeom>
          <a:solidFill>
            <a:srgbClr val="141428"/>
          </a:solidFill>
          <a:ln w="9525">
            <a:solidFill>
              <a:srgbClr val="E96C6C"/>
            </a:solidFill>
          </a:ln>
        </p:spPr>
      </p:sp>
      <p:sp>
        <p:nvSpPr>
          <p:cNvPr id="5" name="">
            <a:extLst>
              <a:ext uri="{FF2B5EF4-FFF2-40B4-BE49-F238E27FC236}">
                <ns2:creationId id="{83362F24-004C-4942-A43D-EAAC34FDDC24}"/>
              </a:ext>
            </a:extLst>
          </p:cNvPr>
          <p:cNvSpPr>
            <a:spLocks noGrp="1"/>
          </p:cNvSpPr>
          <p:nvPr/>
        </p:nvSpPr>
        <p:spPr>
          <a:xfrm>
            <a:off x="8996363" y="1581150"/>
            <a:ext cx="2357438" cy="400050"/>
          </a:xfrm>
          <a:prstGeom prst="rect">
            <a:avLst/>
          </a:prstGeom>
          <a:noFill/>
          <a:ln w="0">
            <a:noFill/>
          </a:ln>
        </p:spPr>
        <p:txBody>
          <a:bodyPr lIns="0" tIns="0" rIns="0" bIns="0" anchor="t"/>
          <a:lstStyle>
            <a:defPPr algn="r">
              <a:defRPr sz="1425" b="1">
                <a:solidFill>
                  <a:srgbClr val="E96C6C"/>
                </a:solidFill>
              </a:defRPr>
            </a:defPPr>
            <a:lvl1pPr algn="r">
              <a:defRPr sz="1425" b="1">
                <a:solidFill>
                  <a:srgbClr val="E96C6C"/>
                </a:solidFill>
              </a:defRPr>
            </a:lvl1pPr>
            <a:lvl2pPr algn="r">
              <a:defRPr sz="1425" b="1">
                <a:solidFill>
                  <a:srgbClr val="E96C6C"/>
                </a:solidFill>
              </a:defRPr>
            </a:lvl2pPr>
            <a:lvl3pPr algn="r">
              <a:defRPr sz="1425" b="1">
                <a:solidFill>
                  <a:srgbClr val="E96C6C"/>
                </a:solidFill>
              </a:defRPr>
            </a:lvl3pPr>
            <a:lvl4pPr algn="r">
              <a:defRPr sz="1425" b="1">
                <a:solidFill>
                  <a:srgbClr val="E96C6C"/>
                </a:solidFill>
              </a:defRPr>
            </a:lvl4pPr>
            <a:lvl5pPr algn="r">
              <a:defRPr sz="1425" b="1">
                <a:solidFill>
                  <a:srgbClr val="E96C6C"/>
                </a:solidFill>
              </a:defRPr>
            </a:lvl5pPr>
            <a:lvl6pPr algn="r">
              <a:defRPr sz="1425" b="1">
                <a:solidFill>
                  <a:srgbClr val="E96C6C"/>
                </a:solidFill>
              </a:defRPr>
            </a:lvl6pPr>
            <a:lvl7pPr algn="r">
              <a:defRPr sz="1425" b="1">
                <a:solidFill>
                  <a:srgbClr val="E96C6C"/>
                </a:solidFill>
              </a:defRPr>
            </a:lvl7pPr>
            <a:lvl8pPr algn="r">
              <a:defRPr sz="1425" b="1">
                <a:solidFill>
                  <a:srgbClr val="E96C6C"/>
                </a:solidFill>
              </a:defRPr>
            </a:lvl8pPr>
            <a:lvl9pPr algn="r">
              <a:defRPr sz="1425" b="1">
                <a:solidFill>
                  <a:srgbClr val="E96C6C"/>
                </a:solidFill>
              </a:defRPr>
            </a:lvl9pPr>
          </a:lstStyle>
          <a:p>
            <a:pPr algn="r" rtl="1">
              <a:defRPr sz="1425" b="1">
                <a:solidFill>
                  <a:srgbClr val="E96C6C"/>
                </a:solidFill>
              </a:defRPr>
            </a:pPr>
            <a:r>
              <a:rPr sz="1425" b="1" lang="fa-IR">
                <a:solidFill>
                  <a:srgbClr val="E96C6C"/>
                </a:solidFill>
              </a:rPr>
              <a:t>۱. کار تکراری</a:t>
            </a:r>
          </a:p>
        </p:txBody>
      </p:sp>
      <p:sp>
        <p:nvSpPr>
          <p:cNvPr id="6" name="">
            <a:extLst>
              <a:ext uri="{FF2B5EF4-FFF2-40B4-BE49-F238E27FC236}">
                <ns2:creationId id="{C5AB13E3-8BA8-4923-8EC8-423DFA30E1F6}"/>
              </a:ext>
            </a:extLst>
          </p:cNvPr>
          <p:cNvSpPr>
            <a:spLocks noGrp="1"/>
          </p:cNvSpPr>
          <p:nvPr/>
        </p:nvSpPr>
        <p:spPr>
          <a:xfrm>
            <a:off x="8996363" y="2019300"/>
            <a:ext cx="2357438" cy="561975"/>
          </a:xfrm>
          <a:prstGeom prst="rect">
            <a:avLst/>
          </a:prstGeom>
          <a:noFill/>
          <a:ln w="0">
            <a:noFill/>
          </a:ln>
        </p:spPr>
        <p:txBody>
          <a:bodyPr lIns="0" tIns="0" rIns="0" bIns="0" anchor="t"/>
          <a:lstStyle>
            <a:defPPr algn="r">
              <a:defRPr sz="1275" b="0">
                <a:solidFill>
                  <a:srgbClr val="DDE1F5"/>
                </a:solidFill>
              </a:defRPr>
            </a:defPPr>
            <a:lvl1pPr algn="r">
              <a:defRPr sz="1275" b="0">
                <a:solidFill>
                  <a:srgbClr val="DDE1F5"/>
                </a:solidFill>
              </a:defRPr>
            </a:lvl1pPr>
            <a:lvl2pPr algn="r">
              <a:defRPr sz="1275" b="0">
                <a:solidFill>
                  <a:srgbClr val="DDE1F5"/>
                </a:solidFill>
              </a:defRPr>
            </a:lvl2pPr>
            <a:lvl3pPr algn="r">
              <a:defRPr sz="1275" b="0">
                <a:solidFill>
                  <a:srgbClr val="DDE1F5"/>
                </a:solidFill>
              </a:defRPr>
            </a:lvl3pPr>
            <a:lvl4pPr algn="r">
              <a:defRPr sz="1275" b="0">
                <a:solidFill>
                  <a:srgbClr val="DDE1F5"/>
                </a:solidFill>
              </a:defRPr>
            </a:lvl4pPr>
            <a:lvl5pPr algn="r">
              <a:defRPr sz="1275" b="0">
                <a:solidFill>
                  <a:srgbClr val="DDE1F5"/>
                </a:solidFill>
              </a:defRPr>
            </a:lvl5pPr>
            <a:lvl6pPr algn="r">
              <a:defRPr sz="1275" b="0">
                <a:solidFill>
                  <a:srgbClr val="DDE1F5"/>
                </a:solidFill>
              </a:defRPr>
            </a:lvl6pPr>
            <a:lvl7pPr algn="r">
              <a:defRPr sz="1275" b="0">
                <a:solidFill>
                  <a:srgbClr val="DDE1F5"/>
                </a:solidFill>
              </a:defRPr>
            </a:lvl7pPr>
            <a:lvl8pPr algn="r">
              <a:defRPr sz="1275" b="0">
                <a:solidFill>
                  <a:srgbClr val="DDE1F5"/>
                </a:solidFill>
              </a:defRPr>
            </a:lvl8pPr>
            <a:lvl9pPr algn="r">
              <a:defRPr sz="1275" b="0">
                <a:solidFill>
                  <a:srgbClr val="DDE1F5"/>
                </a:solidFill>
              </a:defRPr>
            </a:lvl9pPr>
          </a:lstStyle>
          <a:p>
            <a:pPr algn="r" rtl="1">
              <a:defRPr sz="1275" b="0">
                <a:solidFill>
                  <a:srgbClr val="DDE1F5"/>
                </a:solidFill>
              </a:defRPr>
            </a:pPr>
            <a:r>
              <a:rPr sz="1275" b="0" lang="fa-IR">
                <a:solidFill>
                  <a:srgbClr val="DDE1F5"/>
                </a:solidFill>
              </a:rPr>
              <a:t>یک عدد ممکن است با حذف چند عدد قبلی، چند بار جابه‌جا شود.</a:t>
            </a:r>
          </a:p>
        </p:txBody>
      </p:sp>
      <p:sp>
        <p:nvSpPr>
          <p:cNvPr id="7" name="">
            <a:extLst>
              <a:ext uri="{FF2B5EF4-FFF2-40B4-BE49-F238E27FC236}">
                <ns2:creationId id="{1B58CD26-DEC8-4B4E-855A-DAD9B0189C14}"/>
              </a:ext>
            </a:extLst>
          </p:cNvPr>
          <p:cNvSpPr>
            <a:spLocks noGrp="1"/>
          </p:cNvSpPr>
          <p:nvPr/>
        </p:nvSpPr>
        <p:spPr>
          <a:xfrm>
            <a:off x="6162675" y="1466850"/>
            <a:ext cx="2586038" cy="1190625"/>
          </a:xfrm>
          <a:prstGeom prst="rect">
            <a:avLst/>
          </a:prstGeom>
          <a:solidFill>
            <a:srgbClr val="141428"/>
          </a:solidFill>
          <a:ln w="9525">
            <a:solidFill>
              <a:srgbClr val="E9A84C"/>
            </a:solidFill>
          </a:ln>
        </p:spPr>
      </p:sp>
      <p:sp>
        <p:nvSpPr>
          <p:cNvPr id="8" name="">
            <a:extLst>
              <a:ext uri="{FF2B5EF4-FFF2-40B4-BE49-F238E27FC236}">
                <ns2:creationId id="{7639F5B7-EE87-474A-812C-202ACF726D97}"/>
              </a:ext>
            </a:extLst>
          </p:cNvPr>
          <p:cNvSpPr>
            <a:spLocks noGrp="1"/>
          </p:cNvSpPr>
          <p:nvPr/>
        </p:nvSpPr>
        <p:spPr>
          <a:xfrm>
            <a:off x="6276975" y="1581150"/>
            <a:ext cx="2357438" cy="400050"/>
          </a:xfrm>
          <a:prstGeom prst="rect">
            <a:avLst/>
          </a:prstGeom>
          <a:noFill/>
          <a:ln w="0">
            <a:noFill/>
          </a:ln>
        </p:spPr>
        <p:txBody>
          <a:bodyPr lIns="0" tIns="0" rIns="0" bIns="0" anchor="t"/>
          <a:lstStyle>
            <a:defPPr algn="r">
              <a:defRPr sz="1425" b="1">
                <a:solidFill>
                  <a:srgbClr val="E9A84C"/>
                </a:solidFill>
              </a:defRPr>
            </a:defPPr>
            <a:lvl1pPr algn="r">
              <a:defRPr sz="1425" b="1">
                <a:solidFill>
                  <a:srgbClr val="E9A84C"/>
                </a:solidFill>
              </a:defRPr>
            </a:lvl1pPr>
            <a:lvl2pPr algn="r">
              <a:defRPr sz="1425" b="1">
                <a:solidFill>
                  <a:srgbClr val="E9A84C"/>
                </a:solidFill>
              </a:defRPr>
            </a:lvl2pPr>
            <a:lvl3pPr algn="r">
              <a:defRPr sz="1425" b="1">
                <a:solidFill>
                  <a:srgbClr val="E9A84C"/>
                </a:solidFill>
              </a:defRPr>
            </a:lvl3pPr>
            <a:lvl4pPr algn="r">
              <a:defRPr sz="1425" b="1">
                <a:solidFill>
                  <a:srgbClr val="E9A84C"/>
                </a:solidFill>
              </a:defRPr>
            </a:lvl4pPr>
            <a:lvl5pPr algn="r">
              <a:defRPr sz="1425" b="1">
                <a:solidFill>
                  <a:srgbClr val="E9A84C"/>
                </a:solidFill>
              </a:defRPr>
            </a:lvl5pPr>
            <a:lvl6pPr algn="r">
              <a:defRPr sz="1425" b="1">
                <a:solidFill>
                  <a:srgbClr val="E9A84C"/>
                </a:solidFill>
              </a:defRPr>
            </a:lvl6pPr>
            <a:lvl7pPr algn="r">
              <a:defRPr sz="1425" b="1">
                <a:solidFill>
                  <a:srgbClr val="E9A84C"/>
                </a:solidFill>
              </a:defRPr>
            </a:lvl7pPr>
            <a:lvl8pPr algn="r">
              <a:defRPr sz="1425" b="1">
                <a:solidFill>
                  <a:srgbClr val="E9A84C"/>
                </a:solidFill>
              </a:defRPr>
            </a:lvl8pPr>
            <a:lvl9pPr algn="r">
              <a:defRPr sz="1425" b="1">
                <a:solidFill>
                  <a:srgbClr val="E9A84C"/>
                </a:solidFill>
              </a:defRPr>
            </a:lvl9pPr>
          </a:lstStyle>
          <a:p>
            <a:pPr algn="r" rtl="1">
              <a:defRPr sz="1425" b="1">
                <a:solidFill>
                  <a:srgbClr val="E9A84C"/>
                </a:solidFill>
              </a:defRPr>
            </a:pPr>
            <a:r>
              <a:rPr sz="1425" b="1" lang="fa-IR">
                <a:solidFill>
                  <a:srgbClr val="E9A84C"/>
                </a:solidFill>
              </a:rPr>
              <a:t>۲. هزینهٔ روش</a:t>
            </a:r>
          </a:p>
        </p:txBody>
      </p:sp>
      <p:sp>
        <p:nvSpPr>
          <p:cNvPr id="9" name="">
            <a:extLst>
              <a:ext uri="{FF2B5EF4-FFF2-40B4-BE49-F238E27FC236}">
                <ns2:creationId id="{4CDDDA71-EB3A-4407-9A97-A83E8C76C791}"/>
              </a:ext>
            </a:extLst>
          </p:cNvPr>
          <p:cNvSpPr>
            <a:spLocks noGrp="1"/>
          </p:cNvSpPr>
          <p:nvPr/>
        </p:nvSpPr>
        <p:spPr>
          <a:xfrm>
            <a:off x="6276975" y="2019300"/>
            <a:ext cx="2357438" cy="561975"/>
          </a:xfrm>
          <a:prstGeom prst="rect">
            <a:avLst/>
          </a:prstGeom>
          <a:noFill/>
          <a:ln w="0">
            <a:noFill/>
          </a:ln>
        </p:spPr>
        <p:txBody>
          <a:bodyPr lIns="0" tIns="0" rIns="0" bIns="0" anchor="t"/>
          <a:lstStyle>
            <a:defPPr algn="r">
              <a:defRPr sz="1275" b="0">
                <a:solidFill>
                  <a:srgbClr val="DDE1F5"/>
                </a:solidFill>
              </a:defRPr>
            </a:defPPr>
            <a:lvl1pPr algn="r">
              <a:defRPr sz="1275" b="0">
                <a:solidFill>
                  <a:srgbClr val="DDE1F5"/>
                </a:solidFill>
              </a:defRPr>
            </a:lvl1pPr>
            <a:lvl2pPr algn="r">
              <a:defRPr sz="1275" b="0">
                <a:solidFill>
                  <a:srgbClr val="DDE1F5"/>
                </a:solidFill>
              </a:defRPr>
            </a:lvl2pPr>
            <a:lvl3pPr algn="r">
              <a:defRPr sz="1275" b="0">
                <a:solidFill>
                  <a:srgbClr val="DDE1F5"/>
                </a:solidFill>
              </a:defRPr>
            </a:lvl3pPr>
            <a:lvl4pPr algn="r">
              <a:defRPr sz="1275" b="0">
                <a:solidFill>
                  <a:srgbClr val="DDE1F5"/>
                </a:solidFill>
              </a:defRPr>
            </a:lvl4pPr>
            <a:lvl5pPr algn="r">
              <a:defRPr sz="1275" b="0">
                <a:solidFill>
                  <a:srgbClr val="DDE1F5"/>
                </a:solidFill>
              </a:defRPr>
            </a:lvl5pPr>
            <a:lvl6pPr algn="r">
              <a:defRPr sz="1275" b="0">
                <a:solidFill>
                  <a:srgbClr val="DDE1F5"/>
                </a:solidFill>
              </a:defRPr>
            </a:lvl6pPr>
            <a:lvl7pPr algn="r">
              <a:defRPr sz="1275" b="0">
                <a:solidFill>
                  <a:srgbClr val="DDE1F5"/>
                </a:solidFill>
              </a:defRPr>
            </a:lvl7pPr>
            <a:lvl8pPr algn="r">
              <a:defRPr sz="1275" b="0">
                <a:solidFill>
                  <a:srgbClr val="DDE1F5"/>
                </a:solidFill>
              </a:defRPr>
            </a:lvl8pPr>
            <a:lvl9pPr algn="r">
              <a:defRPr sz="1275" b="0">
                <a:solidFill>
                  <a:srgbClr val="DDE1F5"/>
                </a:solidFill>
              </a:defRPr>
            </a:lvl9pPr>
          </a:lstStyle>
          <a:p>
            <a:pPr algn="r" rtl="1">
              <a:defRPr sz="1275" b="0">
                <a:solidFill>
                  <a:srgbClr val="DDE1F5"/>
                </a:solidFill>
              </a:defRPr>
            </a:pPr>
            <a:r>
              <a:rPr sz="1275" b="0" lang="fa-IR">
                <a:solidFill>
                  <a:srgbClr val="DDE1F5"/>
                </a:solidFill>
              </a:rPr>
              <a:t>در بدترین حالت n(n−1)/2 جابه‌جایی داریم: زمان O(n²) و حافظهٔ کمکی O(1).</a:t>
            </a:r>
          </a:p>
        </p:txBody>
      </p:sp>
      <p:sp>
        <p:nvSpPr>
          <p:cNvPr id="10" name="">
            <a:extLst>
              <a:ext uri="{FF2B5EF4-FFF2-40B4-BE49-F238E27FC236}">
                <ns2:creationId id="{0F32A630-23E2-497B-910B-297D87C66F5B}"/>
              </a:ext>
            </a:extLst>
          </p:cNvPr>
          <p:cNvSpPr>
            <a:spLocks noGrp="1"/>
          </p:cNvSpPr>
          <p:nvPr/>
        </p:nvSpPr>
        <p:spPr>
          <a:xfrm>
            <a:off x="3443288" y="1466850"/>
            <a:ext cx="2586038" cy="1190625"/>
          </a:xfrm>
          <a:prstGeom prst="rect">
            <a:avLst/>
          </a:prstGeom>
          <a:solidFill>
            <a:srgbClr val="141428"/>
          </a:solidFill>
          <a:ln w="9525">
            <a:solidFill>
              <a:srgbClr val="7C8FF5"/>
            </a:solidFill>
          </a:ln>
        </p:spPr>
      </p:sp>
      <p:sp>
        <p:nvSpPr>
          <p:cNvPr id="11" name="">
            <a:extLst>
              <a:ext uri="{FF2B5EF4-FFF2-40B4-BE49-F238E27FC236}">
                <ns2:creationId id="{8878675F-FC29-4985-A1B7-524BB8DA94BC}"/>
              </a:ext>
            </a:extLst>
          </p:cNvPr>
          <p:cNvSpPr>
            <a:spLocks noGrp="1"/>
          </p:cNvSpPr>
          <p:nvPr/>
        </p:nvSpPr>
        <p:spPr>
          <a:xfrm>
            <a:off x="3557588" y="1581150"/>
            <a:ext cx="2357438" cy="400050"/>
          </a:xfrm>
          <a:prstGeom prst="rect">
            <a:avLst/>
          </a:prstGeom>
          <a:noFill/>
          <a:ln w="0">
            <a:noFill/>
          </a:ln>
        </p:spPr>
        <p:txBody>
          <a:bodyPr lIns="0" tIns="0" rIns="0" bIns="0" anchor="t"/>
          <a:lstStyle>
            <a:defPPr algn="r">
              <a:defRPr sz="1425" b="1">
                <a:solidFill>
                  <a:srgbClr val="7C8FF5"/>
                </a:solidFill>
              </a:defRPr>
            </a:defPPr>
            <a:lvl1pPr algn="r">
              <a:defRPr sz="1425" b="1">
                <a:solidFill>
                  <a:srgbClr val="7C8FF5"/>
                </a:solidFill>
              </a:defRPr>
            </a:lvl1pPr>
            <a:lvl2pPr algn="r">
              <a:defRPr sz="1425" b="1">
                <a:solidFill>
                  <a:srgbClr val="7C8FF5"/>
                </a:solidFill>
              </a:defRPr>
            </a:lvl2pPr>
            <a:lvl3pPr algn="r">
              <a:defRPr sz="1425" b="1">
                <a:solidFill>
                  <a:srgbClr val="7C8FF5"/>
                </a:solidFill>
              </a:defRPr>
            </a:lvl3pPr>
            <a:lvl4pPr algn="r">
              <a:defRPr sz="1425" b="1">
                <a:solidFill>
                  <a:srgbClr val="7C8FF5"/>
                </a:solidFill>
              </a:defRPr>
            </a:lvl4pPr>
            <a:lvl5pPr algn="r">
              <a:defRPr sz="1425" b="1">
                <a:solidFill>
                  <a:srgbClr val="7C8FF5"/>
                </a:solidFill>
              </a:defRPr>
            </a:lvl5pPr>
            <a:lvl6pPr algn="r">
              <a:defRPr sz="1425" b="1">
                <a:solidFill>
                  <a:srgbClr val="7C8FF5"/>
                </a:solidFill>
              </a:defRPr>
            </a:lvl6pPr>
            <a:lvl7pPr algn="r">
              <a:defRPr sz="1425" b="1">
                <a:solidFill>
                  <a:srgbClr val="7C8FF5"/>
                </a:solidFill>
              </a:defRPr>
            </a:lvl7pPr>
            <a:lvl8pPr algn="r">
              <a:defRPr sz="1425" b="1">
                <a:solidFill>
                  <a:srgbClr val="7C8FF5"/>
                </a:solidFill>
              </a:defRPr>
            </a:lvl8pPr>
            <a:lvl9pPr algn="r">
              <a:defRPr sz="1425" b="1">
                <a:solidFill>
                  <a:srgbClr val="7C8FF5"/>
                </a:solidFill>
              </a:defRPr>
            </a:lvl9pPr>
          </a:lstStyle>
          <a:p>
            <a:pPr algn="r" rtl="1">
              <a:defRPr sz="1425" b="1">
                <a:solidFill>
                  <a:srgbClr val="7C8FF5"/>
                </a:solidFill>
              </a:defRPr>
            </a:pPr>
            <a:r>
              <a:rPr sz="1425" b="1" lang="fa-IR">
                <a:solidFill>
                  <a:srgbClr val="7C8FF5"/>
                </a:solidFill>
              </a:rPr>
              <a:t>۳. حواستان به خانهٔ جدید باشد</a:t>
            </a:r>
          </a:p>
        </p:txBody>
      </p:sp>
      <p:sp>
        <p:nvSpPr>
          <p:cNvPr id="12" name="">
            <a:extLst>
              <a:ext uri="{FF2B5EF4-FFF2-40B4-BE49-F238E27FC236}">
                <ns2:creationId id="{0E6B062D-F390-4B20-A200-C4669B8DF437}"/>
              </a:ext>
            </a:extLst>
          </p:cNvPr>
          <p:cNvSpPr>
            <a:spLocks noGrp="1"/>
          </p:cNvSpPr>
          <p:nvPr/>
        </p:nvSpPr>
        <p:spPr>
          <a:xfrm>
            <a:off x="3557588" y="2019300"/>
            <a:ext cx="2357438" cy="561975"/>
          </a:xfrm>
          <a:prstGeom prst="rect">
            <a:avLst/>
          </a:prstGeom>
          <a:noFill/>
          <a:ln w="0">
            <a:noFill/>
          </a:ln>
        </p:spPr>
        <p:txBody>
          <a:bodyPr lIns="0" tIns="0" rIns="0" bIns="0" anchor="t"/>
          <a:lstStyle>
            <a:defPPr algn="r">
              <a:defRPr sz="1275" b="0">
                <a:solidFill>
                  <a:srgbClr val="DDE1F5"/>
                </a:solidFill>
              </a:defRPr>
            </a:defPPr>
            <a:lvl1pPr algn="r">
              <a:defRPr sz="1275" b="0">
                <a:solidFill>
                  <a:srgbClr val="DDE1F5"/>
                </a:solidFill>
              </a:defRPr>
            </a:lvl1pPr>
            <a:lvl2pPr algn="r">
              <a:defRPr sz="1275" b="0">
                <a:solidFill>
                  <a:srgbClr val="DDE1F5"/>
                </a:solidFill>
              </a:defRPr>
            </a:lvl2pPr>
            <a:lvl3pPr algn="r">
              <a:defRPr sz="1275" b="0">
                <a:solidFill>
                  <a:srgbClr val="DDE1F5"/>
                </a:solidFill>
              </a:defRPr>
            </a:lvl3pPr>
            <a:lvl4pPr algn="r">
              <a:defRPr sz="1275" b="0">
                <a:solidFill>
                  <a:srgbClr val="DDE1F5"/>
                </a:solidFill>
              </a:defRPr>
            </a:lvl4pPr>
            <a:lvl5pPr algn="r">
              <a:defRPr sz="1275" b="0">
                <a:solidFill>
                  <a:srgbClr val="DDE1F5"/>
                </a:solidFill>
              </a:defRPr>
            </a:lvl5pPr>
            <a:lvl6pPr algn="r">
              <a:defRPr sz="1275" b="0">
                <a:solidFill>
                  <a:srgbClr val="DDE1F5"/>
                </a:solidFill>
              </a:defRPr>
            </a:lvl6pPr>
            <a:lvl7pPr algn="r">
              <a:defRPr sz="1275" b="0">
                <a:solidFill>
                  <a:srgbClr val="DDE1F5"/>
                </a:solidFill>
              </a:defRPr>
            </a:lvl7pPr>
            <a:lvl8pPr algn="r">
              <a:defRPr sz="1275" b="0">
                <a:solidFill>
                  <a:srgbClr val="DDE1F5"/>
                </a:solidFill>
              </a:defRPr>
            </a:lvl8pPr>
            <a:lvl9pPr algn="r">
              <a:defRPr sz="1275" b="0">
                <a:solidFill>
                  <a:srgbClr val="DDE1F5"/>
                </a:solidFill>
              </a:defRPr>
            </a:lvl9pPr>
          </a:lstStyle>
          <a:p>
            <a:pPr algn="r" rtl="1">
              <a:defRPr sz="1275" b="0">
                <a:solidFill>
                  <a:srgbClr val="DDE1F5"/>
                </a:solidFill>
              </a:defRPr>
            </a:pPr>
            <a:r>
              <a:rPr sz="1275" b="0" lang="fa-IR">
                <a:solidFill>
                  <a:srgbClr val="DDE1F5"/>
                </a:solidFill>
              </a:rPr>
              <a:t>بعد از حذف، همان جای قبلی را دوباره بررسی کنید؛ شاید عدد بعدی هم باید حذف شود.</a:t>
            </a:r>
          </a:p>
        </p:txBody>
      </p:sp>
      <p:sp>
        <p:nvSpPr>
          <p:cNvPr id="13" name="">
            <a:extLst>
              <a:ext uri="{FF2B5EF4-FFF2-40B4-BE49-F238E27FC236}">
                <ns2:creationId id="{46EF5806-7C2A-4507-9549-2905C6271E11}"/>
              </a:ext>
            </a:extLst>
          </p:cNvPr>
          <p:cNvSpPr>
            <a:spLocks noGrp="1"/>
          </p:cNvSpPr>
          <p:nvPr/>
        </p:nvSpPr>
        <p:spPr>
          <a:xfrm>
            <a:off x="723900" y="1466850"/>
            <a:ext cx="2586038" cy="1190625"/>
          </a:xfrm>
          <a:prstGeom prst="rect">
            <a:avLst/>
          </a:prstGeom>
          <a:solidFill>
            <a:srgbClr val="141428"/>
          </a:solidFill>
          <a:ln w="9525">
            <a:solidFill>
              <a:srgbClr val="38BDF8"/>
            </a:solidFill>
          </a:ln>
        </p:spPr>
      </p:sp>
      <p:sp>
        <p:nvSpPr>
          <p:cNvPr id="14" name="">
            <a:extLst>
              <a:ext uri="{FF2B5EF4-FFF2-40B4-BE49-F238E27FC236}">
                <ns2:creationId id="{1581E674-B2AF-4030-8F27-E1093EBF4013}"/>
              </a:ext>
            </a:extLst>
          </p:cNvPr>
          <p:cNvSpPr>
            <a:spLocks noGrp="1"/>
          </p:cNvSpPr>
          <p:nvPr/>
        </p:nvSpPr>
        <p:spPr>
          <a:xfrm>
            <a:off x="838200" y="1581150"/>
            <a:ext cx="2357438" cy="400050"/>
          </a:xfrm>
          <a:prstGeom prst="rect">
            <a:avLst/>
          </a:prstGeom>
          <a:noFill/>
          <a:ln w="0">
            <a:noFill/>
          </a:ln>
        </p:spPr>
        <p:txBody>
          <a:bodyPr lIns="0" tIns="0" rIns="0" bIns="0" anchor="t"/>
          <a:lstStyle>
            <a:defPPr algn="r">
              <a:defRPr sz="1425" b="1">
                <a:solidFill>
                  <a:srgbClr val="38BDF8"/>
                </a:solidFill>
              </a:defRPr>
            </a:defPPr>
            <a:lvl1pPr algn="r">
              <a:defRPr sz="1425" b="1">
                <a:solidFill>
                  <a:srgbClr val="38BDF8"/>
                </a:solidFill>
              </a:defRPr>
            </a:lvl1pPr>
            <a:lvl2pPr algn="r">
              <a:defRPr sz="1425" b="1">
                <a:solidFill>
                  <a:srgbClr val="38BDF8"/>
                </a:solidFill>
              </a:defRPr>
            </a:lvl2pPr>
            <a:lvl3pPr algn="r">
              <a:defRPr sz="1425" b="1">
                <a:solidFill>
                  <a:srgbClr val="38BDF8"/>
                </a:solidFill>
              </a:defRPr>
            </a:lvl3pPr>
            <a:lvl4pPr algn="r">
              <a:defRPr sz="1425" b="1">
                <a:solidFill>
                  <a:srgbClr val="38BDF8"/>
                </a:solidFill>
              </a:defRPr>
            </a:lvl4pPr>
            <a:lvl5pPr algn="r">
              <a:defRPr sz="1425" b="1">
                <a:solidFill>
                  <a:srgbClr val="38BDF8"/>
                </a:solidFill>
              </a:defRPr>
            </a:lvl5pPr>
            <a:lvl6pPr algn="r">
              <a:defRPr sz="1425" b="1">
                <a:solidFill>
                  <a:srgbClr val="38BDF8"/>
                </a:solidFill>
              </a:defRPr>
            </a:lvl6pPr>
            <a:lvl7pPr algn="r">
              <a:defRPr sz="1425" b="1">
                <a:solidFill>
                  <a:srgbClr val="38BDF8"/>
                </a:solidFill>
              </a:defRPr>
            </a:lvl7pPr>
            <a:lvl8pPr algn="r">
              <a:defRPr sz="1425" b="1">
                <a:solidFill>
                  <a:srgbClr val="38BDF8"/>
                </a:solidFill>
              </a:defRPr>
            </a:lvl8pPr>
            <a:lvl9pPr algn="r">
              <a:defRPr sz="1425" b="1">
                <a:solidFill>
                  <a:srgbClr val="38BDF8"/>
                </a:solidFill>
              </a:defRPr>
            </a:lvl9pPr>
          </a:lstStyle>
          <a:p>
            <a:pPr algn="r" rtl="1">
              <a:defRPr sz="1425" b="1">
                <a:solidFill>
                  <a:srgbClr val="38BDF8"/>
                </a:solidFill>
              </a:defRPr>
            </a:pPr>
            <a:r>
              <a:rPr sz="1425" b="1" lang="fa-IR">
                <a:solidFill>
                  <a:srgbClr val="38BDF8"/>
                </a:solidFill>
              </a:rPr>
              <a:t>۴. چرا روش بهتری می‌خواهیم؟</a:t>
            </a:r>
          </a:p>
        </p:txBody>
      </p:sp>
      <p:sp>
        <p:nvSpPr>
          <p:cNvPr id="15" name="">
            <a:extLst>
              <a:ext uri="{FF2B5EF4-FFF2-40B4-BE49-F238E27FC236}">
                <ns2:creationId id="{3CC4826A-BFCF-4567-93DE-94AF1352D5A6}"/>
              </a:ext>
            </a:extLst>
          </p:cNvPr>
          <p:cNvSpPr>
            <a:spLocks noGrp="1"/>
          </p:cNvSpPr>
          <p:nvPr/>
        </p:nvSpPr>
        <p:spPr>
          <a:xfrm>
            <a:off x="838200" y="2019300"/>
            <a:ext cx="2357438" cy="561975"/>
          </a:xfrm>
          <a:prstGeom prst="rect">
            <a:avLst/>
          </a:prstGeom>
          <a:noFill/>
          <a:ln w="0">
            <a:noFill/>
          </a:ln>
        </p:spPr>
        <p:txBody>
          <a:bodyPr lIns="0" tIns="0" rIns="0" bIns="0" anchor="t"/>
          <a:lstStyle>
            <a:defPPr algn="r">
              <a:defRPr sz="1275" b="0">
                <a:solidFill>
                  <a:srgbClr val="DDE1F5"/>
                </a:solidFill>
              </a:defRPr>
            </a:defPPr>
            <a:lvl1pPr algn="r">
              <a:defRPr sz="1275" b="0">
                <a:solidFill>
                  <a:srgbClr val="DDE1F5"/>
                </a:solidFill>
              </a:defRPr>
            </a:lvl1pPr>
            <a:lvl2pPr algn="r">
              <a:defRPr sz="1275" b="0">
                <a:solidFill>
                  <a:srgbClr val="DDE1F5"/>
                </a:solidFill>
              </a:defRPr>
            </a:lvl2pPr>
            <a:lvl3pPr algn="r">
              <a:defRPr sz="1275" b="0">
                <a:solidFill>
                  <a:srgbClr val="DDE1F5"/>
                </a:solidFill>
              </a:defRPr>
            </a:lvl3pPr>
            <a:lvl4pPr algn="r">
              <a:defRPr sz="1275" b="0">
                <a:solidFill>
                  <a:srgbClr val="DDE1F5"/>
                </a:solidFill>
              </a:defRPr>
            </a:lvl4pPr>
            <a:lvl5pPr algn="r">
              <a:defRPr sz="1275" b="0">
                <a:solidFill>
                  <a:srgbClr val="DDE1F5"/>
                </a:solidFill>
              </a:defRPr>
            </a:lvl5pPr>
            <a:lvl6pPr algn="r">
              <a:defRPr sz="1275" b="0">
                <a:solidFill>
                  <a:srgbClr val="DDE1F5"/>
                </a:solidFill>
              </a:defRPr>
            </a:lvl6pPr>
            <a:lvl7pPr algn="r">
              <a:defRPr sz="1275" b="0">
                <a:solidFill>
                  <a:srgbClr val="DDE1F5"/>
                </a:solidFill>
              </a:defRPr>
            </a:lvl7pPr>
            <a:lvl8pPr algn="r">
              <a:defRPr sz="1275" b="0">
                <a:solidFill>
                  <a:srgbClr val="DDE1F5"/>
                </a:solidFill>
              </a:defRPr>
            </a:lvl8pPr>
            <a:lvl9pPr algn="r">
              <a:defRPr sz="1275" b="0">
                <a:solidFill>
                  <a:srgbClr val="DDE1F5"/>
                </a:solidFill>
              </a:defRPr>
            </a:lvl9pPr>
          </a:lstStyle>
          <a:p>
            <a:pPr algn="r" rtl="1">
              <a:defRPr sz="1275" b="0">
                <a:solidFill>
                  <a:srgbClr val="DDE1F5"/>
                </a:solidFill>
              </a:defRPr>
            </a:pPr>
            <a:r>
              <a:rPr sz="1275" b="0" lang="fa-IR">
                <a:solidFill>
                  <a:srgbClr val="DDE1F5"/>
                </a:solidFill>
              </a:rPr>
              <a:t>برای n ≤ 100 این روش لزوماً کندِ غیرقابل‌قبول نیست؛ هدف، حذف جابه‌جایی‌های تکراری است.</a:t>
            </a:r>
          </a:p>
        </p:txBody>
      </p:sp>
      <p:sp>
        <p:nvSpPr>
          <p:cNvPr id="16" name="">
            <a:extLst>
              <a:ext uri="{FF2B5EF4-FFF2-40B4-BE49-F238E27FC236}">
                <ns2:creationId id="{0B06762B-307C-46CC-84CD-8960C139F752}"/>
              </a:ext>
            </a:extLst>
          </p:cNvPr>
          <p:cNvSpPr>
            <a:spLocks noGrp="1"/>
          </p:cNvSpPr>
          <p:nvPr/>
        </p:nvSpPr>
        <p:spPr>
          <a:xfrm>
            <a:off x="723900" y="2857500"/>
            <a:ext cx="10744200" cy="3238500"/>
          </a:xfrm>
          <a:prstGeom prst="rect">
            <a:avLst/>
          </a:prstGeom>
          <a:solidFill>
            <a:srgbClr val="08080F"/>
          </a:solidFill>
          <a:ln w="0">
            <a:noFill/>
          </a:ln>
        </p:spPr>
      </p:sp>
      <p:sp>
        <p:nvSpPr>
          <p:cNvPr id="17" name="">
            <a:extLst>
              <a:ext uri="{FF2B5EF4-FFF2-40B4-BE49-F238E27FC236}">
                <ns2:creationId id="{1940BA70-2C19-4440-A175-2ECDEA76235F}"/>
              </a:ext>
            </a:extLst>
          </p:cNvPr>
          <p:cNvSpPr>
            <a:spLocks noGrp="1"/>
          </p:cNvSpPr>
          <p:nvPr/>
        </p:nvSpPr>
        <p:spPr>
          <a:xfrm>
            <a:off x="857250" y="2971800"/>
            <a:ext cx="10477500" cy="3048000"/>
          </a:xfrm>
          <a:prstGeom prst="rect">
            <a:avLst/>
          </a:prstGeom>
          <a:noFill/>
          <a:ln w="0">
            <a:noFill/>
          </a:ln>
        </p:spPr>
        <p:txBody>
          <a:bodyPr lIns="0" tIns="0" rIns="0" bIns="0" anchor="t"/>
          <a:lstStyle>
            <a:defPPr algn="l">
              <a:defRPr sz="1050" b="0">
                <a:solidFill>
                  <a:srgbClr val="DDE1F5"/>
                </a:solidFill>
              </a:defRPr>
            </a:defPPr>
            <a:lvl1pPr algn="l">
              <a:defRPr sz="1050" b="0">
                <a:solidFill>
                  <a:srgbClr val="DDE1F5"/>
                </a:solidFill>
              </a:defRPr>
            </a:lvl1pPr>
            <a:lvl2pPr algn="l">
              <a:defRPr sz="1050" b="0">
                <a:solidFill>
                  <a:srgbClr val="DDE1F5"/>
                </a:solidFill>
              </a:defRPr>
            </a:lvl2pPr>
            <a:lvl3pPr algn="l">
              <a:defRPr sz="1050" b="0">
                <a:solidFill>
                  <a:srgbClr val="DDE1F5"/>
                </a:solidFill>
              </a:defRPr>
            </a:lvl3pPr>
            <a:lvl4pPr algn="l">
              <a:defRPr sz="1050" b="0">
                <a:solidFill>
                  <a:srgbClr val="DDE1F5"/>
                </a:solidFill>
              </a:defRPr>
            </a:lvl4pPr>
            <a:lvl5pPr algn="l">
              <a:defRPr sz="1050" b="0">
                <a:solidFill>
                  <a:srgbClr val="DDE1F5"/>
                </a:solidFill>
              </a:defRPr>
            </a:lvl5pPr>
            <a:lvl6pPr algn="l">
              <a:defRPr sz="1050" b="0">
                <a:solidFill>
                  <a:srgbClr val="DDE1F5"/>
                </a:solidFill>
              </a:defRPr>
            </a:lvl6pPr>
            <a:lvl7pPr algn="l">
              <a:defRPr sz="1050" b="0">
                <a:solidFill>
                  <a:srgbClr val="DDE1F5"/>
                </a:solidFill>
              </a:defRPr>
            </a:lvl7pPr>
            <a:lvl8pPr algn="l">
              <a:defRPr sz="1050" b="0">
                <a:solidFill>
                  <a:srgbClr val="DDE1F5"/>
                </a:solidFill>
              </a:defRPr>
            </a:lvl8pPr>
            <a:lvl9pPr algn="l">
              <a:defRPr sz="1050" b="0">
                <a:solidFill>
                  <a:srgbClr val="DDE1F5"/>
                </a:solidFill>
              </a:defRPr>
            </a:lvl9pPr>
          </a:lstStyle>
          <a:p>
            <a:pPr algn="l">
              <a:defRPr sz="1050" b="0">
                <a:solidFill>
                  <a:srgbClr val="DDE1F5"/>
                </a:solidFill>
              </a:defRPr>
            </a:pPr>
            <a:r>
              <a:rPr sz="1050" b="0">
                <a:solidFill>
                  <a:srgbClr val="DDE1F5"/>
                </a:solidFill>
              </a:rPr>
              <a:t>fun removeElementSlow(nums: IntArray, valueToRemove: Int): Int { // Time: O(n²), Space: O(1)</a:t>
            </a:r>
          </a:p>
          <a:p>
            <a:pPr algn="l">
              <a:defRPr sz="1050" b="0">
                <a:solidFill>
                  <a:srgbClr val="DDE1F5"/>
                </a:solidFill>
              </a:defRPr>
            </a:pPr>
            <a:r>
              <a:rPr sz="1050" b="0">
                <a:solidFill>
                  <a:srgbClr val="DDE1F5"/>
                </a:solidFill>
              </a:rPr>
              <a:t>    var validLength = nums.size // Time: O(1), Space: O(1)</a:t>
            </a:r>
          </a:p>
          <a:p>
            <a:pPr algn="l">
              <a:defRPr sz="1050" b="0">
                <a:solidFill>
                  <a:srgbClr val="DDE1F5"/>
                </a:solidFill>
              </a:defRPr>
            </a:pPr>
            <a:r>
              <a:rPr sz="1050" b="0">
                <a:solidFill>
                  <a:srgbClr val="DDE1F5"/>
                </a:solidFill>
              </a:rPr>
              <a:t>    var readIndex = 0 // Time: O(1), Space: O(1)</a:t>
            </a:r>
          </a:p>
          <a:p>
            <a:pPr algn="l">
              <a:defRPr sz="1050" b="0">
                <a:solidFill>
                  <a:srgbClr val="DDE1F5"/>
                </a:solidFill>
              </a:defRPr>
            </a:pPr>
            <a:r>
              <a:rPr sz="1050" b="0">
                <a:solidFill>
                  <a:srgbClr val="DDE1F5"/>
                </a:solidFill>
              </a:rPr>
              <a:t>    while (readIndex &lt; validLength) { // Time: O(n) iterations, Space: O(1)</a:t>
            </a:r>
          </a:p>
          <a:p>
            <a:pPr algn="l">
              <a:defRPr sz="1050" b="0">
                <a:solidFill>
                  <a:srgbClr val="DDE1F5"/>
                </a:solidFill>
              </a:defRPr>
            </a:pPr>
            <a:r>
              <a:rPr sz="1050" b="0">
                <a:solidFill>
                  <a:srgbClr val="DDE1F5"/>
                </a:solidFill>
              </a:rPr>
              <a:t>        if (nums[readIndex] == valueToRemove) { // Time: O(1), Space: O(1)</a:t>
            </a:r>
          </a:p>
          <a:p>
            <a:pPr algn="l">
              <a:defRPr sz="1050" b="0">
                <a:solidFill>
                  <a:srgbClr val="DDE1F5"/>
                </a:solidFill>
              </a:defRPr>
            </a:pPr>
            <a:r>
              <a:rPr sz="1050" b="0">
                <a:solidFill>
                  <a:srgbClr val="DDE1F5"/>
                </a:solidFill>
              </a:rPr>
              <a:t>            for (shiftIndex in readIndex until validLength - 1) { // Time: O(n) per deletion, Space: O(1)</a:t>
            </a:r>
          </a:p>
          <a:p>
            <a:pPr algn="l">
              <a:defRPr sz="1050" b="0">
                <a:solidFill>
                  <a:srgbClr val="DDE1F5"/>
                </a:solidFill>
              </a:defRPr>
            </a:pPr>
            <a:r>
              <a:rPr sz="1050" b="0">
                <a:solidFill>
                  <a:srgbClr val="DDE1F5"/>
                </a:solidFill>
              </a:rPr>
              <a:t>                nums[shiftIndex] = nums[shiftIndex + 1] // Time: O(1), Space: O(1)</a:t>
            </a:r>
          </a:p>
          <a:p>
            <a:pPr algn="l">
              <a:defRPr sz="1050" b="0">
                <a:solidFill>
                  <a:srgbClr val="DDE1F5"/>
                </a:solidFill>
              </a:defRPr>
            </a:pPr>
            <a:r>
              <a:rPr sz="1050" b="0">
                <a:solidFill>
                  <a:srgbClr val="DDE1F5"/>
                </a:solidFill>
              </a:rPr>
              <a:t>            } // End shift</a:t>
            </a:r>
          </a:p>
          <a:p>
            <a:pPr algn="l">
              <a:defRPr sz="1050" b="0">
                <a:solidFill>
                  <a:srgbClr val="DDE1F5"/>
                </a:solidFill>
              </a:defRPr>
            </a:pPr>
            <a:r>
              <a:rPr sz="1050" b="0">
                <a:solidFill>
                  <a:srgbClr val="DDE1F5"/>
                </a:solidFill>
              </a:rPr>
              <a:t>            validLength-- // Time: O(1), Space: O(1)</a:t>
            </a:r>
          </a:p>
          <a:p>
            <a:pPr algn="l">
              <a:defRPr sz="1050" b="0">
                <a:solidFill>
                  <a:srgbClr val="DDE1F5"/>
                </a:solidFill>
              </a:defRPr>
            </a:pPr>
            <a:r>
              <a:rPr sz="1050" b="0">
                <a:solidFill>
                  <a:srgbClr val="DDE1F5"/>
                </a:solidFill>
              </a:rPr>
              <a:t>        } else { // Time: O(1), Space: O(1)</a:t>
            </a:r>
          </a:p>
          <a:p>
            <a:pPr algn="l">
              <a:defRPr sz="1050" b="0">
                <a:solidFill>
                  <a:srgbClr val="DDE1F5"/>
                </a:solidFill>
              </a:defRPr>
            </a:pPr>
            <a:r>
              <a:rPr sz="1050" b="0">
                <a:solidFill>
                  <a:srgbClr val="DDE1F5"/>
                </a:solidFill>
              </a:rPr>
              <a:t>            readIndex++ // Time: O(1), Space: O(1)</a:t>
            </a:r>
          </a:p>
          <a:p>
            <a:pPr algn="l">
              <a:defRPr sz="1050" b="0">
                <a:solidFill>
                  <a:srgbClr val="DDE1F5"/>
                </a:solidFill>
              </a:defRPr>
            </a:pPr>
            <a:r>
              <a:rPr sz="1050" b="0">
                <a:solidFill>
                  <a:srgbClr val="DDE1F5"/>
                </a:solidFill>
              </a:rPr>
              <a:t>        } // End decision</a:t>
            </a:r>
          </a:p>
          <a:p>
            <a:pPr algn="l">
              <a:defRPr sz="1050" b="0">
                <a:solidFill>
                  <a:srgbClr val="DDE1F5"/>
                </a:solidFill>
              </a:defRPr>
            </a:pPr>
            <a:r>
              <a:rPr sz="1050" b="0">
                <a:solidFill>
                  <a:srgbClr val="DDE1F5"/>
                </a:solidFill>
              </a:rPr>
              <a:t>    } // End scan</a:t>
            </a:r>
          </a:p>
          <a:p>
            <a:pPr algn="l">
              <a:defRPr sz="1050" b="0">
                <a:solidFill>
                  <a:srgbClr val="DDE1F5"/>
                </a:solidFill>
              </a:defRPr>
            </a:pPr>
            <a:r>
              <a:rPr sz="1050" b="0">
                <a:solidFill>
                  <a:srgbClr val="DDE1F5"/>
                </a:solidFill>
              </a:rPr>
              <a:t>    return validLength // Time: O(1), Space: O(1)</a:t>
            </a:r>
          </a:p>
          <a:p>
            <a:pPr algn="l">
              <a:defRPr sz="1050" b="0">
                <a:solidFill>
                  <a:srgbClr val="DDE1F5"/>
                </a:solidFill>
              </a:defRPr>
            </a:pPr>
            <a:r>
              <a:rPr sz="1050" b="0">
                <a:solidFill>
                  <a:srgbClr val="DDE1F5"/>
                </a:solidFill>
              </a:rPr>
              <a:t>} // End function</a:t>
            </a:r>
          </a:p>
          <a:p>
            <a:pPr algn="l">
              <a:defRPr sz="1050" b="0">
                <a:solidFill>
                  <a:srgbClr val="DDE1F5"/>
                </a:solidFill>
              </a:defRPr>
            </a:pPr>
            <a:r>
              <a:rPr sz="1050" b="0">
                <a:solidFill>
                  <a:srgbClr val="DDE1F5"/>
                </a:solidFill>
              </a:rPr>
              <a:t>// Overall Time: O(n²) | Auxiliary Space: O(1) | Overall Space: O(1)</a:t>
            </a:r>
          </a:p>
        </p:txBody>
      </p:sp>
      <p:sp>
        <p:nvSpPr>
          <p:cNvPr id="18" name="">
            <a:extLst>
              <a:ext uri="{FF2B5EF4-FFF2-40B4-BE49-F238E27FC236}">
                <ns2:creationId id="{6B727403-EDBC-4D9C-8B54-24B9C8F93370}"/>
              </a:ext>
            </a:extLst>
          </p:cNvPr>
          <p:cNvSpPr>
            <a:spLocks noGrp="1"/>
          </p:cNvSpPr>
          <p:nvPr/>
        </p:nvSpPr>
        <p:spPr>
          <a:xfrm>
            <a:off x="723900" y="6496050"/>
            <a:ext cx="10744200" cy="209550"/>
          </a:xfrm>
          <a:prstGeom prst="rect">
            <a:avLst/>
          </a:prstGeom>
          <a:noFill/>
          <a:ln w="0">
            <a:noFill/>
          </a:ln>
        </p:spPr>
        <p:txBody>
          <a:bodyPr lIns="0" tIns="0" rIns="0" bIns="0" anchor="t"/>
          <a:lstStyle>
            <a:defPPr algn="r">
              <a:defRPr sz="975" b="0">
                <a:solidFill>
                  <a:srgbClr val="969EB4"/>
                </a:solidFill>
              </a:defRPr>
            </a:defPPr>
            <a:lvl1pPr algn="r">
              <a:defRPr sz="975" b="0">
                <a:solidFill>
                  <a:srgbClr val="969EB4"/>
                </a:solidFill>
              </a:defRPr>
            </a:lvl1pPr>
            <a:lvl2pPr algn="r">
              <a:defRPr sz="975" b="0">
                <a:solidFill>
                  <a:srgbClr val="969EB4"/>
                </a:solidFill>
              </a:defRPr>
            </a:lvl2pPr>
            <a:lvl3pPr algn="r">
              <a:defRPr sz="975" b="0">
                <a:solidFill>
                  <a:srgbClr val="969EB4"/>
                </a:solidFill>
              </a:defRPr>
            </a:lvl3pPr>
            <a:lvl4pPr algn="r">
              <a:defRPr sz="975" b="0">
                <a:solidFill>
                  <a:srgbClr val="969EB4"/>
                </a:solidFill>
              </a:defRPr>
            </a:lvl4pPr>
            <a:lvl5pPr algn="r">
              <a:defRPr sz="975" b="0">
                <a:solidFill>
                  <a:srgbClr val="969EB4"/>
                </a:solidFill>
              </a:defRPr>
            </a:lvl5pPr>
            <a:lvl6pPr algn="r">
              <a:defRPr sz="975" b="0">
                <a:solidFill>
                  <a:srgbClr val="969EB4"/>
                </a:solidFill>
              </a:defRPr>
            </a:lvl6pPr>
            <a:lvl7pPr algn="r">
              <a:defRPr sz="975" b="0">
                <a:solidFill>
                  <a:srgbClr val="969EB4"/>
                </a:solidFill>
              </a:defRPr>
            </a:lvl7pPr>
            <a:lvl8pPr algn="r">
              <a:defRPr sz="975" b="0">
                <a:solidFill>
                  <a:srgbClr val="969EB4"/>
                </a:solidFill>
              </a:defRPr>
            </a:lvl8pPr>
            <a:lvl9pPr algn="r">
              <a:defRPr sz="975" b="0">
                <a:solidFill>
                  <a:srgbClr val="969EB4"/>
                </a:solidFill>
              </a:defRPr>
            </a:lvl9pPr>
          </a:lstStyle>
          <a:p>
            <a:pPr algn="r">
              <a:defRPr sz="975" b="0">
                <a:solidFill>
                  <a:srgbClr val="969EB4"/>
                </a:solidFill>
              </a:defRPr>
            </a:pPr>
            <a:r>
              <a:rPr sz="975" b="0">
                <a:solidFill>
                  <a:srgbClr val="969EB4"/>
                </a:solidFill>
              </a:rPr>
              <a:t>29 / 57</a:t>
            </a:r>
          </a:p>
        </p:txBody>
      </p:sp>
    </p:spTree>
    <p:extLst>
      <p:ext uri="{BB962C8B-B14F-4D97-AF65-F5344CB8AC3E}">
        <ns3:creationId val="45143670"/>
      </p:ext>
    </p:extLst>
  </p:cSld>
</p:sld>
</file>

<file path=ppt/slides/slide5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0D0D1A"/>
        </a:solidFill>
      </p:bgPr>
    </p:bg>
    <p:spTree>
      <p:nvGrpSpPr>
        <p:cNvPr id="1" name=""/>
        <p:cNvGrpSpPr/>
        <p:nvPr/>
      </p:nvGrpSpPr>
      <p:grpSpPr>
        <a:xfrm/>
      </p:grpSpPr>
      <p:sp>
        <p:nvSpPr>
          <p:cNvPr id="16" name="">
            <a:extLst>
              <a:ext uri="{FF2B5EF4-FFF2-40B4-BE49-F238E27FC236}">
                <ns2:creationId id="{21665F06-A326-4D4A-8C93-679B07C56058}"/>
              </a:ext>
            </a:extLst>
          </p:cNvPr>
          <p:cNvSpPr>
            <a:spLocks noGrp="1"/>
          </p:cNvSpPr>
          <p:nvPr/>
        </p:nvSpPr>
        <p:spPr>
          <a:xfrm>
            <a:off x="0" y="0"/>
            <a:ext cx="12192000" cy="47625"/>
          </a:xfrm>
          <a:prstGeom prst="rect">
            <a:avLst/>
          </a:prstGeom>
          <a:solidFill>
            <a:srgbClr val="4ECCA3"/>
          </a:solidFill>
          <a:ln w="0">
            <a:noFill/>
          </a:ln>
        </p:spPr>
      </p:sp>
      <p:sp>
        <p:nvSpPr>
          <p:cNvPr id="2" name="">
            <a:extLst>
              <a:ext uri="{FF2B5EF4-FFF2-40B4-BE49-F238E27FC236}">
                <ns2:creationId id="{CA494821-AA34-4BDD-B4EB-E88DFA2BB536}"/>
              </a:ext>
            </a:extLst>
          </p:cNvPr>
          <p:cNvSpPr>
            <a:spLocks noGrp="1"/>
          </p:cNvSpPr>
          <p:nvPr/>
        </p:nvSpPr>
        <p:spPr>
          <a:xfrm>
            <a:off x="723900" y="266700"/>
            <a:ext cx="10744200" cy="495300"/>
          </a:xfrm>
          <a:prstGeom prst="rect">
            <a:avLst/>
          </a:prstGeom>
          <a:noFill/>
          <a:ln w="0">
            <a:noFill/>
          </a:ln>
        </p:spPr>
        <p:txBody>
          <a:bodyPr lIns="0" tIns="0" rIns="0" bIns="0" anchor="t"/>
          <a:lstStyle>
            <a:defPPr algn="r">
              <a:defRPr sz="2175" b="1">
                <a:solidFill>
                  <a:srgbClr val="4ECCA3"/>
                </a:solidFill>
              </a:defRPr>
            </a:defPPr>
            <a:lvl1pPr algn="r">
              <a:defRPr sz="2175" b="1">
                <a:solidFill>
                  <a:srgbClr val="4ECCA3"/>
                </a:solidFill>
              </a:defRPr>
            </a:lvl1pPr>
            <a:lvl2pPr algn="r">
              <a:defRPr sz="2175" b="1">
                <a:solidFill>
                  <a:srgbClr val="4ECCA3"/>
                </a:solidFill>
              </a:defRPr>
            </a:lvl2pPr>
            <a:lvl3pPr algn="r">
              <a:defRPr sz="2175" b="1">
                <a:solidFill>
                  <a:srgbClr val="4ECCA3"/>
                </a:solidFill>
              </a:defRPr>
            </a:lvl3pPr>
            <a:lvl4pPr algn="r">
              <a:defRPr sz="2175" b="1">
                <a:solidFill>
                  <a:srgbClr val="4ECCA3"/>
                </a:solidFill>
              </a:defRPr>
            </a:lvl4pPr>
            <a:lvl5pPr algn="r">
              <a:defRPr sz="2175" b="1">
                <a:solidFill>
                  <a:srgbClr val="4ECCA3"/>
                </a:solidFill>
              </a:defRPr>
            </a:lvl5pPr>
            <a:lvl6pPr algn="r">
              <a:defRPr sz="2175" b="1">
                <a:solidFill>
                  <a:srgbClr val="4ECCA3"/>
                </a:solidFill>
              </a:defRPr>
            </a:lvl6pPr>
            <a:lvl7pPr algn="r">
              <a:defRPr sz="2175" b="1">
                <a:solidFill>
                  <a:srgbClr val="4ECCA3"/>
                </a:solidFill>
              </a:defRPr>
            </a:lvl7pPr>
            <a:lvl8pPr algn="r">
              <a:defRPr sz="2175" b="1">
                <a:solidFill>
                  <a:srgbClr val="4ECCA3"/>
                </a:solidFill>
              </a:defRPr>
            </a:lvl8pPr>
            <a:lvl9pPr algn="r">
              <a:defRPr sz="2175" b="1">
                <a:solidFill>
                  <a:srgbClr val="4ECCA3"/>
                </a:solidFill>
              </a:defRPr>
            </a:lvl9pPr>
          </a:lstStyle>
          <a:p>
            <a:pPr algn="r" rtl="1">
              <a:defRPr sz="2175" b="1">
                <a:solidFill>
                  <a:srgbClr val="4ECCA3"/>
                </a:solidFill>
              </a:defRPr>
            </a:pPr>
            <a:r>
              <a:rPr sz="2175" b="1" lang="fa-IR">
                <a:solidFill>
                  <a:srgbClr val="4ECCA3"/>
                </a:solidFill>
              </a:rPr>
              <a:t>روی کاغذ: یکی بخواند، یکی جای نوشتن را نگه دارد</a:t>
            </a:r>
          </a:p>
        </p:txBody>
      </p:sp>
      <p:sp>
        <p:nvSpPr>
          <p:cNvPr id="3" name="">
            <a:extLst>
              <a:ext uri="{FF2B5EF4-FFF2-40B4-BE49-F238E27FC236}">
                <ns2:creationId id="{FE577A75-D06C-4841-9581-B75E0D5CF175}"/>
              </a:ext>
            </a:extLst>
          </p:cNvPr>
          <p:cNvSpPr>
            <a:spLocks noGrp="1"/>
          </p:cNvSpPr>
          <p:nvPr/>
        </p:nvSpPr>
        <p:spPr>
          <a:xfrm>
            <a:off x="723900" y="838200"/>
            <a:ext cx="10744200" cy="619125"/>
          </a:xfrm>
          <a:prstGeom prst="rect">
            <a:avLst/>
          </a:prstGeom>
          <a:noFill/>
          <a:ln w="0">
            <a:noFill/>
          </a:ln>
        </p:spPr>
        <p:txBody>
          <a:bodyPr lIns="0" tIns="0" rIns="0" bIns="0" anchor="t"/>
          <a:lstStyle>
            <a:defPPr algn="r">
              <a:defRPr sz="1425" b="0">
                <a:solidFill>
                  <a:srgbClr val="969EB4"/>
                </a:solidFill>
              </a:defRPr>
            </a:defPPr>
            <a:lvl1pPr algn="r">
              <a:defRPr sz="1425" b="0">
                <a:solidFill>
                  <a:srgbClr val="969EB4"/>
                </a:solidFill>
              </a:defRPr>
            </a:lvl1pPr>
            <a:lvl2pPr algn="r">
              <a:defRPr sz="1425" b="0">
                <a:solidFill>
                  <a:srgbClr val="969EB4"/>
                </a:solidFill>
              </a:defRPr>
            </a:lvl2pPr>
            <a:lvl3pPr algn="r">
              <a:defRPr sz="1425" b="0">
                <a:solidFill>
                  <a:srgbClr val="969EB4"/>
                </a:solidFill>
              </a:defRPr>
            </a:lvl3pPr>
            <a:lvl4pPr algn="r">
              <a:defRPr sz="1425" b="0">
                <a:solidFill>
                  <a:srgbClr val="969EB4"/>
                </a:solidFill>
              </a:defRPr>
            </a:lvl4pPr>
            <a:lvl5pPr algn="r">
              <a:defRPr sz="1425" b="0">
                <a:solidFill>
                  <a:srgbClr val="969EB4"/>
                </a:solidFill>
              </a:defRPr>
            </a:lvl5pPr>
            <a:lvl6pPr algn="r">
              <a:defRPr sz="1425" b="0">
                <a:solidFill>
                  <a:srgbClr val="969EB4"/>
                </a:solidFill>
              </a:defRPr>
            </a:lvl6pPr>
            <a:lvl7pPr algn="r">
              <a:defRPr sz="1425" b="0">
                <a:solidFill>
                  <a:srgbClr val="969EB4"/>
                </a:solidFill>
              </a:defRPr>
            </a:lvl7pPr>
            <a:lvl8pPr algn="r">
              <a:defRPr sz="1425" b="0">
                <a:solidFill>
                  <a:srgbClr val="969EB4"/>
                </a:solidFill>
              </a:defRPr>
            </a:lvl8pPr>
            <a:lvl9pPr algn="r">
              <a:defRPr sz="1425" b="0">
                <a:solidFill>
                  <a:srgbClr val="969EB4"/>
                </a:solidFill>
              </a:defRPr>
            </a:lvl9pPr>
          </a:lstStyle>
          <a:p>
            <a:pPr algn="r" rtl="1">
              <a:defRPr sz="1425" b="0">
                <a:solidFill>
                  <a:srgbClr val="969EB4"/>
                </a:solidFill>
              </a:defRPr>
            </a:pPr>
            <a:r>
              <a:rPr sz="1425" b="0" lang="fa-IR">
                <a:solidFill>
                  <a:srgbClr val="969EB4"/>
                </a:solidFill>
              </a:rPr>
              <a:t>nums = ‪[3, 2, 2, 3]‬ | val = 3 | هر دو نشانگر از اندیس صفر شروع می‌کنند.</a:t>
            </a:r>
          </a:p>
        </p:txBody>
      </p:sp>
      <p:sp>
        <p:nvSpPr>
          <p:cNvPr id="4" name="">
            <a:extLst>
              <a:ext uri="{FF2B5EF4-FFF2-40B4-BE49-F238E27FC236}">
                <ns2:creationId id="{156FA98C-1855-4E27-8FAA-6C6BA7483041}"/>
              </a:ext>
            </a:extLst>
          </p:cNvPr>
          <p:cNvSpPr>
            <a:spLocks noGrp="1"/>
          </p:cNvSpPr>
          <p:nvPr/>
        </p:nvSpPr>
        <p:spPr>
          <a:xfrm>
            <a:off x="6162675" y="1466850"/>
            <a:ext cx="5305425" cy="1114425"/>
          </a:xfrm>
          <a:prstGeom prst="rect">
            <a:avLst/>
          </a:prstGeom>
          <a:solidFill>
            <a:srgbClr val="141428"/>
          </a:solidFill>
          <a:ln w="9525">
            <a:solidFill>
              <a:srgbClr val="7C8FF5"/>
            </a:solidFill>
          </a:ln>
        </p:spPr>
      </p:sp>
      <p:sp>
        <p:nvSpPr>
          <p:cNvPr id="5" name="">
            <a:extLst>
              <a:ext uri="{FF2B5EF4-FFF2-40B4-BE49-F238E27FC236}">
                <ns2:creationId id="{EF0FBA06-FDA1-4CAC-9917-079169BF75E4}"/>
              </a:ext>
            </a:extLst>
          </p:cNvPr>
          <p:cNvSpPr>
            <a:spLocks noGrp="1"/>
          </p:cNvSpPr>
          <p:nvPr/>
        </p:nvSpPr>
        <p:spPr>
          <a:xfrm>
            <a:off x="6276975" y="1581150"/>
            <a:ext cx="5076825" cy="400050"/>
          </a:xfrm>
          <a:prstGeom prst="rect">
            <a:avLst/>
          </a:prstGeom>
          <a:noFill/>
          <a:ln w="0">
            <a:noFill/>
          </a:ln>
        </p:spPr>
        <p:txBody>
          <a:bodyPr lIns="0" tIns="0" rIns="0" bIns="0" anchor="t"/>
          <a:lstStyle>
            <a:defPPr algn="r">
              <a:defRPr sz="1425" b="1">
                <a:solidFill>
                  <a:srgbClr val="7C8FF5"/>
                </a:solidFill>
              </a:defRPr>
            </a:defPPr>
            <a:lvl1pPr algn="r">
              <a:defRPr sz="1425" b="1">
                <a:solidFill>
                  <a:srgbClr val="7C8FF5"/>
                </a:solidFill>
              </a:defRPr>
            </a:lvl1pPr>
            <a:lvl2pPr algn="r">
              <a:defRPr sz="1425" b="1">
                <a:solidFill>
                  <a:srgbClr val="7C8FF5"/>
                </a:solidFill>
              </a:defRPr>
            </a:lvl2pPr>
            <a:lvl3pPr algn="r">
              <a:defRPr sz="1425" b="1">
                <a:solidFill>
                  <a:srgbClr val="7C8FF5"/>
                </a:solidFill>
              </a:defRPr>
            </a:lvl3pPr>
            <a:lvl4pPr algn="r">
              <a:defRPr sz="1425" b="1">
                <a:solidFill>
                  <a:srgbClr val="7C8FF5"/>
                </a:solidFill>
              </a:defRPr>
            </a:lvl4pPr>
            <a:lvl5pPr algn="r">
              <a:defRPr sz="1425" b="1">
                <a:solidFill>
                  <a:srgbClr val="7C8FF5"/>
                </a:solidFill>
              </a:defRPr>
            </a:lvl5pPr>
            <a:lvl6pPr algn="r">
              <a:defRPr sz="1425" b="1">
                <a:solidFill>
                  <a:srgbClr val="7C8FF5"/>
                </a:solidFill>
              </a:defRPr>
            </a:lvl6pPr>
            <a:lvl7pPr algn="r">
              <a:defRPr sz="1425" b="1">
                <a:solidFill>
                  <a:srgbClr val="7C8FF5"/>
                </a:solidFill>
              </a:defRPr>
            </a:lvl7pPr>
            <a:lvl8pPr algn="r">
              <a:defRPr sz="1425" b="1">
                <a:solidFill>
                  <a:srgbClr val="7C8FF5"/>
                </a:solidFill>
              </a:defRPr>
            </a:lvl8pPr>
            <a:lvl9pPr algn="r">
              <a:defRPr sz="1425" b="1">
                <a:solidFill>
                  <a:srgbClr val="7C8FF5"/>
                </a:solidFill>
              </a:defRPr>
            </a:lvl9pPr>
          </a:lstStyle>
          <a:p>
            <a:pPr algn="r" rtl="1">
              <a:defRPr sz="1425" b="1">
                <a:solidFill>
                  <a:srgbClr val="7C8FF5"/>
                </a:solidFill>
              </a:defRPr>
            </a:pPr>
            <a:r>
              <a:rPr sz="1425" b="1" lang="fa-IR">
                <a:solidFill>
                  <a:srgbClr val="7C8FF5"/>
                </a:solidFill>
              </a:rPr>
              <a:t>نشانگر خواندن: readIndex</a:t>
            </a:r>
          </a:p>
        </p:txBody>
      </p:sp>
      <p:sp>
        <p:nvSpPr>
          <p:cNvPr id="6" name="">
            <a:extLst>
              <a:ext uri="{FF2B5EF4-FFF2-40B4-BE49-F238E27FC236}">
                <ns2:creationId id="{89E29A94-64DE-4C8D-BFD3-62475B214907}"/>
              </a:ext>
            </a:extLst>
          </p:cNvPr>
          <p:cNvSpPr>
            <a:spLocks noGrp="1"/>
          </p:cNvSpPr>
          <p:nvPr/>
        </p:nvSpPr>
        <p:spPr>
          <a:xfrm>
            <a:off x="6276975" y="2019300"/>
            <a:ext cx="5076825" cy="485775"/>
          </a:xfrm>
          <a:prstGeom prst="rect">
            <a:avLst/>
          </a:prstGeom>
          <a:noFill/>
          <a:ln w="0">
            <a:noFill/>
          </a:ln>
        </p:spPr>
        <p:txBody>
          <a:bodyPr lIns="0" tIns="0" rIns="0" bIns="0" anchor="t"/>
          <a:lstStyle>
            <a:defPPr algn="r">
              <a:defRPr sz="1275" b="0">
                <a:solidFill>
                  <a:srgbClr val="DDE1F5"/>
                </a:solidFill>
              </a:defRPr>
            </a:defPPr>
            <a:lvl1pPr algn="r">
              <a:defRPr sz="1275" b="0">
                <a:solidFill>
                  <a:srgbClr val="DDE1F5"/>
                </a:solidFill>
              </a:defRPr>
            </a:lvl1pPr>
            <a:lvl2pPr algn="r">
              <a:defRPr sz="1275" b="0">
                <a:solidFill>
                  <a:srgbClr val="DDE1F5"/>
                </a:solidFill>
              </a:defRPr>
            </a:lvl2pPr>
            <a:lvl3pPr algn="r">
              <a:defRPr sz="1275" b="0">
                <a:solidFill>
                  <a:srgbClr val="DDE1F5"/>
                </a:solidFill>
              </a:defRPr>
            </a:lvl3pPr>
            <a:lvl4pPr algn="r">
              <a:defRPr sz="1275" b="0">
                <a:solidFill>
                  <a:srgbClr val="DDE1F5"/>
                </a:solidFill>
              </a:defRPr>
            </a:lvl4pPr>
            <a:lvl5pPr algn="r">
              <a:defRPr sz="1275" b="0">
                <a:solidFill>
                  <a:srgbClr val="DDE1F5"/>
                </a:solidFill>
              </a:defRPr>
            </a:lvl5pPr>
            <a:lvl6pPr algn="r">
              <a:defRPr sz="1275" b="0">
                <a:solidFill>
                  <a:srgbClr val="DDE1F5"/>
                </a:solidFill>
              </a:defRPr>
            </a:lvl6pPr>
            <a:lvl7pPr algn="r">
              <a:defRPr sz="1275" b="0">
                <a:solidFill>
                  <a:srgbClr val="DDE1F5"/>
                </a:solidFill>
              </a:defRPr>
            </a:lvl7pPr>
            <a:lvl8pPr algn="r">
              <a:defRPr sz="1275" b="0">
                <a:solidFill>
                  <a:srgbClr val="DDE1F5"/>
                </a:solidFill>
              </a:defRPr>
            </a:lvl8pPr>
            <a:lvl9pPr algn="r">
              <a:defRPr sz="1275" b="0">
                <a:solidFill>
                  <a:srgbClr val="DDE1F5"/>
                </a:solidFill>
              </a:defRPr>
            </a:lvl9pPr>
          </a:lstStyle>
          <a:p>
            <a:pPr algn="r" rtl="1">
              <a:defRPr sz="1275" b="0">
                <a:solidFill>
                  <a:srgbClr val="DDE1F5"/>
                </a:solidFill>
              </a:defRPr>
            </a:pPr>
            <a:r>
              <a:rPr sz="1275" b="0" lang="fa-IR">
                <a:solidFill>
                  <a:srgbClr val="DDE1F5"/>
                </a:solidFill>
              </a:rPr>
              <a:t>هر بار به خانهٔ بعدی می‌رود؛ همهٔ عددها را می‌بیند.</a:t>
            </a:r>
          </a:p>
        </p:txBody>
      </p:sp>
      <p:sp>
        <p:nvSpPr>
          <p:cNvPr id="7" name="">
            <a:extLst>
              <a:ext uri="{FF2B5EF4-FFF2-40B4-BE49-F238E27FC236}">
                <ns2:creationId id="{513E16D6-40A6-4E42-88A0-418D4FD56383}"/>
              </a:ext>
            </a:extLst>
          </p:cNvPr>
          <p:cNvSpPr>
            <a:spLocks noGrp="1"/>
          </p:cNvSpPr>
          <p:nvPr/>
        </p:nvSpPr>
        <p:spPr>
          <a:xfrm>
            <a:off x="723900" y="1466850"/>
            <a:ext cx="5305425" cy="1114425"/>
          </a:xfrm>
          <a:prstGeom prst="rect">
            <a:avLst/>
          </a:prstGeom>
          <a:solidFill>
            <a:srgbClr val="141428"/>
          </a:solidFill>
          <a:ln w="9525">
            <a:solidFill>
              <a:srgbClr val="4ECCA3"/>
            </a:solidFill>
          </a:ln>
        </p:spPr>
      </p:sp>
      <p:sp>
        <p:nvSpPr>
          <p:cNvPr id="8" name="">
            <a:extLst>
              <a:ext uri="{FF2B5EF4-FFF2-40B4-BE49-F238E27FC236}">
                <ns2:creationId id="{ECB335DF-C0DD-489C-82CE-99145838BC54}"/>
              </a:ext>
            </a:extLst>
          </p:cNvPr>
          <p:cNvSpPr>
            <a:spLocks noGrp="1"/>
          </p:cNvSpPr>
          <p:nvPr/>
        </p:nvSpPr>
        <p:spPr>
          <a:xfrm>
            <a:off x="838200" y="1581150"/>
            <a:ext cx="5076825" cy="400050"/>
          </a:xfrm>
          <a:prstGeom prst="rect">
            <a:avLst/>
          </a:prstGeom>
          <a:noFill/>
          <a:ln w="0">
            <a:noFill/>
          </a:ln>
        </p:spPr>
        <p:txBody>
          <a:bodyPr lIns="0" tIns="0" rIns="0" bIns="0" anchor="t"/>
          <a:lstStyle>
            <a:defPPr algn="r">
              <a:defRPr sz="1425" b="1">
                <a:solidFill>
                  <a:srgbClr val="4ECCA3"/>
                </a:solidFill>
              </a:defRPr>
            </a:defPPr>
            <a:lvl1pPr algn="r">
              <a:defRPr sz="1425" b="1">
                <a:solidFill>
                  <a:srgbClr val="4ECCA3"/>
                </a:solidFill>
              </a:defRPr>
            </a:lvl1pPr>
            <a:lvl2pPr algn="r">
              <a:defRPr sz="1425" b="1">
                <a:solidFill>
                  <a:srgbClr val="4ECCA3"/>
                </a:solidFill>
              </a:defRPr>
            </a:lvl2pPr>
            <a:lvl3pPr algn="r">
              <a:defRPr sz="1425" b="1">
                <a:solidFill>
                  <a:srgbClr val="4ECCA3"/>
                </a:solidFill>
              </a:defRPr>
            </a:lvl3pPr>
            <a:lvl4pPr algn="r">
              <a:defRPr sz="1425" b="1">
                <a:solidFill>
                  <a:srgbClr val="4ECCA3"/>
                </a:solidFill>
              </a:defRPr>
            </a:lvl4pPr>
            <a:lvl5pPr algn="r">
              <a:defRPr sz="1425" b="1">
                <a:solidFill>
                  <a:srgbClr val="4ECCA3"/>
                </a:solidFill>
              </a:defRPr>
            </a:lvl5pPr>
            <a:lvl6pPr algn="r">
              <a:defRPr sz="1425" b="1">
                <a:solidFill>
                  <a:srgbClr val="4ECCA3"/>
                </a:solidFill>
              </a:defRPr>
            </a:lvl6pPr>
            <a:lvl7pPr algn="r">
              <a:defRPr sz="1425" b="1">
                <a:solidFill>
                  <a:srgbClr val="4ECCA3"/>
                </a:solidFill>
              </a:defRPr>
            </a:lvl7pPr>
            <a:lvl8pPr algn="r">
              <a:defRPr sz="1425" b="1">
                <a:solidFill>
                  <a:srgbClr val="4ECCA3"/>
                </a:solidFill>
              </a:defRPr>
            </a:lvl8pPr>
            <a:lvl9pPr algn="r">
              <a:defRPr sz="1425" b="1">
                <a:solidFill>
                  <a:srgbClr val="4ECCA3"/>
                </a:solidFill>
              </a:defRPr>
            </a:lvl9pPr>
          </a:lstStyle>
          <a:p>
            <a:pPr algn="r" rtl="1">
              <a:defRPr sz="1425" b="1">
                <a:solidFill>
                  <a:srgbClr val="4ECCA3"/>
                </a:solidFill>
              </a:defRPr>
            </a:pPr>
            <a:r>
              <a:rPr sz="1425" b="1" lang="fa-IR">
                <a:solidFill>
                  <a:srgbClr val="4ECCA3"/>
                </a:solidFill>
              </a:rPr>
              <a:t>نشانگر نوشتن: writeIndex</a:t>
            </a:r>
          </a:p>
        </p:txBody>
      </p:sp>
      <p:sp>
        <p:nvSpPr>
          <p:cNvPr id="9" name="">
            <a:extLst>
              <a:ext uri="{FF2B5EF4-FFF2-40B4-BE49-F238E27FC236}">
                <ns2:creationId id="{6FF8DF8F-95FC-43C7-91AC-5B0630CAF10E}"/>
              </a:ext>
            </a:extLst>
          </p:cNvPr>
          <p:cNvSpPr>
            <a:spLocks noGrp="1"/>
          </p:cNvSpPr>
          <p:nvPr/>
        </p:nvSpPr>
        <p:spPr>
          <a:xfrm>
            <a:off x="838200" y="2019300"/>
            <a:ext cx="5076825" cy="485775"/>
          </a:xfrm>
          <a:prstGeom prst="rect">
            <a:avLst/>
          </a:prstGeom>
          <a:noFill/>
          <a:ln w="0">
            <a:noFill/>
          </a:ln>
        </p:spPr>
        <p:txBody>
          <a:bodyPr lIns="0" tIns="0" rIns="0" bIns="0" anchor="t"/>
          <a:lstStyle>
            <a:defPPr algn="r">
              <a:defRPr sz="1275" b="0">
                <a:solidFill>
                  <a:srgbClr val="DDE1F5"/>
                </a:solidFill>
              </a:defRPr>
            </a:defPPr>
            <a:lvl1pPr algn="r">
              <a:defRPr sz="1275" b="0">
                <a:solidFill>
                  <a:srgbClr val="DDE1F5"/>
                </a:solidFill>
              </a:defRPr>
            </a:lvl1pPr>
            <a:lvl2pPr algn="r">
              <a:defRPr sz="1275" b="0">
                <a:solidFill>
                  <a:srgbClr val="DDE1F5"/>
                </a:solidFill>
              </a:defRPr>
            </a:lvl2pPr>
            <a:lvl3pPr algn="r">
              <a:defRPr sz="1275" b="0">
                <a:solidFill>
                  <a:srgbClr val="DDE1F5"/>
                </a:solidFill>
              </a:defRPr>
            </a:lvl3pPr>
            <a:lvl4pPr algn="r">
              <a:defRPr sz="1275" b="0">
                <a:solidFill>
                  <a:srgbClr val="DDE1F5"/>
                </a:solidFill>
              </a:defRPr>
            </a:lvl4pPr>
            <a:lvl5pPr algn="r">
              <a:defRPr sz="1275" b="0">
                <a:solidFill>
                  <a:srgbClr val="DDE1F5"/>
                </a:solidFill>
              </a:defRPr>
            </a:lvl5pPr>
            <a:lvl6pPr algn="r">
              <a:defRPr sz="1275" b="0">
                <a:solidFill>
                  <a:srgbClr val="DDE1F5"/>
                </a:solidFill>
              </a:defRPr>
            </a:lvl6pPr>
            <a:lvl7pPr algn="r">
              <a:defRPr sz="1275" b="0">
                <a:solidFill>
                  <a:srgbClr val="DDE1F5"/>
                </a:solidFill>
              </a:defRPr>
            </a:lvl7pPr>
            <a:lvl8pPr algn="r">
              <a:defRPr sz="1275" b="0">
                <a:solidFill>
                  <a:srgbClr val="DDE1F5"/>
                </a:solidFill>
              </a:defRPr>
            </a:lvl8pPr>
            <a:lvl9pPr algn="r">
              <a:defRPr sz="1275" b="0">
                <a:solidFill>
                  <a:srgbClr val="DDE1F5"/>
                </a:solidFill>
              </a:defRPr>
            </a:lvl9pPr>
          </a:lstStyle>
          <a:p>
            <a:pPr algn="r" rtl="1">
              <a:defRPr sz="1275" b="0">
                <a:solidFill>
                  <a:srgbClr val="DDE1F5"/>
                </a:solidFill>
              </a:defRPr>
            </a:pPr>
            <a:r>
              <a:rPr sz="1275" b="0" lang="fa-IR">
                <a:solidFill>
                  <a:srgbClr val="DDE1F5"/>
                </a:solidFill>
              </a:rPr>
              <a:t>فقط با نگه داشتن یک عدد جلو می‌رود؛ هم جای نوشتن بعدی است و هم تعداد جواب‌ها.</a:t>
            </a:r>
          </a:p>
        </p:txBody>
      </p:sp>
      <p:sp>
        <p:nvSpPr>
          <p:cNvPr id="10" name="">
            <a:extLst>
              <a:ext uri="{FF2B5EF4-FFF2-40B4-BE49-F238E27FC236}">
                <ns2:creationId id="{3F5CFFB0-CD0D-4110-A36A-941EF500B80E}"/>
              </a:ext>
            </a:extLst>
          </p:cNvPr>
          <p:cNvSpPr>
            <a:spLocks noGrp="1"/>
          </p:cNvSpPr>
          <p:nvPr/>
        </p:nvSpPr>
        <p:spPr>
          <a:xfrm>
            <a:off x="857250" y="2876550"/>
            <a:ext cx="10477500" cy="514350"/>
          </a:xfrm>
          <a:prstGeom prst="rect">
            <a:avLst/>
          </a:prstGeom>
          <a:noFill/>
          <a:ln w="0">
            <a:noFill/>
          </a:ln>
        </p:spPr>
        <p:txBody>
          <a:bodyPr lIns="0" tIns="0" rIns="0" bIns="0" anchor="t"/>
          <a:lstStyle>
            <a:defPPr algn="r">
              <a:defRPr sz="1650" b="0">
                <a:solidFill>
                  <a:srgbClr val="DDE1F5"/>
                </a:solidFill>
              </a:defRPr>
            </a:defPPr>
            <a:lvl1pPr algn="r">
              <a:defRPr sz="1650" b="0">
                <a:solidFill>
                  <a:srgbClr val="DDE1F5"/>
                </a:solidFill>
              </a:defRPr>
            </a:lvl1pPr>
            <a:lvl2pPr algn="r">
              <a:defRPr sz="1650" b="0">
                <a:solidFill>
                  <a:srgbClr val="DDE1F5"/>
                </a:solidFill>
              </a:defRPr>
            </a:lvl2pPr>
            <a:lvl3pPr algn="r">
              <a:defRPr sz="1650" b="0">
                <a:solidFill>
                  <a:srgbClr val="DDE1F5"/>
                </a:solidFill>
              </a:defRPr>
            </a:lvl3pPr>
            <a:lvl4pPr algn="r">
              <a:defRPr sz="1650" b="0">
                <a:solidFill>
                  <a:srgbClr val="DDE1F5"/>
                </a:solidFill>
              </a:defRPr>
            </a:lvl4pPr>
            <a:lvl5pPr algn="r">
              <a:defRPr sz="1650" b="0">
                <a:solidFill>
                  <a:srgbClr val="DDE1F5"/>
                </a:solidFill>
              </a:defRPr>
            </a:lvl5pPr>
            <a:lvl6pPr algn="r">
              <a:defRPr sz="1650" b="0">
                <a:solidFill>
                  <a:srgbClr val="DDE1F5"/>
                </a:solidFill>
              </a:defRPr>
            </a:lvl6pPr>
            <a:lvl7pPr algn="r">
              <a:defRPr sz="1650" b="0">
                <a:solidFill>
                  <a:srgbClr val="DDE1F5"/>
                </a:solidFill>
              </a:defRPr>
            </a:lvl7pPr>
            <a:lvl8pPr algn="r">
              <a:defRPr sz="1650" b="0">
                <a:solidFill>
                  <a:srgbClr val="DDE1F5"/>
                </a:solidFill>
              </a:defRPr>
            </a:lvl8pPr>
            <a:lvl9pPr algn="r">
              <a:defRPr sz="1650" b="0">
                <a:solidFill>
                  <a:srgbClr val="DDE1F5"/>
                </a:solidFill>
              </a:defRPr>
            </a:lvl9pPr>
          </a:lstStyle>
          <a:p>
            <a:pPr algn="r" rtl="1">
              <a:defRPr sz="1650" b="0">
                <a:solidFill>
                  <a:srgbClr val="DDE1F5"/>
                </a:solidFill>
              </a:defRPr>
            </a:pPr>
            <a:r>
              <a:rPr sz="1650" b="0" lang="fa-IR">
                <a:solidFill>
                  <a:srgbClr val="DDE1F5"/>
                </a:solidFill>
              </a:rPr>
              <a:t>1. اندیس ۰: عدد 3 برابر val است؛ رد می‌شویم. writeIndex هنوز ۰ است.</a:t>
            </a:r>
          </a:p>
        </p:txBody>
      </p:sp>
      <p:sp>
        <p:nvSpPr>
          <p:cNvPr id="11" name="">
            <a:extLst>
              <a:ext uri="{FF2B5EF4-FFF2-40B4-BE49-F238E27FC236}">
                <ns2:creationId id="{FCF4E61B-785B-4FA3-B486-24C093B34792}"/>
              </a:ext>
            </a:extLst>
          </p:cNvPr>
          <p:cNvSpPr>
            <a:spLocks noGrp="1"/>
          </p:cNvSpPr>
          <p:nvPr/>
        </p:nvSpPr>
        <p:spPr>
          <a:xfrm>
            <a:off x="857250" y="3476625"/>
            <a:ext cx="10477500" cy="514350"/>
          </a:xfrm>
          <a:prstGeom prst="rect">
            <a:avLst/>
          </a:prstGeom>
          <a:noFill/>
          <a:ln w="0">
            <a:noFill/>
          </a:ln>
        </p:spPr>
        <p:txBody>
          <a:bodyPr lIns="0" tIns="0" rIns="0" bIns="0" anchor="t"/>
          <a:lstStyle>
            <a:defPPr algn="r">
              <a:defRPr sz="1650" b="0">
                <a:solidFill>
                  <a:srgbClr val="DDE1F5"/>
                </a:solidFill>
              </a:defRPr>
            </a:defPPr>
            <a:lvl1pPr algn="r">
              <a:defRPr sz="1650" b="0">
                <a:solidFill>
                  <a:srgbClr val="DDE1F5"/>
                </a:solidFill>
              </a:defRPr>
            </a:lvl1pPr>
            <a:lvl2pPr algn="r">
              <a:defRPr sz="1650" b="0">
                <a:solidFill>
                  <a:srgbClr val="DDE1F5"/>
                </a:solidFill>
              </a:defRPr>
            </a:lvl2pPr>
            <a:lvl3pPr algn="r">
              <a:defRPr sz="1650" b="0">
                <a:solidFill>
                  <a:srgbClr val="DDE1F5"/>
                </a:solidFill>
              </a:defRPr>
            </a:lvl3pPr>
            <a:lvl4pPr algn="r">
              <a:defRPr sz="1650" b="0">
                <a:solidFill>
                  <a:srgbClr val="DDE1F5"/>
                </a:solidFill>
              </a:defRPr>
            </a:lvl4pPr>
            <a:lvl5pPr algn="r">
              <a:defRPr sz="1650" b="0">
                <a:solidFill>
                  <a:srgbClr val="DDE1F5"/>
                </a:solidFill>
              </a:defRPr>
            </a:lvl5pPr>
            <a:lvl6pPr algn="r">
              <a:defRPr sz="1650" b="0">
                <a:solidFill>
                  <a:srgbClr val="DDE1F5"/>
                </a:solidFill>
              </a:defRPr>
            </a:lvl6pPr>
            <a:lvl7pPr algn="r">
              <a:defRPr sz="1650" b="0">
                <a:solidFill>
                  <a:srgbClr val="DDE1F5"/>
                </a:solidFill>
              </a:defRPr>
            </a:lvl7pPr>
            <a:lvl8pPr algn="r">
              <a:defRPr sz="1650" b="0">
                <a:solidFill>
                  <a:srgbClr val="DDE1F5"/>
                </a:solidFill>
              </a:defRPr>
            </a:lvl8pPr>
            <a:lvl9pPr algn="r">
              <a:defRPr sz="1650" b="0">
                <a:solidFill>
                  <a:srgbClr val="DDE1F5"/>
                </a:solidFill>
              </a:defRPr>
            </a:lvl9pPr>
          </a:lstStyle>
          <a:p>
            <a:pPr algn="r" rtl="1">
              <a:defRPr sz="1650" b="0">
                <a:solidFill>
                  <a:srgbClr val="DDE1F5"/>
                </a:solidFill>
              </a:defRPr>
            </a:pPr>
            <a:r>
              <a:rPr sz="1650" b="0" lang="fa-IR">
                <a:solidFill>
                  <a:srgbClr val="DDE1F5"/>
                </a:solidFill>
              </a:rPr>
              <a:t>2. اندیس ۱: عدد 2 را در خانهٔ ۰ می‌نویسیم. writeIndex می‌شود ۱؛ آرایه: ‪[2, 2, 2, 3]‬.</a:t>
            </a:r>
          </a:p>
        </p:txBody>
      </p:sp>
      <p:sp>
        <p:nvSpPr>
          <p:cNvPr id="12" name="">
            <a:extLst>
              <a:ext uri="{FF2B5EF4-FFF2-40B4-BE49-F238E27FC236}">
                <ns2:creationId id="{EF52FC31-BD20-4F50-AFCB-B0D365B34904}"/>
              </a:ext>
            </a:extLst>
          </p:cNvPr>
          <p:cNvSpPr>
            <a:spLocks noGrp="1"/>
          </p:cNvSpPr>
          <p:nvPr/>
        </p:nvSpPr>
        <p:spPr>
          <a:xfrm>
            <a:off x="857250" y="4076700"/>
            <a:ext cx="10477500" cy="514350"/>
          </a:xfrm>
          <a:prstGeom prst="rect">
            <a:avLst/>
          </a:prstGeom>
          <a:noFill/>
          <a:ln w="0">
            <a:noFill/>
          </a:ln>
        </p:spPr>
        <p:txBody>
          <a:bodyPr lIns="0" tIns="0" rIns="0" bIns="0" anchor="t"/>
          <a:lstStyle>
            <a:defPPr algn="r">
              <a:defRPr sz="1650" b="0">
                <a:solidFill>
                  <a:srgbClr val="DDE1F5"/>
                </a:solidFill>
              </a:defRPr>
            </a:defPPr>
            <a:lvl1pPr algn="r">
              <a:defRPr sz="1650" b="0">
                <a:solidFill>
                  <a:srgbClr val="DDE1F5"/>
                </a:solidFill>
              </a:defRPr>
            </a:lvl1pPr>
            <a:lvl2pPr algn="r">
              <a:defRPr sz="1650" b="0">
                <a:solidFill>
                  <a:srgbClr val="DDE1F5"/>
                </a:solidFill>
              </a:defRPr>
            </a:lvl2pPr>
            <a:lvl3pPr algn="r">
              <a:defRPr sz="1650" b="0">
                <a:solidFill>
                  <a:srgbClr val="DDE1F5"/>
                </a:solidFill>
              </a:defRPr>
            </a:lvl3pPr>
            <a:lvl4pPr algn="r">
              <a:defRPr sz="1650" b="0">
                <a:solidFill>
                  <a:srgbClr val="DDE1F5"/>
                </a:solidFill>
              </a:defRPr>
            </a:lvl4pPr>
            <a:lvl5pPr algn="r">
              <a:defRPr sz="1650" b="0">
                <a:solidFill>
                  <a:srgbClr val="DDE1F5"/>
                </a:solidFill>
              </a:defRPr>
            </a:lvl5pPr>
            <a:lvl6pPr algn="r">
              <a:defRPr sz="1650" b="0">
                <a:solidFill>
                  <a:srgbClr val="DDE1F5"/>
                </a:solidFill>
              </a:defRPr>
            </a:lvl6pPr>
            <a:lvl7pPr algn="r">
              <a:defRPr sz="1650" b="0">
                <a:solidFill>
                  <a:srgbClr val="DDE1F5"/>
                </a:solidFill>
              </a:defRPr>
            </a:lvl7pPr>
            <a:lvl8pPr algn="r">
              <a:defRPr sz="1650" b="0">
                <a:solidFill>
                  <a:srgbClr val="DDE1F5"/>
                </a:solidFill>
              </a:defRPr>
            </a:lvl8pPr>
            <a:lvl9pPr algn="r">
              <a:defRPr sz="1650" b="0">
                <a:solidFill>
                  <a:srgbClr val="DDE1F5"/>
                </a:solidFill>
              </a:defRPr>
            </a:lvl9pPr>
          </a:lstStyle>
          <a:p>
            <a:pPr algn="r" rtl="1">
              <a:defRPr sz="1650" b="0">
                <a:solidFill>
                  <a:srgbClr val="DDE1F5"/>
                </a:solidFill>
              </a:defRPr>
            </a:pPr>
            <a:r>
              <a:rPr sz="1650" b="0" lang="fa-IR">
                <a:solidFill>
                  <a:srgbClr val="DDE1F5"/>
                </a:solidFill>
              </a:rPr>
              <a:t>3. اندیس ۲: عدد 2 را در خانهٔ ۱ می‌نویسیم. writeIndex می‌شود ۲؛ دو خانهٔ اول جواب‌اند.</a:t>
            </a:r>
          </a:p>
        </p:txBody>
      </p:sp>
      <p:sp>
        <p:nvSpPr>
          <p:cNvPr id="13" name="">
            <a:extLst>
              <a:ext uri="{FF2B5EF4-FFF2-40B4-BE49-F238E27FC236}">
                <ns2:creationId id="{64FE3C38-8622-48D3-9F1B-420D185108E0}"/>
              </a:ext>
            </a:extLst>
          </p:cNvPr>
          <p:cNvSpPr>
            <a:spLocks noGrp="1"/>
          </p:cNvSpPr>
          <p:nvPr/>
        </p:nvSpPr>
        <p:spPr>
          <a:xfrm>
            <a:off x="857250" y="4676775"/>
            <a:ext cx="10477500" cy="514350"/>
          </a:xfrm>
          <a:prstGeom prst="rect">
            <a:avLst/>
          </a:prstGeom>
          <a:noFill/>
          <a:ln w="0">
            <a:noFill/>
          </a:ln>
        </p:spPr>
        <p:txBody>
          <a:bodyPr lIns="0" tIns="0" rIns="0" bIns="0" anchor="t"/>
          <a:lstStyle>
            <a:defPPr algn="r">
              <a:defRPr sz="1650" b="0">
                <a:solidFill>
                  <a:srgbClr val="DDE1F5"/>
                </a:solidFill>
              </a:defRPr>
            </a:defPPr>
            <a:lvl1pPr algn="r">
              <a:defRPr sz="1650" b="0">
                <a:solidFill>
                  <a:srgbClr val="DDE1F5"/>
                </a:solidFill>
              </a:defRPr>
            </a:lvl1pPr>
            <a:lvl2pPr algn="r">
              <a:defRPr sz="1650" b="0">
                <a:solidFill>
                  <a:srgbClr val="DDE1F5"/>
                </a:solidFill>
              </a:defRPr>
            </a:lvl2pPr>
            <a:lvl3pPr algn="r">
              <a:defRPr sz="1650" b="0">
                <a:solidFill>
                  <a:srgbClr val="DDE1F5"/>
                </a:solidFill>
              </a:defRPr>
            </a:lvl3pPr>
            <a:lvl4pPr algn="r">
              <a:defRPr sz="1650" b="0">
                <a:solidFill>
                  <a:srgbClr val="DDE1F5"/>
                </a:solidFill>
              </a:defRPr>
            </a:lvl4pPr>
            <a:lvl5pPr algn="r">
              <a:defRPr sz="1650" b="0">
                <a:solidFill>
                  <a:srgbClr val="DDE1F5"/>
                </a:solidFill>
              </a:defRPr>
            </a:lvl5pPr>
            <a:lvl6pPr algn="r">
              <a:defRPr sz="1650" b="0">
                <a:solidFill>
                  <a:srgbClr val="DDE1F5"/>
                </a:solidFill>
              </a:defRPr>
            </a:lvl6pPr>
            <a:lvl7pPr algn="r">
              <a:defRPr sz="1650" b="0">
                <a:solidFill>
                  <a:srgbClr val="DDE1F5"/>
                </a:solidFill>
              </a:defRPr>
            </a:lvl7pPr>
            <a:lvl8pPr algn="r">
              <a:defRPr sz="1650" b="0">
                <a:solidFill>
                  <a:srgbClr val="DDE1F5"/>
                </a:solidFill>
              </a:defRPr>
            </a:lvl8pPr>
            <a:lvl9pPr algn="r">
              <a:defRPr sz="1650" b="0">
                <a:solidFill>
                  <a:srgbClr val="DDE1F5"/>
                </a:solidFill>
              </a:defRPr>
            </a:lvl9pPr>
          </a:lstStyle>
          <a:p>
            <a:pPr algn="r" rtl="1">
              <a:defRPr sz="1650" b="0">
                <a:solidFill>
                  <a:srgbClr val="DDE1F5"/>
                </a:solidFill>
              </a:defRPr>
            </a:pPr>
            <a:r>
              <a:rPr sz="1650" b="0" lang="fa-IR">
                <a:solidFill>
                  <a:srgbClr val="DDE1F5"/>
                </a:solidFill>
              </a:rPr>
              <a:t>4. اندیس ۳: عدد 3 را رد می‌کنیم. پایان: k = 2 و پیشوند معتبر ‪[2, 2]‬.</a:t>
            </a:r>
          </a:p>
        </p:txBody>
      </p:sp>
      <p:sp>
        <p:nvSpPr>
          <p:cNvPr id="14" name="">
            <a:extLst>
              <a:ext uri="{FF2B5EF4-FFF2-40B4-BE49-F238E27FC236}">
                <ns2:creationId id="{F5E4B77F-4630-4669-8AC2-92543CE65026}"/>
              </a:ext>
            </a:extLst>
          </p:cNvPr>
          <p:cNvSpPr>
            <a:spLocks noGrp="1"/>
          </p:cNvSpPr>
          <p:nvPr/>
        </p:nvSpPr>
        <p:spPr>
          <a:xfrm>
            <a:off x="857250" y="5648325"/>
            <a:ext cx="10477500" cy="571500"/>
          </a:xfrm>
          <a:prstGeom prst="rect">
            <a:avLst/>
          </a:prstGeom>
          <a:noFill/>
          <a:ln w="0">
            <a:noFill/>
          </a:ln>
        </p:spPr>
        <p:txBody>
          <a:bodyPr lIns="0" tIns="0" rIns="0" bIns="0" anchor="t"/>
          <a:lstStyle>
            <a:defPPr algn="r">
              <a:defRPr sz="1650" b="1">
                <a:solidFill>
                  <a:srgbClr val="4ECCA3"/>
                </a:solidFill>
              </a:defRPr>
            </a:defPPr>
            <a:lvl1pPr algn="r">
              <a:defRPr sz="1650" b="1">
                <a:solidFill>
                  <a:srgbClr val="4ECCA3"/>
                </a:solidFill>
              </a:defRPr>
            </a:lvl1pPr>
            <a:lvl2pPr algn="r">
              <a:defRPr sz="1650" b="1">
                <a:solidFill>
                  <a:srgbClr val="4ECCA3"/>
                </a:solidFill>
              </a:defRPr>
            </a:lvl2pPr>
            <a:lvl3pPr algn="r">
              <a:defRPr sz="1650" b="1">
                <a:solidFill>
                  <a:srgbClr val="4ECCA3"/>
                </a:solidFill>
              </a:defRPr>
            </a:lvl3pPr>
            <a:lvl4pPr algn="r">
              <a:defRPr sz="1650" b="1">
                <a:solidFill>
                  <a:srgbClr val="4ECCA3"/>
                </a:solidFill>
              </a:defRPr>
            </a:lvl4pPr>
            <a:lvl5pPr algn="r">
              <a:defRPr sz="1650" b="1">
                <a:solidFill>
                  <a:srgbClr val="4ECCA3"/>
                </a:solidFill>
              </a:defRPr>
            </a:lvl5pPr>
            <a:lvl6pPr algn="r">
              <a:defRPr sz="1650" b="1">
                <a:solidFill>
                  <a:srgbClr val="4ECCA3"/>
                </a:solidFill>
              </a:defRPr>
            </a:lvl6pPr>
            <a:lvl7pPr algn="r">
              <a:defRPr sz="1650" b="1">
                <a:solidFill>
                  <a:srgbClr val="4ECCA3"/>
                </a:solidFill>
              </a:defRPr>
            </a:lvl7pPr>
            <a:lvl8pPr algn="r">
              <a:defRPr sz="1650" b="1">
                <a:solidFill>
                  <a:srgbClr val="4ECCA3"/>
                </a:solidFill>
              </a:defRPr>
            </a:lvl8pPr>
            <a:lvl9pPr algn="r">
              <a:defRPr sz="1650" b="1">
                <a:solidFill>
                  <a:srgbClr val="4ECCA3"/>
                </a:solidFill>
              </a:defRPr>
            </a:lvl9pPr>
          </a:lstStyle>
          <a:p>
            <a:pPr algn="r" rtl="1">
              <a:defRPr sz="1650" b="1">
                <a:solidFill>
                  <a:srgbClr val="4ECCA3"/>
                </a:solidFill>
              </a:defRPr>
            </a:pPr>
            <a:r>
              <a:rPr sz="1650" b="1" lang="fa-IR">
                <a:solidFill>
                  <a:srgbClr val="4ECCA3"/>
                </a:solidFill>
              </a:rPr>
              <a:t>خانه‌های قبل از writeIndex همیشه جواب‌های درستِ پیدا‌شده تا این لحظه‌اند.</a:t>
            </a:r>
          </a:p>
        </p:txBody>
      </p:sp>
      <p:sp>
        <p:nvSpPr>
          <p:cNvPr id="15" name="">
            <a:extLst>
              <a:ext uri="{FF2B5EF4-FFF2-40B4-BE49-F238E27FC236}">
                <ns2:creationId id="{8FDD2909-DA5F-4BAD-B56E-F33F6A79E705}"/>
              </a:ext>
            </a:extLst>
          </p:cNvPr>
          <p:cNvSpPr>
            <a:spLocks noGrp="1"/>
          </p:cNvSpPr>
          <p:nvPr/>
        </p:nvSpPr>
        <p:spPr>
          <a:xfrm>
            <a:off x="723900" y="6496050"/>
            <a:ext cx="10744200" cy="209550"/>
          </a:xfrm>
          <a:prstGeom prst="rect">
            <a:avLst/>
          </a:prstGeom>
          <a:noFill/>
          <a:ln w="0">
            <a:noFill/>
          </a:ln>
        </p:spPr>
        <p:txBody>
          <a:bodyPr lIns="0" tIns="0" rIns="0" bIns="0" anchor="t"/>
          <a:lstStyle>
            <a:defPPr algn="r">
              <a:defRPr sz="975" b="0">
                <a:solidFill>
                  <a:srgbClr val="969EB4"/>
                </a:solidFill>
              </a:defRPr>
            </a:defPPr>
            <a:lvl1pPr algn="r">
              <a:defRPr sz="975" b="0">
                <a:solidFill>
                  <a:srgbClr val="969EB4"/>
                </a:solidFill>
              </a:defRPr>
            </a:lvl1pPr>
            <a:lvl2pPr algn="r">
              <a:defRPr sz="975" b="0">
                <a:solidFill>
                  <a:srgbClr val="969EB4"/>
                </a:solidFill>
              </a:defRPr>
            </a:lvl2pPr>
            <a:lvl3pPr algn="r">
              <a:defRPr sz="975" b="0">
                <a:solidFill>
                  <a:srgbClr val="969EB4"/>
                </a:solidFill>
              </a:defRPr>
            </a:lvl3pPr>
            <a:lvl4pPr algn="r">
              <a:defRPr sz="975" b="0">
                <a:solidFill>
                  <a:srgbClr val="969EB4"/>
                </a:solidFill>
              </a:defRPr>
            </a:lvl4pPr>
            <a:lvl5pPr algn="r">
              <a:defRPr sz="975" b="0">
                <a:solidFill>
                  <a:srgbClr val="969EB4"/>
                </a:solidFill>
              </a:defRPr>
            </a:lvl5pPr>
            <a:lvl6pPr algn="r">
              <a:defRPr sz="975" b="0">
                <a:solidFill>
                  <a:srgbClr val="969EB4"/>
                </a:solidFill>
              </a:defRPr>
            </a:lvl6pPr>
            <a:lvl7pPr algn="r">
              <a:defRPr sz="975" b="0">
                <a:solidFill>
                  <a:srgbClr val="969EB4"/>
                </a:solidFill>
              </a:defRPr>
            </a:lvl7pPr>
            <a:lvl8pPr algn="r">
              <a:defRPr sz="975" b="0">
                <a:solidFill>
                  <a:srgbClr val="969EB4"/>
                </a:solidFill>
              </a:defRPr>
            </a:lvl8pPr>
            <a:lvl9pPr algn="r">
              <a:defRPr sz="975" b="0">
                <a:solidFill>
                  <a:srgbClr val="969EB4"/>
                </a:solidFill>
              </a:defRPr>
            </a:lvl9pPr>
          </a:lstStyle>
          <a:p>
            <a:pPr algn="r">
              <a:defRPr sz="975" b="0">
                <a:solidFill>
                  <a:srgbClr val="969EB4"/>
                </a:solidFill>
              </a:defRPr>
            </a:pPr>
            <a:r>
              <a:rPr sz="975" b="0">
                <a:solidFill>
                  <a:srgbClr val="969EB4"/>
                </a:solidFill>
              </a:rPr>
              <a:t>30 / 57</a:t>
            </a:r>
          </a:p>
        </p:txBody>
      </p:sp>
    </p:spTree>
    <p:extLst>
      <p:ext uri="{BB962C8B-B14F-4D97-AF65-F5344CB8AC3E}">
        <ns3:creationId val="1776538891"/>
      </p:ext>
    </p:extLst>
  </p:cSld>
</p:sld>
</file>

<file path=ppt/slides/slide5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0D0D1A"/>
        </a:solidFill>
      </p:bgPr>
    </p:bg>
    <p:spTree>
      <p:nvGrpSpPr>
        <p:cNvPr id="1" name=""/>
        <p:cNvGrpSpPr/>
        <p:nvPr/>
      </p:nvGrpSpPr>
      <p:grpSpPr>
        <a:xfrm/>
      </p:grpSpPr>
      <p:sp>
        <p:nvSpPr>
          <p:cNvPr id="11" name="">
            <a:extLst>
              <a:ext uri="{FF2B5EF4-FFF2-40B4-BE49-F238E27FC236}">
                <ns2:creationId id="{9FA9ADCC-37EC-42F2-874B-77DC04D42B6B}"/>
              </a:ext>
            </a:extLst>
          </p:cNvPr>
          <p:cNvSpPr>
            <a:spLocks noGrp="1"/>
          </p:cNvSpPr>
          <p:nvPr/>
        </p:nvSpPr>
        <p:spPr>
          <a:xfrm>
            <a:off x="0" y="0"/>
            <a:ext cx="12192000" cy="47625"/>
          </a:xfrm>
          <a:prstGeom prst="rect">
            <a:avLst/>
          </a:prstGeom>
          <a:solidFill>
            <a:srgbClr val="4ECCA3"/>
          </a:solidFill>
          <a:ln w="0">
            <a:noFill/>
          </a:ln>
        </p:spPr>
      </p:sp>
      <p:sp>
        <p:nvSpPr>
          <p:cNvPr id="2" name="">
            <a:extLst>
              <a:ext uri="{FF2B5EF4-FFF2-40B4-BE49-F238E27FC236}">
                <ns2:creationId id="{46947C97-07C7-4FB8-A54F-1CC2DC2EC950}"/>
              </a:ext>
            </a:extLst>
          </p:cNvPr>
          <p:cNvSpPr>
            <a:spLocks noGrp="1"/>
          </p:cNvSpPr>
          <p:nvPr/>
        </p:nvSpPr>
        <p:spPr>
          <a:xfrm>
            <a:off x="723900" y="266700"/>
            <a:ext cx="10744200" cy="495300"/>
          </a:xfrm>
          <a:prstGeom prst="rect">
            <a:avLst/>
          </a:prstGeom>
          <a:noFill/>
          <a:ln w="0">
            <a:noFill/>
          </a:ln>
        </p:spPr>
        <p:txBody>
          <a:bodyPr lIns="0" tIns="0" rIns="0" bIns="0" anchor="t"/>
          <a:lstStyle>
            <a:defPPr algn="r">
              <a:defRPr sz="2175" b="1">
                <a:solidFill>
                  <a:srgbClr val="4ECCA3"/>
                </a:solidFill>
              </a:defRPr>
            </a:defPPr>
            <a:lvl1pPr algn="r">
              <a:defRPr sz="2175" b="1">
                <a:solidFill>
                  <a:srgbClr val="4ECCA3"/>
                </a:solidFill>
              </a:defRPr>
            </a:lvl1pPr>
            <a:lvl2pPr algn="r">
              <a:defRPr sz="2175" b="1">
                <a:solidFill>
                  <a:srgbClr val="4ECCA3"/>
                </a:solidFill>
              </a:defRPr>
            </a:lvl2pPr>
            <a:lvl3pPr algn="r">
              <a:defRPr sz="2175" b="1">
                <a:solidFill>
                  <a:srgbClr val="4ECCA3"/>
                </a:solidFill>
              </a:defRPr>
            </a:lvl3pPr>
            <a:lvl4pPr algn="r">
              <a:defRPr sz="2175" b="1">
                <a:solidFill>
                  <a:srgbClr val="4ECCA3"/>
                </a:solidFill>
              </a:defRPr>
            </a:lvl4pPr>
            <a:lvl5pPr algn="r">
              <a:defRPr sz="2175" b="1">
                <a:solidFill>
                  <a:srgbClr val="4ECCA3"/>
                </a:solidFill>
              </a:defRPr>
            </a:lvl5pPr>
            <a:lvl6pPr algn="r">
              <a:defRPr sz="2175" b="1">
                <a:solidFill>
                  <a:srgbClr val="4ECCA3"/>
                </a:solidFill>
              </a:defRPr>
            </a:lvl6pPr>
            <a:lvl7pPr algn="r">
              <a:defRPr sz="2175" b="1">
                <a:solidFill>
                  <a:srgbClr val="4ECCA3"/>
                </a:solidFill>
              </a:defRPr>
            </a:lvl7pPr>
            <a:lvl8pPr algn="r">
              <a:defRPr sz="2175" b="1">
                <a:solidFill>
                  <a:srgbClr val="4ECCA3"/>
                </a:solidFill>
              </a:defRPr>
            </a:lvl8pPr>
            <a:lvl9pPr algn="r">
              <a:defRPr sz="2175" b="1">
                <a:solidFill>
                  <a:srgbClr val="4ECCA3"/>
                </a:solidFill>
              </a:defRPr>
            </a:lvl9pPr>
          </a:lstStyle>
          <a:p>
            <a:pPr algn="r" rtl="1">
              <a:defRPr sz="2175" b="1">
                <a:solidFill>
                  <a:srgbClr val="4ECCA3"/>
                </a:solidFill>
              </a:defRPr>
            </a:pPr>
            <a:r>
              <a:rPr sz="2175" b="1" lang="fa-IR">
                <a:solidFill>
                  <a:srgbClr val="4ECCA3"/>
                </a:solidFill>
              </a:rPr>
              <a:t>کد کاتلین: فقط عددهای مطلوب را نگه دار</a:t>
            </a:r>
          </a:p>
        </p:txBody>
      </p:sp>
      <p:sp>
        <p:nvSpPr>
          <p:cNvPr id="3" name="">
            <a:extLst>
              <a:ext uri="{FF2B5EF4-FFF2-40B4-BE49-F238E27FC236}">
                <ns2:creationId id="{6E9B4565-494D-40B8-B2D4-EF13F98A43E2}"/>
              </a:ext>
            </a:extLst>
          </p:cNvPr>
          <p:cNvSpPr>
            <a:spLocks noGrp="1"/>
          </p:cNvSpPr>
          <p:nvPr/>
        </p:nvSpPr>
        <p:spPr>
          <a:xfrm>
            <a:off x="723900" y="838200"/>
            <a:ext cx="10744200" cy="619125"/>
          </a:xfrm>
          <a:prstGeom prst="rect">
            <a:avLst/>
          </a:prstGeom>
          <a:noFill/>
          <a:ln w="0">
            <a:noFill/>
          </a:ln>
        </p:spPr>
        <p:txBody>
          <a:bodyPr lIns="0" tIns="0" rIns="0" bIns="0" anchor="t"/>
          <a:lstStyle>
            <a:defPPr algn="r">
              <a:defRPr sz="1425" b="0">
                <a:solidFill>
                  <a:srgbClr val="969EB4"/>
                </a:solidFill>
              </a:defRPr>
            </a:defPPr>
            <a:lvl1pPr algn="r">
              <a:defRPr sz="1425" b="0">
                <a:solidFill>
                  <a:srgbClr val="969EB4"/>
                </a:solidFill>
              </a:defRPr>
            </a:lvl1pPr>
            <a:lvl2pPr algn="r">
              <a:defRPr sz="1425" b="0">
                <a:solidFill>
                  <a:srgbClr val="969EB4"/>
                </a:solidFill>
              </a:defRPr>
            </a:lvl2pPr>
            <a:lvl3pPr algn="r">
              <a:defRPr sz="1425" b="0">
                <a:solidFill>
                  <a:srgbClr val="969EB4"/>
                </a:solidFill>
              </a:defRPr>
            </a:lvl3pPr>
            <a:lvl4pPr algn="r">
              <a:defRPr sz="1425" b="0">
                <a:solidFill>
                  <a:srgbClr val="969EB4"/>
                </a:solidFill>
              </a:defRPr>
            </a:lvl4pPr>
            <a:lvl5pPr algn="r">
              <a:defRPr sz="1425" b="0">
                <a:solidFill>
                  <a:srgbClr val="969EB4"/>
                </a:solidFill>
              </a:defRPr>
            </a:lvl5pPr>
            <a:lvl6pPr algn="r">
              <a:defRPr sz="1425" b="0">
                <a:solidFill>
                  <a:srgbClr val="969EB4"/>
                </a:solidFill>
              </a:defRPr>
            </a:lvl6pPr>
            <a:lvl7pPr algn="r">
              <a:defRPr sz="1425" b="0">
                <a:solidFill>
                  <a:srgbClr val="969EB4"/>
                </a:solidFill>
              </a:defRPr>
            </a:lvl7pPr>
            <a:lvl8pPr algn="r">
              <a:defRPr sz="1425" b="0">
                <a:solidFill>
                  <a:srgbClr val="969EB4"/>
                </a:solidFill>
              </a:defRPr>
            </a:lvl8pPr>
            <a:lvl9pPr algn="r">
              <a:defRPr sz="1425" b="0">
                <a:solidFill>
                  <a:srgbClr val="969EB4"/>
                </a:solidFill>
              </a:defRPr>
            </a:lvl9pPr>
          </a:lstStyle>
          <a:p>
            <a:pPr algn="r" rtl="1">
              <a:defRPr sz="1425" b="0">
                <a:solidFill>
                  <a:srgbClr val="969EB4"/>
                </a:solidFill>
              </a:defRPr>
            </a:pPr>
            <a:r>
              <a:rPr sz="1425" b="0" lang="fa-IR">
                <a:solidFill>
                  <a:srgbClr val="969EB4"/>
                </a:solidFill>
              </a:rPr>
              <a:t>یک بار خواندن آرایه: زمان O(n) | دو نشانگر: حافظهٔ کمکی O(1)</a:t>
            </a:r>
          </a:p>
        </p:txBody>
      </p:sp>
      <p:sp>
        <p:nvSpPr>
          <p:cNvPr id="4" name="">
            <a:extLst>
              <a:ext uri="{FF2B5EF4-FFF2-40B4-BE49-F238E27FC236}">
                <ns2:creationId id="{71D00DC4-5377-4C79-9DB3-B2E7ED385B63}"/>
              </a:ext>
            </a:extLst>
          </p:cNvPr>
          <p:cNvSpPr>
            <a:spLocks noGrp="1"/>
          </p:cNvSpPr>
          <p:nvPr/>
        </p:nvSpPr>
        <p:spPr>
          <a:xfrm>
            <a:off x="723900" y="1466850"/>
            <a:ext cx="10744200" cy="2552700"/>
          </a:xfrm>
          <a:prstGeom prst="rect">
            <a:avLst/>
          </a:prstGeom>
          <a:solidFill>
            <a:srgbClr val="08080F"/>
          </a:solidFill>
          <a:ln w="0">
            <a:noFill/>
          </a:ln>
        </p:spPr>
      </p:sp>
      <p:sp>
        <p:nvSpPr>
          <p:cNvPr id="5" name="">
            <a:extLst>
              <a:ext uri="{FF2B5EF4-FFF2-40B4-BE49-F238E27FC236}">
                <ns2:creationId id="{38E00A78-AE22-40D4-86E1-969D4155FA30}"/>
              </a:ext>
            </a:extLst>
          </p:cNvPr>
          <p:cNvSpPr>
            <a:spLocks noGrp="1"/>
          </p:cNvSpPr>
          <p:nvPr/>
        </p:nvSpPr>
        <p:spPr>
          <a:xfrm>
            <a:off x="857250" y="1609725"/>
            <a:ext cx="10477500" cy="2333625"/>
          </a:xfrm>
          <a:prstGeom prst="rect">
            <a:avLst/>
          </a:prstGeom>
          <a:noFill/>
          <a:ln w="0">
            <a:noFill/>
          </a:ln>
        </p:spPr>
        <p:txBody>
          <a:bodyPr lIns="0" tIns="0" rIns="0" bIns="0" anchor="t"/>
          <a:lstStyle>
            <a:defPPr algn="l">
              <a:defRPr sz="1200" b="0">
                <a:solidFill>
                  <a:srgbClr val="DDE1F5"/>
                </a:solidFill>
              </a:defRPr>
            </a:defPPr>
            <a:lvl1pPr algn="l">
              <a:defRPr sz="1200" b="0">
                <a:solidFill>
                  <a:srgbClr val="DDE1F5"/>
                </a:solidFill>
              </a:defRPr>
            </a:lvl1pPr>
            <a:lvl2pPr algn="l">
              <a:defRPr sz="1200" b="0">
                <a:solidFill>
                  <a:srgbClr val="DDE1F5"/>
                </a:solidFill>
              </a:defRPr>
            </a:lvl2pPr>
            <a:lvl3pPr algn="l">
              <a:defRPr sz="1200" b="0">
                <a:solidFill>
                  <a:srgbClr val="DDE1F5"/>
                </a:solidFill>
              </a:defRPr>
            </a:lvl3pPr>
            <a:lvl4pPr algn="l">
              <a:defRPr sz="1200" b="0">
                <a:solidFill>
                  <a:srgbClr val="DDE1F5"/>
                </a:solidFill>
              </a:defRPr>
            </a:lvl4pPr>
            <a:lvl5pPr algn="l">
              <a:defRPr sz="1200" b="0">
                <a:solidFill>
                  <a:srgbClr val="DDE1F5"/>
                </a:solidFill>
              </a:defRPr>
            </a:lvl5pPr>
            <a:lvl6pPr algn="l">
              <a:defRPr sz="1200" b="0">
                <a:solidFill>
                  <a:srgbClr val="DDE1F5"/>
                </a:solidFill>
              </a:defRPr>
            </a:lvl6pPr>
            <a:lvl7pPr algn="l">
              <a:defRPr sz="1200" b="0">
                <a:solidFill>
                  <a:srgbClr val="DDE1F5"/>
                </a:solidFill>
              </a:defRPr>
            </a:lvl7pPr>
            <a:lvl8pPr algn="l">
              <a:defRPr sz="1200" b="0">
                <a:solidFill>
                  <a:srgbClr val="DDE1F5"/>
                </a:solidFill>
              </a:defRPr>
            </a:lvl8pPr>
            <a:lvl9pPr algn="l">
              <a:defRPr sz="1200" b="0">
                <a:solidFill>
                  <a:srgbClr val="DDE1F5"/>
                </a:solidFill>
              </a:defRPr>
            </a:lvl9pPr>
          </a:lstStyle>
          <a:p>
            <a:pPr algn="l">
              <a:defRPr sz="1200" b="0">
                <a:solidFill>
                  <a:srgbClr val="DDE1F5"/>
                </a:solidFill>
              </a:defRPr>
            </a:pPr>
            <a:r>
              <a:rPr sz="1200" b="0">
                <a:solidFill>
                  <a:srgbClr val="DDE1F5"/>
                </a:solidFill>
              </a:rPr>
              <a:t>fun removeElement(nums: IntArray, valueToRemove: Int): Int { // Time: O(n), Space: O(1)</a:t>
            </a:r>
          </a:p>
          <a:p>
            <a:pPr algn="l">
              <a:defRPr sz="1200" b="0">
                <a:solidFill>
                  <a:srgbClr val="DDE1F5"/>
                </a:solidFill>
              </a:defRPr>
            </a:pPr>
            <a:r>
              <a:rPr sz="1200" b="0">
                <a:solidFill>
                  <a:srgbClr val="DDE1F5"/>
                </a:solidFill>
              </a:rPr>
              <a:t>    var writeIndex = 0 // Time: O(1), Space: O(1)</a:t>
            </a:r>
          </a:p>
          <a:p>
            <a:pPr algn="l">
              <a:defRPr sz="1200" b="0">
                <a:solidFill>
                  <a:srgbClr val="DDE1F5"/>
                </a:solidFill>
              </a:defRPr>
            </a:pPr>
            <a:r>
              <a:rPr sz="1200" b="0">
                <a:solidFill>
                  <a:srgbClr val="DDE1F5"/>
                </a:solidFill>
              </a:rPr>
              <a:t>    for (readIndex in nums.indices) { // Time: O(n) iterations, Space: O(1)</a:t>
            </a:r>
          </a:p>
          <a:p>
            <a:pPr algn="l">
              <a:defRPr sz="1200" b="0">
                <a:solidFill>
                  <a:srgbClr val="DDE1F5"/>
                </a:solidFill>
              </a:defRPr>
            </a:pPr>
            <a:r>
              <a:rPr sz="1200" b="0">
                <a:solidFill>
                  <a:srgbClr val="DDE1F5"/>
                </a:solidFill>
              </a:rPr>
              <a:t>        if (nums[readIndex] != valueToRemove) { // Time: O(1), Space: O(1)</a:t>
            </a:r>
          </a:p>
          <a:p>
            <a:pPr algn="l">
              <a:defRPr sz="1200" b="0">
                <a:solidFill>
                  <a:srgbClr val="DDE1F5"/>
                </a:solidFill>
              </a:defRPr>
            </a:pPr>
            <a:r>
              <a:rPr sz="1200" b="0">
                <a:solidFill>
                  <a:srgbClr val="DDE1F5"/>
                </a:solidFill>
              </a:rPr>
              <a:t>            nums[writeIndex] = nums[readIndex] // Time: O(1), Space: O(1)</a:t>
            </a:r>
          </a:p>
          <a:p>
            <a:pPr algn="l">
              <a:defRPr sz="1200" b="0">
                <a:solidFill>
                  <a:srgbClr val="DDE1F5"/>
                </a:solidFill>
              </a:defRPr>
            </a:pPr>
            <a:r>
              <a:rPr sz="1200" b="0">
                <a:solidFill>
                  <a:srgbClr val="DDE1F5"/>
                </a:solidFill>
              </a:rPr>
              <a:t>            writeIndex++ // Time: O(1), Space: O(1)</a:t>
            </a:r>
          </a:p>
          <a:p>
            <a:pPr algn="l">
              <a:defRPr sz="1200" b="0">
                <a:solidFill>
                  <a:srgbClr val="DDE1F5"/>
                </a:solidFill>
              </a:defRPr>
            </a:pPr>
            <a:r>
              <a:rPr sz="1200" b="0">
                <a:solidFill>
                  <a:srgbClr val="DDE1F5"/>
                </a:solidFill>
              </a:rPr>
              <a:t>        } // End decision</a:t>
            </a:r>
          </a:p>
          <a:p>
            <a:pPr algn="l">
              <a:defRPr sz="1200" b="0">
                <a:solidFill>
                  <a:srgbClr val="DDE1F5"/>
                </a:solidFill>
              </a:defRPr>
            </a:pPr>
            <a:r>
              <a:rPr sz="1200" b="0">
                <a:solidFill>
                  <a:srgbClr val="DDE1F5"/>
                </a:solidFill>
              </a:rPr>
              <a:t>    } // End scan</a:t>
            </a:r>
          </a:p>
          <a:p>
            <a:pPr algn="l">
              <a:defRPr sz="1200" b="0">
                <a:solidFill>
                  <a:srgbClr val="DDE1F5"/>
                </a:solidFill>
              </a:defRPr>
            </a:pPr>
            <a:r>
              <a:rPr sz="1200" b="0">
                <a:solidFill>
                  <a:srgbClr val="DDE1F5"/>
                </a:solidFill>
              </a:rPr>
              <a:t>    return writeIndex // Time: O(1), Space: O(1)</a:t>
            </a:r>
          </a:p>
          <a:p>
            <a:pPr algn="l">
              <a:defRPr sz="1200" b="0">
                <a:solidFill>
                  <a:srgbClr val="DDE1F5"/>
                </a:solidFill>
              </a:defRPr>
            </a:pPr>
            <a:r>
              <a:rPr sz="1200" b="0">
                <a:solidFill>
                  <a:srgbClr val="DDE1F5"/>
                </a:solidFill>
              </a:rPr>
              <a:t>} // End function</a:t>
            </a:r>
          </a:p>
          <a:p>
            <a:pPr algn="l">
              <a:defRPr sz="1200" b="0">
                <a:solidFill>
                  <a:srgbClr val="DDE1F5"/>
                </a:solidFill>
              </a:defRPr>
            </a:pPr>
            <a:r>
              <a:rPr sz="1200" b="0">
                <a:solidFill>
                  <a:srgbClr val="DDE1F5"/>
                </a:solidFill>
              </a:rPr>
              <a:t>// Overall Time: O(n) | Auxiliary Space: O(1) | Overall Space: O(1)</a:t>
            </a:r>
          </a:p>
        </p:txBody>
      </p:sp>
      <p:sp>
        <p:nvSpPr>
          <p:cNvPr id="6" name="">
            <a:extLst>
              <a:ext uri="{FF2B5EF4-FFF2-40B4-BE49-F238E27FC236}">
                <ns2:creationId id="{051D46D0-4BFE-41DE-9985-134DDBFD5779}"/>
              </a:ext>
            </a:extLst>
          </p:cNvPr>
          <p:cNvSpPr>
            <a:spLocks noGrp="1"/>
          </p:cNvSpPr>
          <p:nvPr/>
        </p:nvSpPr>
        <p:spPr>
          <a:xfrm>
            <a:off x="857250" y="4276725"/>
            <a:ext cx="10477500" cy="381000"/>
          </a:xfrm>
          <a:prstGeom prst="rect">
            <a:avLst/>
          </a:prstGeom>
          <a:noFill/>
          <a:ln w="0">
            <a:noFill/>
          </a:ln>
        </p:spPr>
        <p:txBody>
          <a:bodyPr lIns="0" tIns="0" rIns="0" bIns="0" anchor="t"/>
          <a:lstStyle>
            <a:defPPr algn="r">
              <a:defRPr sz="1425" b="0">
                <a:solidFill>
                  <a:srgbClr val="DDE1F5"/>
                </a:solidFill>
              </a:defRPr>
            </a:defPPr>
            <a:lvl1pPr algn="r">
              <a:defRPr sz="1425" b="0">
                <a:solidFill>
                  <a:srgbClr val="DDE1F5"/>
                </a:solidFill>
              </a:defRPr>
            </a:lvl1pPr>
            <a:lvl2pPr algn="r">
              <a:defRPr sz="1425" b="0">
                <a:solidFill>
                  <a:srgbClr val="DDE1F5"/>
                </a:solidFill>
              </a:defRPr>
            </a:lvl2pPr>
            <a:lvl3pPr algn="r">
              <a:defRPr sz="1425" b="0">
                <a:solidFill>
                  <a:srgbClr val="DDE1F5"/>
                </a:solidFill>
              </a:defRPr>
            </a:lvl3pPr>
            <a:lvl4pPr algn="r">
              <a:defRPr sz="1425" b="0">
                <a:solidFill>
                  <a:srgbClr val="DDE1F5"/>
                </a:solidFill>
              </a:defRPr>
            </a:lvl4pPr>
            <a:lvl5pPr algn="r">
              <a:defRPr sz="1425" b="0">
                <a:solidFill>
                  <a:srgbClr val="DDE1F5"/>
                </a:solidFill>
              </a:defRPr>
            </a:lvl5pPr>
            <a:lvl6pPr algn="r">
              <a:defRPr sz="1425" b="0">
                <a:solidFill>
                  <a:srgbClr val="DDE1F5"/>
                </a:solidFill>
              </a:defRPr>
            </a:lvl6pPr>
            <a:lvl7pPr algn="r">
              <a:defRPr sz="1425" b="0">
                <a:solidFill>
                  <a:srgbClr val="DDE1F5"/>
                </a:solidFill>
              </a:defRPr>
            </a:lvl7pPr>
            <a:lvl8pPr algn="r">
              <a:defRPr sz="1425" b="0">
                <a:solidFill>
                  <a:srgbClr val="DDE1F5"/>
                </a:solidFill>
              </a:defRPr>
            </a:lvl8pPr>
            <a:lvl9pPr algn="r">
              <a:defRPr sz="1425" b="0">
                <a:solidFill>
                  <a:srgbClr val="DDE1F5"/>
                </a:solidFill>
              </a:defRPr>
            </a:lvl9pPr>
          </a:lstStyle>
          <a:p>
            <a:pPr algn="r" rtl="1">
              <a:defRPr sz="1425" b="0">
                <a:solidFill>
                  <a:srgbClr val="DDE1F5"/>
                </a:solidFill>
              </a:defRPr>
            </a:pPr>
            <a:r>
              <a:rPr sz="1425" b="0" lang="fa-IR">
                <a:solidFill>
                  <a:srgbClr val="DDE1F5"/>
                </a:solidFill>
              </a:rPr>
              <a:t>• readIndex همهٔ خانه‌ها را می‌خواند؛ شرط نگه داشتن: nums[readIndex] != valueToRemove.</a:t>
            </a:r>
          </a:p>
        </p:txBody>
      </p:sp>
      <p:sp>
        <p:nvSpPr>
          <p:cNvPr id="7" name="">
            <a:extLst>
              <a:ext uri="{FF2B5EF4-FFF2-40B4-BE49-F238E27FC236}">
                <ns2:creationId id="{EE414656-F792-45FB-B777-5F82717D9228}"/>
              </a:ext>
            </a:extLst>
          </p:cNvPr>
          <p:cNvSpPr>
            <a:spLocks noGrp="1"/>
          </p:cNvSpPr>
          <p:nvPr/>
        </p:nvSpPr>
        <p:spPr>
          <a:xfrm>
            <a:off x="857250" y="4705350"/>
            <a:ext cx="10477500" cy="381000"/>
          </a:xfrm>
          <a:prstGeom prst="rect">
            <a:avLst/>
          </a:prstGeom>
          <a:noFill/>
          <a:ln w="0">
            <a:noFill/>
          </a:ln>
        </p:spPr>
        <p:txBody>
          <a:bodyPr lIns="0" tIns="0" rIns="0" bIns="0" anchor="t"/>
          <a:lstStyle>
            <a:defPPr algn="r">
              <a:defRPr sz="1425" b="0">
                <a:solidFill>
                  <a:srgbClr val="DDE1F5"/>
                </a:solidFill>
              </a:defRPr>
            </a:defPPr>
            <a:lvl1pPr algn="r">
              <a:defRPr sz="1425" b="0">
                <a:solidFill>
                  <a:srgbClr val="DDE1F5"/>
                </a:solidFill>
              </a:defRPr>
            </a:lvl1pPr>
            <a:lvl2pPr algn="r">
              <a:defRPr sz="1425" b="0">
                <a:solidFill>
                  <a:srgbClr val="DDE1F5"/>
                </a:solidFill>
              </a:defRPr>
            </a:lvl2pPr>
            <a:lvl3pPr algn="r">
              <a:defRPr sz="1425" b="0">
                <a:solidFill>
                  <a:srgbClr val="DDE1F5"/>
                </a:solidFill>
              </a:defRPr>
            </a:lvl3pPr>
            <a:lvl4pPr algn="r">
              <a:defRPr sz="1425" b="0">
                <a:solidFill>
                  <a:srgbClr val="DDE1F5"/>
                </a:solidFill>
              </a:defRPr>
            </a:lvl4pPr>
            <a:lvl5pPr algn="r">
              <a:defRPr sz="1425" b="0">
                <a:solidFill>
                  <a:srgbClr val="DDE1F5"/>
                </a:solidFill>
              </a:defRPr>
            </a:lvl5pPr>
            <a:lvl6pPr algn="r">
              <a:defRPr sz="1425" b="0">
                <a:solidFill>
                  <a:srgbClr val="DDE1F5"/>
                </a:solidFill>
              </a:defRPr>
            </a:lvl6pPr>
            <a:lvl7pPr algn="r">
              <a:defRPr sz="1425" b="0">
                <a:solidFill>
                  <a:srgbClr val="DDE1F5"/>
                </a:solidFill>
              </a:defRPr>
            </a:lvl7pPr>
            <a:lvl8pPr algn="r">
              <a:defRPr sz="1425" b="0">
                <a:solidFill>
                  <a:srgbClr val="DDE1F5"/>
                </a:solidFill>
              </a:defRPr>
            </a:lvl8pPr>
            <a:lvl9pPr algn="r">
              <a:defRPr sz="1425" b="0">
                <a:solidFill>
                  <a:srgbClr val="DDE1F5"/>
                </a:solidFill>
              </a:defRPr>
            </a:lvl9pPr>
          </a:lstStyle>
          <a:p>
            <a:pPr algn="r" rtl="1">
              <a:defRPr sz="1425" b="0">
                <a:solidFill>
                  <a:srgbClr val="DDE1F5"/>
                </a:solidFill>
              </a:defRPr>
            </a:pPr>
            <a:r>
              <a:rPr sz="1425" b="0" lang="fa-IR">
                <a:solidFill>
                  <a:srgbClr val="DDE1F5"/>
                </a:solidFill>
              </a:rPr>
              <a:t>• writeIndex جای نوشتن بعدی است؛ فقط بعد از نگه داشتن یک عدد زیاد می‌شود.</a:t>
            </a:r>
          </a:p>
        </p:txBody>
      </p:sp>
      <p:sp>
        <p:nvSpPr>
          <p:cNvPr id="8" name="">
            <a:extLst>
              <a:ext uri="{FF2B5EF4-FFF2-40B4-BE49-F238E27FC236}">
                <ns2:creationId id="{52EEA973-EC3A-4AE0-8F12-5D1DACBA679D}"/>
              </a:ext>
            </a:extLst>
          </p:cNvPr>
          <p:cNvSpPr>
            <a:spLocks noGrp="1"/>
          </p:cNvSpPr>
          <p:nvPr/>
        </p:nvSpPr>
        <p:spPr>
          <a:xfrm>
            <a:off x="857250" y="5133975"/>
            <a:ext cx="10477500" cy="381000"/>
          </a:xfrm>
          <a:prstGeom prst="rect">
            <a:avLst/>
          </a:prstGeom>
          <a:noFill/>
          <a:ln w="0">
            <a:noFill/>
          </a:ln>
        </p:spPr>
        <p:txBody>
          <a:bodyPr lIns="0" tIns="0" rIns="0" bIns="0" anchor="t"/>
          <a:lstStyle>
            <a:defPPr algn="r">
              <a:defRPr sz="1425" b="0">
                <a:solidFill>
                  <a:srgbClr val="DDE1F5"/>
                </a:solidFill>
              </a:defRPr>
            </a:defPPr>
            <a:lvl1pPr algn="r">
              <a:defRPr sz="1425" b="0">
                <a:solidFill>
                  <a:srgbClr val="DDE1F5"/>
                </a:solidFill>
              </a:defRPr>
            </a:lvl1pPr>
            <a:lvl2pPr algn="r">
              <a:defRPr sz="1425" b="0">
                <a:solidFill>
                  <a:srgbClr val="DDE1F5"/>
                </a:solidFill>
              </a:defRPr>
            </a:lvl2pPr>
            <a:lvl3pPr algn="r">
              <a:defRPr sz="1425" b="0">
                <a:solidFill>
                  <a:srgbClr val="DDE1F5"/>
                </a:solidFill>
              </a:defRPr>
            </a:lvl3pPr>
            <a:lvl4pPr algn="r">
              <a:defRPr sz="1425" b="0">
                <a:solidFill>
                  <a:srgbClr val="DDE1F5"/>
                </a:solidFill>
              </a:defRPr>
            </a:lvl4pPr>
            <a:lvl5pPr algn="r">
              <a:defRPr sz="1425" b="0">
                <a:solidFill>
                  <a:srgbClr val="DDE1F5"/>
                </a:solidFill>
              </a:defRPr>
            </a:lvl5pPr>
            <a:lvl6pPr algn="r">
              <a:defRPr sz="1425" b="0">
                <a:solidFill>
                  <a:srgbClr val="DDE1F5"/>
                </a:solidFill>
              </a:defRPr>
            </a:lvl6pPr>
            <a:lvl7pPr algn="r">
              <a:defRPr sz="1425" b="0">
                <a:solidFill>
                  <a:srgbClr val="DDE1F5"/>
                </a:solidFill>
              </a:defRPr>
            </a:lvl7pPr>
            <a:lvl8pPr algn="r">
              <a:defRPr sz="1425" b="0">
                <a:solidFill>
                  <a:srgbClr val="DDE1F5"/>
                </a:solidFill>
              </a:defRPr>
            </a:lvl8pPr>
            <a:lvl9pPr algn="r">
              <a:defRPr sz="1425" b="0">
                <a:solidFill>
                  <a:srgbClr val="DDE1F5"/>
                </a:solidFill>
              </a:defRPr>
            </a:lvl9pPr>
          </a:lstStyle>
          <a:p>
            <a:pPr algn="r" rtl="1">
              <a:defRPr sz="1425" b="0">
                <a:solidFill>
                  <a:srgbClr val="DDE1F5"/>
                </a:solidFill>
              </a:defRPr>
            </a:pPr>
            <a:r>
              <a:rPr sz="1425" b="0" lang="fa-IR">
                <a:solidFill>
                  <a:srgbClr val="DDE1F5"/>
                </a:solidFill>
              </a:rPr>
              <a:t>• نوشتن همیشه در خانهٔ فعلی یا قبل از آن است؛ عددهای نخوانده از بین نمی‌روند.</a:t>
            </a:r>
          </a:p>
        </p:txBody>
      </p:sp>
      <p:sp>
        <p:nvSpPr>
          <p:cNvPr id="9" name="">
            <a:extLst>
              <a:ext uri="{FF2B5EF4-FFF2-40B4-BE49-F238E27FC236}">
                <ns2:creationId id="{41AD648A-5BDE-4732-82E2-74F5B3B2E2B6}"/>
              </a:ext>
            </a:extLst>
          </p:cNvPr>
          <p:cNvSpPr>
            <a:spLocks noGrp="1"/>
          </p:cNvSpPr>
          <p:nvPr/>
        </p:nvSpPr>
        <p:spPr>
          <a:xfrm>
            <a:off x="857250" y="5562600"/>
            <a:ext cx="10477500" cy="381000"/>
          </a:xfrm>
          <a:prstGeom prst="rect">
            <a:avLst/>
          </a:prstGeom>
          <a:noFill/>
          <a:ln w="0">
            <a:noFill/>
          </a:ln>
        </p:spPr>
        <p:txBody>
          <a:bodyPr lIns="0" tIns="0" rIns="0" bIns="0" anchor="t"/>
          <a:lstStyle>
            <a:defPPr algn="r">
              <a:defRPr sz="1425" b="0">
                <a:solidFill>
                  <a:srgbClr val="DDE1F5"/>
                </a:solidFill>
              </a:defRPr>
            </a:defPPr>
            <a:lvl1pPr algn="r">
              <a:defRPr sz="1425" b="0">
                <a:solidFill>
                  <a:srgbClr val="DDE1F5"/>
                </a:solidFill>
              </a:defRPr>
            </a:lvl1pPr>
            <a:lvl2pPr algn="r">
              <a:defRPr sz="1425" b="0">
                <a:solidFill>
                  <a:srgbClr val="DDE1F5"/>
                </a:solidFill>
              </a:defRPr>
            </a:lvl2pPr>
            <a:lvl3pPr algn="r">
              <a:defRPr sz="1425" b="0">
                <a:solidFill>
                  <a:srgbClr val="DDE1F5"/>
                </a:solidFill>
              </a:defRPr>
            </a:lvl3pPr>
            <a:lvl4pPr algn="r">
              <a:defRPr sz="1425" b="0">
                <a:solidFill>
                  <a:srgbClr val="DDE1F5"/>
                </a:solidFill>
              </a:defRPr>
            </a:lvl4pPr>
            <a:lvl5pPr algn="r">
              <a:defRPr sz="1425" b="0">
                <a:solidFill>
                  <a:srgbClr val="DDE1F5"/>
                </a:solidFill>
              </a:defRPr>
            </a:lvl5pPr>
            <a:lvl6pPr algn="r">
              <a:defRPr sz="1425" b="0">
                <a:solidFill>
                  <a:srgbClr val="DDE1F5"/>
                </a:solidFill>
              </a:defRPr>
            </a:lvl6pPr>
            <a:lvl7pPr algn="r">
              <a:defRPr sz="1425" b="0">
                <a:solidFill>
                  <a:srgbClr val="DDE1F5"/>
                </a:solidFill>
              </a:defRPr>
            </a:lvl7pPr>
            <a:lvl8pPr algn="r">
              <a:defRPr sz="1425" b="0">
                <a:solidFill>
                  <a:srgbClr val="DDE1F5"/>
                </a:solidFill>
              </a:defRPr>
            </a:lvl8pPr>
            <a:lvl9pPr algn="r">
              <a:defRPr sz="1425" b="0">
                <a:solidFill>
                  <a:srgbClr val="DDE1F5"/>
                </a:solidFill>
              </a:defRPr>
            </a:lvl9pPr>
          </a:lstStyle>
          <a:p>
            <a:pPr algn="r" rtl="1">
              <a:defRPr sz="1425" b="0">
                <a:solidFill>
                  <a:srgbClr val="DDE1F5"/>
                </a:solidFill>
              </a:defRPr>
            </a:pPr>
            <a:r>
              <a:rPr sz="1425" b="0" lang="fa-IR">
                <a:solidFill>
                  <a:srgbClr val="DDE1F5"/>
                </a:solidFill>
              </a:rPr>
              <a:t>• آرایهٔ خالی یا تماماً برابر val → صفر؛ بدون val → طول آرایه. خانه‌های بعد از جواب مهم نیستند.</a:t>
            </a:r>
          </a:p>
        </p:txBody>
      </p:sp>
      <p:sp>
        <p:nvSpPr>
          <p:cNvPr id="10" name="">
            <a:extLst>
              <a:ext uri="{FF2B5EF4-FFF2-40B4-BE49-F238E27FC236}">
                <ns2:creationId id="{4CC6944A-E56C-445C-834A-99E38B0B836D}"/>
              </a:ext>
            </a:extLst>
          </p:cNvPr>
          <p:cNvSpPr>
            <a:spLocks noGrp="1"/>
          </p:cNvSpPr>
          <p:nvPr/>
        </p:nvSpPr>
        <p:spPr>
          <a:xfrm>
            <a:off x="723900" y="6496050"/>
            <a:ext cx="10744200" cy="209550"/>
          </a:xfrm>
          <a:prstGeom prst="rect">
            <a:avLst/>
          </a:prstGeom>
          <a:noFill/>
          <a:ln w="0">
            <a:noFill/>
          </a:ln>
        </p:spPr>
        <p:txBody>
          <a:bodyPr lIns="0" tIns="0" rIns="0" bIns="0" anchor="t"/>
          <a:lstStyle>
            <a:defPPr algn="r">
              <a:defRPr sz="975" b="0">
                <a:solidFill>
                  <a:srgbClr val="969EB4"/>
                </a:solidFill>
              </a:defRPr>
            </a:defPPr>
            <a:lvl1pPr algn="r">
              <a:defRPr sz="975" b="0">
                <a:solidFill>
                  <a:srgbClr val="969EB4"/>
                </a:solidFill>
              </a:defRPr>
            </a:lvl1pPr>
            <a:lvl2pPr algn="r">
              <a:defRPr sz="975" b="0">
                <a:solidFill>
                  <a:srgbClr val="969EB4"/>
                </a:solidFill>
              </a:defRPr>
            </a:lvl2pPr>
            <a:lvl3pPr algn="r">
              <a:defRPr sz="975" b="0">
                <a:solidFill>
                  <a:srgbClr val="969EB4"/>
                </a:solidFill>
              </a:defRPr>
            </a:lvl3pPr>
            <a:lvl4pPr algn="r">
              <a:defRPr sz="975" b="0">
                <a:solidFill>
                  <a:srgbClr val="969EB4"/>
                </a:solidFill>
              </a:defRPr>
            </a:lvl4pPr>
            <a:lvl5pPr algn="r">
              <a:defRPr sz="975" b="0">
                <a:solidFill>
                  <a:srgbClr val="969EB4"/>
                </a:solidFill>
              </a:defRPr>
            </a:lvl5pPr>
            <a:lvl6pPr algn="r">
              <a:defRPr sz="975" b="0">
                <a:solidFill>
                  <a:srgbClr val="969EB4"/>
                </a:solidFill>
              </a:defRPr>
            </a:lvl6pPr>
            <a:lvl7pPr algn="r">
              <a:defRPr sz="975" b="0">
                <a:solidFill>
                  <a:srgbClr val="969EB4"/>
                </a:solidFill>
              </a:defRPr>
            </a:lvl7pPr>
            <a:lvl8pPr algn="r">
              <a:defRPr sz="975" b="0">
                <a:solidFill>
                  <a:srgbClr val="969EB4"/>
                </a:solidFill>
              </a:defRPr>
            </a:lvl8pPr>
            <a:lvl9pPr algn="r">
              <a:defRPr sz="975" b="0">
                <a:solidFill>
                  <a:srgbClr val="969EB4"/>
                </a:solidFill>
              </a:defRPr>
            </a:lvl9pPr>
          </a:lstStyle>
          <a:p>
            <a:pPr algn="r">
              <a:defRPr sz="975" b="0">
                <a:solidFill>
                  <a:srgbClr val="969EB4"/>
                </a:solidFill>
              </a:defRPr>
            </a:pPr>
            <a:r>
              <a:rPr sz="975" b="0">
                <a:solidFill>
                  <a:srgbClr val="969EB4"/>
                </a:solidFill>
              </a:rPr>
              <a:t>31 / 57</a:t>
            </a:r>
          </a:p>
        </p:txBody>
      </p:sp>
    </p:spTree>
    <p:extLst>
      <p:ext uri="{BB962C8B-B14F-4D97-AF65-F5344CB8AC3E}">
        <ns3:creationId val="1709383196"/>
      </p:ext>
    </p:extLst>
  </p:cSld>
</p:sld>
</file>

<file path=ppt/slides/slide5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0D0D1A"/>
        </a:solidFill>
      </p:bgPr>
    </p:bg>
    <p:spTree>
      <p:nvGrpSpPr>
        <p:cNvPr id="1" name=""/>
        <p:cNvGrpSpPr/>
        <p:nvPr/>
      </p:nvGrpSpPr>
      <p:grpSpPr>
        <a:xfrm/>
      </p:grpSpPr>
      <p:sp>
        <p:nvSpPr>
          <p:cNvPr id="21" name="">
            <a:extLst>
              <a:ext uri="{FF2B5EF4-FFF2-40B4-BE49-F238E27FC236}">
                <ns2:creationId id="{2FB510A8-EC85-4B1A-9B8C-EA28916A2556}"/>
              </a:ext>
            </a:extLst>
          </p:cNvPr>
          <p:cNvSpPr>
            <a:spLocks noGrp="1"/>
          </p:cNvSpPr>
          <p:nvPr/>
        </p:nvSpPr>
        <p:spPr>
          <a:xfrm>
            <a:off x="0" y="0"/>
            <a:ext cx="12192000" cy="47625"/>
          </a:xfrm>
          <a:prstGeom prst="rect">
            <a:avLst/>
          </a:prstGeom>
          <a:solidFill>
            <a:srgbClr val="4ECCA3"/>
          </a:solidFill>
          <a:ln w="0">
            <a:noFill/>
          </a:ln>
        </p:spPr>
      </p:sp>
      <p:sp>
        <p:nvSpPr>
          <p:cNvPr id="2" name="">
            <a:extLst>
              <a:ext uri="{FF2B5EF4-FFF2-40B4-BE49-F238E27FC236}">
                <ns2:creationId id="{4ED1C377-62C6-4C78-A23D-2F11CD637D06}"/>
              </a:ext>
            </a:extLst>
          </p:cNvPr>
          <p:cNvSpPr>
            <a:spLocks noGrp="1"/>
          </p:cNvSpPr>
          <p:nvPr/>
        </p:nvSpPr>
        <p:spPr>
          <a:xfrm>
            <a:off x="723900" y="266700"/>
            <a:ext cx="10744200" cy="495300"/>
          </a:xfrm>
          <a:prstGeom prst="rect">
            <a:avLst/>
          </a:prstGeom>
          <a:noFill/>
          <a:ln w="0">
            <a:noFill/>
          </a:ln>
        </p:spPr>
        <p:txBody>
          <a:bodyPr lIns="0" tIns="0" rIns="0" bIns="0" anchor="t"/>
          <a:lstStyle>
            <a:defPPr algn="r">
              <a:defRPr sz="2175" b="1">
                <a:solidFill>
                  <a:srgbClr val="4ECCA3"/>
                </a:solidFill>
              </a:defRPr>
            </a:defPPr>
            <a:lvl1pPr algn="r">
              <a:defRPr sz="2175" b="1">
                <a:solidFill>
                  <a:srgbClr val="4ECCA3"/>
                </a:solidFill>
              </a:defRPr>
            </a:lvl1pPr>
            <a:lvl2pPr algn="r">
              <a:defRPr sz="2175" b="1">
                <a:solidFill>
                  <a:srgbClr val="4ECCA3"/>
                </a:solidFill>
              </a:defRPr>
            </a:lvl2pPr>
            <a:lvl3pPr algn="r">
              <a:defRPr sz="2175" b="1">
                <a:solidFill>
                  <a:srgbClr val="4ECCA3"/>
                </a:solidFill>
              </a:defRPr>
            </a:lvl3pPr>
            <a:lvl4pPr algn="r">
              <a:defRPr sz="2175" b="1">
                <a:solidFill>
                  <a:srgbClr val="4ECCA3"/>
                </a:solidFill>
              </a:defRPr>
            </a:lvl4pPr>
            <a:lvl5pPr algn="r">
              <a:defRPr sz="2175" b="1">
                <a:solidFill>
                  <a:srgbClr val="4ECCA3"/>
                </a:solidFill>
              </a:defRPr>
            </a:lvl5pPr>
            <a:lvl6pPr algn="r">
              <a:defRPr sz="2175" b="1">
                <a:solidFill>
                  <a:srgbClr val="4ECCA3"/>
                </a:solidFill>
              </a:defRPr>
            </a:lvl6pPr>
            <a:lvl7pPr algn="r">
              <a:defRPr sz="2175" b="1">
                <a:solidFill>
                  <a:srgbClr val="4ECCA3"/>
                </a:solidFill>
              </a:defRPr>
            </a:lvl7pPr>
            <a:lvl8pPr algn="r">
              <a:defRPr sz="2175" b="1">
                <a:solidFill>
                  <a:srgbClr val="4ECCA3"/>
                </a:solidFill>
              </a:defRPr>
            </a:lvl8pPr>
            <a:lvl9pPr algn="r">
              <a:defRPr sz="2175" b="1">
                <a:solidFill>
                  <a:srgbClr val="4ECCA3"/>
                </a:solidFill>
              </a:defRPr>
            </a:lvl9pPr>
          </a:lstStyle>
          <a:p>
            <a:pPr algn="r" rtl="1">
              <a:defRPr sz="2175" b="1">
                <a:solidFill>
                  <a:srgbClr val="4ECCA3"/>
                </a:solidFill>
              </a:defRPr>
            </a:pPr>
            <a:r>
              <a:rPr sz="2175" b="1" lang="fa-IR">
                <a:solidFill>
                  <a:srgbClr val="4ECCA3"/>
                </a:solidFill>
              </a:rPr>
              <a:t>شبیه‌ساز: حذف یک مقدار، یک قدم در هر بار</a:t>
            </a:r>
          </a:p>
        </p:txBody>
      </p:sp>
      <p:sp>
        <p:nvSpPr>
          <p:cNvPr id="3" name="">
            <a:extLst>
              <a:ext uri="{FF2B5EF4-FFF2-40B4-BE49-F238E27FC236}">
                <ns2:creationId id="{4484553B-E12B-4D8B-BC39-D789876CF1E0}"/>
              </a:ext>
            </a:extLst>
          </p:cNvPr>
          <p:cNvSpPr>
            <a:spLocks noGrp="1"/>
          </p:cNvSpPr>
          <p:nvPr/>
        </p:nvSpPr>
        <p:spPr>
          <a:xfrm>
            <a:off x="723900" y="838200"/>
            <a:ext cx="10744200" cy="619125"/>
          </a:xfrm>
          <a:prstGeom prst="rect">
            <a:avLst/>
          </a:prstGeom>
          <a:noFill/>
          <a:ln w="0">
            <a:noFill/>
          </a:ln>
        </p:spPr>
        <p:txBody>
          <a:bodyPr lIns="0" tIns="0" rIns="0" bIns="0" anchor="t"/>
          <a:lstStyle>
            <a:defPPr algn="r">
              <a:defRPr sz="1425" b="0">
                <a:solidFill>
                  <a:srgbClr val="969EB4"/>
                </a:solidFill>
              </a:defRPr>
            </a:defPPr>
            <a:lvl1pPr algn="r">
              <a:defRPr sz="1425" b="0">
                <a:solidFill>
                  <a:srgbClr val="969EB4"/>
                </a:solidFill>
              </a:defRPr>
            </a:lvl1pPr>
            <a:lvl2pPr algn="r">
              <a:defRPr sz="1425" b="0">
                <a:solidFill>
                  <a:srgbClr val="969EB4"/>
                </a:solidFill>
              </a:defRPr>
            </a:lvl2pPr>
            <a:lvl3pPr algn="r">
              <a:defRPr sz="1425" b="0">
                <a:solidFill>
                  <a:srgbClr val="969EB4"/>
                </a:solidFill>
              </a:defRPr>
            </a:lvl3pPr>
            <a:lvl4pPr algn="r">
              <a:defRPr sz="1425" b="0">
                <a:solidFill>
                  <a:srgbClr val="969EB4"/>
                </a:solidFill>
              </a:defRPr>
            </a:lvl4pPr>
            <a:lvl5pPr algn="r">
              <a:defRPr sz="1425" b="0">
                <a:solidFill>
                  <a:srgbClr val="969EB4"/>
                </a:solidFill>
              </a:defRPr>
            </a:lvl5pPr>
            <a:lvl6pPr algn="r">
              <a:defRPr sz="1425" b="0">
                <a:solidFill>
                  <a:srgbClr val="969EB4"/>
                </a:solidFill>
              </a:defRPr>
            </a:lvl6pPr>
            <a:lvl7pPr algn="r">
              <a:defRPr sz="1425" b="0">
                <a:solidFill>
                  <a:srgbClr val="969EB4"/>
                </a:solidFill>
              </a:defRPr>
            </a:lvl7pPr>
            <a:lvl8pPr algn="r">
              <a:defRPr sz="1425" b="0">
                <a:solidFill>
                  <a:srgbClr val="969EB4"/>
                </a:solidFill>
              </a:defRPr>
            </a:lvl8pPr>
            <a:lvl9pPr algn="r">
              <a:defRPr sz="1425" b="0">
                <a:solidFill>
                  <a:srgbClr val="969EB4"/>
                </a:solidFill>
              </a:defRPr>
            </a:lvl9pPr>
          </a:lstStyle>
          <a:p>
            <a:pPr algn="r" rtl="1">
              <a:defRPr sz="1425" b="0">
                <a:solidFill>
                  <a:srgbClr val="969EB4"/>
                </a:solidFill>
              </a:defRPr>
            </a:pPr>
            <a:r>
              <a:rPr sz="1425" b="0" lang="fa-IR">
                <a:solidFill>
                  <a:srgbClr val="969EB4"/>
                </a:solidFill>
              </a:rPr>
              <a:t>نمونه را انتخاب کنید؛ جای خواندن، جای نوشتن و بخش معتبر آرایه را دنبال کنید.</a:t>
            </a:r>
          </a:p>
        </p:txBody>
      </p:sp>
      <p:sp>
        <p:nvSpPr>
          <p:cNvPr id="4" name="">
            <a:extLst>
              <a:ext uri="{FF2B5EF4-FFF2-40B4-BE49-F238E27FC236}">
                <ns2:creationId id="{D077B9A9-0754-45BD-8AD2-BEE4C166DA0A}"/>
              </a:ext>
            </a:extLst>
          </p:cNvPr>
          <p:cNvSpPr>
            <a:spLocks noGrp="1"/>
          </p:cNvSpPr>
          <p:nvPr/>
        </p:nvSpPr>
        <p:spPr>
          <a:xfrm>
            <a:off x="8882063" y="1504950"/>
            <a:ext cx="2586038" cy="1428750"/>
          </a:xfrm>
          <a:prstGeom prst="rect">
            <a:avLst/>
          </a:prstGeom>
          <a:solidFill>
            <a:srgbClr val="141428"/>
          </a:solidFill>
          <a:ln w="9525">
            <a:solidFill>
              <a:srgbClr val="7C8FF5"/>
            </a:solidFill>
          </a:ln>
        </p:spPr>
      </p:sp>
      <p:sp>
        <p:nvSpPr>
          <p:cNvPr id="5" name="">
            <a:extLst>
              <a:ext uri="{FF2B5EF4-FFF2-40B4-BE49-F238E27FC236}">
                <ns2:creationId id="{683ABEF7-7045-41BD-A309-FDA122A12241}"/>
              </a:ext>
            </a:extLst>
          </p:cNvPr>
          <p:cNvSpPr>
            <a:spLocks noGrp="1"/>
          </p:cNvSpPr>
          <p:nvPr/>
        </p:nvSpPr>
        <p:spPr>
          <a:xfrm>
            <a:off x="8996363" y="1619250"/>
            <a:ext cx="2357438" cy="400050"/>
          </a:xfrm>
          <a:prstGeom prst="rect">
            <a:avLst/>
          </a:prstGeom>
          <a:noFill/>
          <a:ln w="0">
            <a:noFill/>
          </a:ln>
        </p:spPr>
        <p:txBody>
          <a:bodyPr lIns="0" tIns="0" rIns="0" bIns="0" anchor="t"/>
          <a:lstStyle>
            <a:defPPr algn="r">
              <a:defRPr sz="1425" b="1">
                <a:solidFill>
                  <a:srgbClr val="7C8FF5"/>
                </a:solidFill>
              </a:defRPr>
            </a:defPPr>
            <a:lvl1pPr algn="r">
              <a:defRPr sz="1425" b="1">
                <a:solidFill>
                  <a:srgbClr val="7C8FF5"/>
                </a:solidFill>
              </a:defRPr>
            </a:lvl1pPr>
            <a:lvl2pPr algn="r">
              <a:defRPr sz="1425" b="1">
                <a:solidFill>
                  <a:srgbClr val="7C8FF5"/>
                </a:solidFill>
              </a:defRPr>
            </a:lvl2pPr>
            <a:lvl3pPr algn="r">
              <a:defRPr sz="1425" b="1">
                <a:solidFill>
                  <a:srgbClr val="7C8FF5"/>
                </a:solidFill>
              </a:defRPr>
            </a:lvl3pPr>
            <a:lvl4pPr algn="r">
              <a:defRPr sz="1425" b="1">
                <a:solidFill>
                  <a:srgbClr val="7C8FF5"/>
                </a:solidFill>
              </a:defRPr>
            </a:lvl4pPr>
            <a:lvl5pPr algn="r">
              <a:defRPr sz="1425" b="1">
                <a:solidFill>
                  <a:srgbClr val="7C8FF5"/>
                </a:solidFill>
              </a:defRPr>
            </a:lvl5pPr>
            <a:lvl6pPr algn="r">
              <a:defRPr sz="1425" b="1">
                <a:solidFill>
                  <a:srgbClr val="7C8FF5"/>
                </a:solidFill>
              </a:defRPr>
            </a:lvl6pPr>
            <a:lvl7pPr algn="r">
              <a:defRPr sz="1425" b="1">
                <a:solidFill>
                  <a:srgbClr val="7C8FF5"/>
                </a:solidFill>
              </a:defRPr>
            </a:lvl7pPr>
            <a:lvl8pPr algn="r">
              <a:defRPr sz="1425" b="1">
                <a:solidFill>
                  <a:srgbClr val="7C8FF5"/>
                </a:solidFill>
              </a:defRPr>
            </a:lvl8pPr>
            <a:lvl9pPr algn="r">
              <a:defRPr sz="1425" b="1">
                <a:solidFill>
                  <a:srgbClr val="7C8FF5"/>
                </a:solidFill>
              </a:defRPr>
            </a:lvl9pPr>
          </a:lstStyle>
          <a:p>
            <a:pPr algn="r" rtl="1">
              <a:defRPr sz="1425" b="1">
                <a:solidFill>
                  <a:srgbClr val="7C8FF5"/>
                </a:solidFill>
              </a:defRPr>
            </a:pPr>
            <a:r>
              <a:rPr sz="1425" b="1" lang="fa-IR">
                <a:solidFill>
                  <a:srgbClr val="7C8FF5"/>
                </a:solidFill>
              </a:rPr>
              <a:t>گام ۱: 3 را رد کن</a:t>
            </a:r>
          </a:p>
        </p:txBody>
      </p:sp>
      <p:sp>
        <p:nvSpPr>
          <p:cNvPr id="6" name="">
            <a:extLst>
              <a:ext uri="{FF2B5EF4-FFF2-40B4-BE49-F238E27FC236}">
                <ns2:creationId id="{E37C322C-F269-4FE8-ADF4-B6C4A9DF9181}"/>
              </a:ext>
            </a:extLst>
          </p:cNvPr>
          <p:cNvSpPr>
            <a:spLocks noGrp="1"/>
          </p:cNvSpPr>
          <p:nvPr/>
        </p:nvSpPr>
        <p:spPr>
          <a:xfrm>
            <a:off x="8996363" y="2057400"/>
            <a:ext cx="2357438" cy="800100"/>
          </a:xfrm>
          <a:prstGeom prst="rect">
            <a:avLst/>
          </a:prstGeom>
          <a:noFill/>
          <a:ln w="0">
            <a:noFill/>
          </a:ln>
        </p:spPr>
        <p:txBody>
          <a:bodyPr lIns="0" tIns="0" rIns="0" bIns="0" anchor="t"/>
          <a:lstStyle>
            <a:defPPr algn="r">
              <a:defRPr sz="1275" b="0">
                <a:solidFill>
                  <a:srgbClr val="DDE1F5"/>
                </a:solidFill>
              </a:defRPr>
            </a:defPPr>
            <a:lvl1pPr algn="r">
              <a:defRPr sz="1275" b="0">
                <a:solidFill>
                  <a:srgbClr val="DDE1F5"/>
                </a:solidFill>
              </a:defRPr>
            </a:lvl1pPr>
            <a:lvl2pPr algn="r">
              <a:defRPr sz="1275" b="0">
                <a:solidFill>
                  <a:srgbClr val="DDE1F5"/>
                </a:solidFill>
              </a:defRPr>
            </a:lvl2pPr>
            <a:lvl3pPr algn="r">
              <a:defRPr sz="1275" b="0">
                <a:solidFill>
                  <a:srgbClr val="DDE1F5"/>
                </a:solidFill>
              </a:defRPr>
            </a:lvl3pPr>
            <a:lvl4pPr algn="r">
              <a:defRPr sz="1275" b="0">
                <a:solidFill>
                  <a:srgbClr val="DDE1F5"/>
                </a:solidFill>
              </a:defRPr>
            </a:lvl4pPr>
            <a:lvl5pPr algn="r">
              <a:defRPr sz="1275" b="0">
                <a:solidFill>
                  <a:srgbClr val="DDE1F5"/>
                </a:solidFill>
              </a:defRPr>
            </a:lvl5pPr>
            <a:lvl6pPr algn="r">
              <a:defRPr sz="1275" b="0">
                <a:solidFill>
                  <a:srgbClr val="DDE1F5"/>
                </a:solidFill>
              </a:defRPr>
            </a:lvl6pPr>
            <a:lvl7pPr algn="r">
              <a:defRPr sz="1275" b="0">
                <a:solidFill>
                  <a:srgbClr val="DDE1F5"/>
                </a:solidFill>
              </a:defRPr>
            </a:lvl7pPr>
            <a:lvl8pPr algn="r">
              <a:defRPr sz="1275" b="0">
                <a:solidFill>
                  <a:srgbClr val="DDE1F5"/>
                </a:solidFill>
              </a:defRPr>
            </a:lvl8pPr>
            <a:lvl9pPr algn="r">
              <a:defRPr sz="1275" b="0">
                <a:solidFill>
                  <a:srgbClr val="DDE1F5"/>
                </a:solidFill>
              </a:defRPr>
            </a:lvl9pPr>
          </a:lstStyle>
          <a:p>
            <a:pPr algn="r" rtl="1">
              <a:defRPr sz="1275" b="0">
                <a:solidFill>
                  <a:srgbClr val="DDE1F5"/>
                </a:solidFill>
              </a:defRPr>
            </a:pPr>
            <a:r>
              <a:rPr sz="1275" b="0" lang="fa-IR">
                <a:solidFill>
                  <a:srgbClr val="DDE1F5"/>
                </a:solidFill>
              </a:rPr>
              <a:t>readIndex = 0؛ writeIndex = 0؛ هنوز جوابی نداریم.</a:t>
            </a:r>
          </a:p>
        </p:txBody>
      </p:sp>
      <p:sp>
        <p:nvSpPr>
          <p:cNvPr id="7" name="">
            <a:extLst>
              <a:ext uri="{FF2B5EF4-FFF2-40B4-BE49-F238E27FC236}">
                <ns2:creationId id="{5E5B9371-6AB1-45BA-AF95-CEE7C35584DD}"/>
              </a:ext>
            </a:extLst>
          </p:cNvPr>
          <p:cNvSpPr>
            <a:spLocks noGrp="1"/>
          </p:cNvSpPr>
          <p:nvPr/>
        </p:nvSpPr>
        <p:spPr>
          <a:xfrm>
            <a:off x="6162675" y="1504950"/>
            <a:ext cx="2586038" cy="1428750"/>
          </a:xfrm>
          <a:prstGeom prst="rect">
            <a:avLst/>
          </a:prstGeom>
          <a:solidFill>
            <a:srgbClr val="141428"/>
          </a:solidFill>
          <a:ln w="9525">
            <a:solidFill>
              <a:srgbClr val="4ECCA3"/>
            </a:solidFill>
          </a:ln>
        </p:spPr>
      </p:sp>
      <p:sp>
        <p:nvSpPr>
          <p:cNvPr id="8" name="">
            <a:extLst>
              <a:ext uri="{FF2B5EF4-FFF2-40B4-BE49-F238E27FC236}">
                <ns2:creationId id="{BE9A69D1-A3FD-4214-9D21-492330C2C45E}"/>
              </a:ext>
            </a:extLst>
          </p:cNvPr>
          <p:cNvSpPr>
            <a:spLocks noGrp="1"/>
          </p:cNvSpPr>
          <p:nvPr/>
        </p:nvSpPr>
        <p:spPr>
          <a:xfrm>
            <a:off x="6276975" y="1619250"/>
            <a:ext cx="2357438" cy="400050"/>
          </a:xfrm>
          <a:prstGeom prst="rect">
            <a:avLst/>
          </a:prstGeom>
          <a:noFill/>
          <a:ln w="0">
            <a:noFill/>
          </a:ln>
        </p:spPr>
        <p:txBody>
          <a:bodyPr lIns="0" tIns="0" rIns="0" bIns="0" anchor="t"/>
          <a:lstStyle>
            <a:defPPr algn="r">
              <a:defRPr sz="1425" b="1">
                <a:solidFill>
                  <a:srgbClr val="4ECCA3"/>
                </a:solidFill>
              </a:defRPr>
            </a:defPPr>
            <a:lvl1pPr algn="r">
              <a:defRPr sz="1425" b="1">
                <a:solidFill>
                  <a:srgbClr val="4ECCA3"/>
                </a:solidFill>
              </a:defRPr>
            </a:lvl1pPr>
            <a:lvl2pPr algn="r">
              <a:defRPr sz="1425" b="1">
                <a:solidFill>
                  <a:srgbClr val="4ECCA3"/>
                </a:solidFill>
              </a:defRPr>
            </a:lvl2pPr>
            <a:lvl3pPr algn="r">
              <a:defRPr sz="1425" b="1">
                <a:solidFill>
                  <a:srgbClr val="4ECCA3"/>
                </a:solidFill>
              </a:defRPr>
            </a:lvl3pPr>
            <a:lvl4pPr algn="r">
              <a:defRPr sz="1425" b="1">
                <a:solidFill>
                  <a:srgbClr val="4ECCA3"/>
                </a:solidFill>
              </a:defRPr>
            </a:lvl4pPr>
            <a:lvl5pPr algn="r">
              <a:defRPr sz="1425" b="1">
                <a:solidFill>
                  <a:srgbClr val="4ECCA3"/>
                </a:solidFill>
              </a:defRPr>
            </a:lvl5pPr>
            <a:lvl6pPr algn="r">
              <a:defRPr sz="1425" b="1">
                <a:solidFill>
                  <a:srgbClr val="4ECCA3"/>
                </a:solidFill>
              </a:defRPr>
            </a:lvl6pPr>
            <a:lvl7pPr algn="r">
              <a:defRPr sz="1425" b="1">
                <a:solidFill>
                  <a:srgbClr val="4ECCA3"/>
                </a:solidFill>
              </a:defRPr>
            </a:lvl7pPr>
            <a:lvl8pPr algn="r">
              <a:defRPr sz="1425" b="1">
                <a:solidFill>
                  <a:srgbClr val="4ECCA3"/>
                </a:solidFill>
              </a:defRPr>
            </a:lvl8pPr>
            <a:lvl9pPr algn="r">
              <a:defRPr sz="1425" b="1">
                <a:solidFill>
                  <a:srgbClr val="4ECCA3"/>
                </a:solidFill>
              </a:defRPr>
            </a:lvl9pPr>
          </a:lstStyle>
          <a:p>
            <a:pPr algn="r" rtl="1">
              <a:defRPr sz="1425" b="1">
                <a:solidFill>
                  <a:srgbClr val="4ECCA3"/>
                </a:solidFill>
              </a:defRPr>
            </a:pPr>
            <a:r>
              <a:rPr sz="1425" b="1" lang="fa-IR">
                <a:solidFill>
                  <a:srgbClr val="4ECCA3"/>
                </a:solidFill>
              </a:rPr>
              <a:t>گام ۲: 2 را نگه دار</a:t>
            </a:r>
          </a:p>
        </p:txBody>
      </p:sp>
      <p:sp>
        <p:nvSpPr>
          <p:cNvPr id="9" name="">
            <a:extLst>
              <a:ext uri="{FF2B5EF4-FFF2-40B4-BE49-F238E27FC236}">
                <ns2:creationId id="{579BAE36-0212-4B32-8CEF-9FCADFA1B333}"/>
              </a:ext>
            </a:extLst>
          </p:cNvPr>
          <p:cNvSpPr>
            <a:spLocks noGrp="1"/>
          </p:cNvSpPr>
          <p:nvPr/>
        </p:nvSpPr>
        <p:spPr>
          <a:xfrm>
            <a:off x="6276975" y="2057400"/>
            <a:ext cx="2357438" cy="800100"/>
          </a:xfrm>
          <a:prstGeom prst="rect">
            <a:avLst/>
          </a:prstGeom>
          <a:noFill/>
          <a:ln w="0">
            <a:noFill/>
          </a:ln>
        </p:spPr>
        <p:txBody>
          <a:bodyPr lIns="0" tIns="0" rIns="0" bIns="0" anchor="t"/>
          <a:lstStyle>
            <a:defPPr algn="r">
              <a:defRPr sz="1275" b="0">
                <a:solidFill>
                  <a:srgbClr val="DDE1F5"/>
                </a:solidFill>
              </a:defRPr>
            </a:defPPr>
            <a:lvl1pPr algn="r">
              <a:defRPr sz="1275" b="0">
                <a:solidFill>
                  <a:srgbClr val="DDE1F5"/>
                </a:solidFill>
              </a:defRPr>
            </a:lvl1pPr>
            <a:lvl2pPr algn="r">
              <a:defRPr sz="1275" b="0">
                <a:solidFill>
                  <a:srgbClr val="DDE1F5"/>
                </a:solidFill>
              </a:defRPr>
            </a:lvl2pPr>
            <a:lvl3pPr algn="r">
              <a:defRPr sz="1275" b="0">
                <a:solidFill>
                  <a:srgbClr val="DDE1F5"/>
                </a:solidFill>
              </a:defRPr>
            </a:lvl3pPr>
            <a:lvl4pPr algn="r">
              <a:defRPr sz="1275" b="0">
                <a:solidFill>
                  <a:srgbClr val="DDE1F5"/>
                </a:solidFill>
              </a:defRPr>
            </a:lvl4pPr>
            <a:lvl5pPr algn="r">
              <a:defRPr sz="1275" b="0">
                <a:solidFill>
                  <a:srgbClr val="DDE1F5"/>
                </a:solidFill>
              </a:defRPr>
            </a:lvl5pPr>
            <a:lvl6pPr algn="r">
              <a:defRPr sz="1275" b="0">
                <a:solidFill>
                  <a:srgbClr val="DDE1F5"/>
                </a:solidFill>
              </a:defRPr>
            </a:lvl6pPr>
            <a:lvl7pPr algn="r">
              <a:defRPr sz="1275" b="0">
                <a:solidFill>
                  <a:srgbClr val="DDE1F5"/>
                </a:solidFill>
              </a:defRPr>
            </a:lvl7pPr>
            <a:lvl8pPr algn="r">
              <a:defRPr sz="1275" b="0">
                <a:solidFill>
                  <a:srgbClr val="DDE1F5"/>
                </a:solidFill>
              </a:defRPr>
            </a:lvl8pPr>
            <a:lvl9pPr algn="r">
              <a:defRPr sz="1275" b="0">
                <a:solidFill>
                  <a:srgbClr val="DDE1F5"/>
                </a:solidFill>
              </a:defRPr>
            </a:lvl9pPr>
          </a:lstStyle>
          <a:p>
            <a:pPr algn="r" rtl="1">
              <a:defRPr sz="1275" b="0">
                <a:solidFill>
                  <a:srgbClr val="DDE1F5"/>
                </a:solidFill>
              </a:defRPr>
            </a:pPr>
            <a:r>
              <a:rPr sz="1275" b="0" lang="fa-IR">
                <a:solidFill>
                  <a:srgbClr val="DDE1F5"/>
                </a:solidFill>
              </a:rPr>
              <a:t>readIndex = 1؛ در خانهٔ ۰ بنویس؛ writeIndex = 1.</a:t>
            </a:r>
          </a:p>
        </p:txBody>
      </p:sp>
      <p:sp>
        <p:nvSpPr>
          <p:cNvPr id="10" name="">
            <a:extLst>
              <a:ext uri="{FF2B5EF4-FFF2-40B4-BE49-F238E27FC236}">
                <ns2:creationId id="{469EC6F0-3E27-447F-A4A5-D30720DB89E6}"/>
              </a:ext>
            </a:extLst>
          </p:cNvPr>
          <p:cNvSpPr>
            <a:spLocks noGrp="1"/>
          </p:cNvSpPr>
          <p:nvPr/>
        </p:nvSpPr>
        <p:spPr>
          <a:xfrm>
            <a:off x="3443288" y="1504950"/>
            <a:ext cx="2586038" cy="1428750"/>
          </a:xfrm>
          <a:prstGeom prst="rect">
            <a:avLst/>
          </a:prstGeom>
          <a:solidFill>
            <a:srgbClr val="141428"/>
          </a:solidFill>
          <a:ln w="9525">
            <a:solidFill>
              <a:srgbClr val="38BDF8"/>
            </a:solidFill>
          </a:ln>
        </p:spPr>
      </p:sp>
      <p:sp>
        <p:nvSpPr>
          <p:cNvPr id="11" name="">
            <a:extLst>
              <a:ext uri="{FF2B5EF4-FFF2-40B4-BE49-F238E27FC236}">
                <ns2:creationId id="{AAD18997-3C10-4003-BD61-3382F3E70681}"/>
              </a:ext>
            </a:extLst>
          </p:cNvPr>
          <p:cNvSpPr>
            <a:spLocks noGrp="1"/>
          </p:cNvSpPr>
          <p:nvPr/>
        </p:nvSpPr>
        <p:spPr>
          <a:xfrm>
            <a:off x="3557588" y="1619250"/>
            <a:ext cx="2357438" cy="400050"/>
          </a:xfrm>
          <a:prstGeom prst="rect">
            <a:avLst/>
          </a:prstGeom>
          <a:noFill/>
          <a:ln w="0">
            <a:noFill/>
          </a:ln>
        </p:spPr>
        <p:txBody>
          <a:bodyPr lIns="0" tIns="0" rIns="0" bIns="0" anchor="t"/>
          <a:lstStyle>
            <a:defPPr algn="r">
              <a:defRPr sz="1425" b="1">
                <a:solidFill>
                  <a:srgbClr val="38BDF8"/>
                </a:solidFill>
              </a:defRPr>
            </a:defPPr>
            <a:lvl1pPr algn="r">
              <a:defRPr sz="1425" b="1">
                <a:solidFill>
                  <a:srgbClr val="38BDF8"/>
                </a:solidFill>
              </a:defRPr>
            </a:lvl1pPr>
            <a:lvl2pPr algn="r">
              <a:defRPr sz="1425" b="1">
                <a:solidFill>
                  <a:srgbClr val="38BDF8"/>
                </a:solidFill>
              </a:defRPr>
            </a:lvl2pPr>
            <a:lvl3pPr algn="r">
              <a:defRPr sz="1425" b="1">
                <a:solidFill>
                  <a:srgbClr val="38BDF8"/>
                </a:solidFill>
              </a:defRPr>
            </a:lvl3pPr>
            <a:lvl4pPr algn="r">
              <a:defRPr sz="1425" b="1">
                <a:solidFill>
                  <a:srgbClr val="38BDF8"/>
                </a:solidFill>
              </a:defRPr>
            </a:lvl4pPr>
            <a:lvl5pPr algn="r">
              <a:defRPr sz="1425" b="1">
                <a:solidFill>
                  <a:srgbClr val="38BDF8"/>
                </a:solidFill>
              </a:defRPr>
            </a:lvl5pPr>
            <a:lvl6pPr algn="r">
              <a:defRPr sz="1425" b="1">
                <a:solidFill>
                  <a:srgbClr val="38BDF8"/>
                </a:solidFill>
              </a:defRPr>
            </a:lvl6pPr>
            <a:lvl7pPr algn="r">
              <a:defRPr sz="1425" b="1">
                <a:solidFill>
                  <a:srgbClr val="38BDF8"/>
                </a:solidFill>
              </a:defRPr>
            </a:lvl7pPr>
            <a:lvl8pPr algn="r">
              <a:defRPr sz="1425" b="1">
                <a:solidFill>
                  <a:srgbClr val="38BDF8"/>
                </a:solidFill>
              </a:defRPr>
            </a:lvl8pPr>
            <a:lvl9pPr algn="r">
              <a:defRPr sz="1425" b="1">
                <a:solidFill>
                  <a:srgbClr val="38BDF8"/>
                </a:solidFill>
              </a:defRPr>
            </a:lvl9pPr>
          </a:lstStyle>
          <a:p>
            <a:pPr algn="r" rtl="1">
              <a:defRPr sz="1425" b="1">
                <a:solidFill>
                  <a:srgbClr val="38BDF8"/>
                </a:solidFill>
              </a:defRPr>
            </a:pPr>
            <a:r>
              <a:rPr sz="1425" b="1" lang="fa-IR">
                <a:solidFill>
                  <a:srgbClr val="38BDF8"/>
                </a:solidFill>
              </a:rPr>
              <a:t>گام ۳: 2 را نگه دار</a:t>
            </a:r>
          </a:p>
        </p:txBody>
      </p:sp>
      <p:sp>
        <p:nvSpPr>
          <p:cNvPr id="12" name="">
            <a:extLst>
              <a:ext uri="{FF2B5EF4-FFF2-40B4-BE49-F238E27FC236}">
                <ns2:creationId id="{0F7BA79A-C818-4384-BC83-3B622DF57E9B}"/>
              </a:ext>
            </a:extLst>
          </p:cNvPr>
          <p:cNvSpPr>
            <a:spLocks noGrp="1"/>
          </p:cNvSpPr>
          <p:nvPr/>
        </p:nvSpPr>
        <p:spPr>
          <a:xfrm>
            <a:off x="3557588" y="2057400"/>
            <a:ext cx="2357438" cy="800100"/>
          </a:xfrm>
          <a:prstGeom prst="rect">
            <a:avLst/>
          </a:prstGeom>
          <a:noFill/>
          <a:ln w="0">
            <a:noFill/>
          </a:ln>
        </p:spPr>
        <p:txBody>
          <a:bodyPr lIns="0" tIns="0" rIns="0" bIns="0" anchor="t"/>
          <a:lstStyle>
            <a:defPPr algn="r">
              <a:defRPr sz="1275" b="0">
                <a:solidFill>
                  <a:srgbClr val="DDE1F5"/>
                </a:solidFill>
              </a:defRPr>
            </a:defPPr>
            <a:lvl1pPr algn="r">
              <a:defRPr sz="1275" b="0">
                <a:solidFill>
                  <a:srgbClr val="DDE1F5"/>
                </a:solidFill>
              </a:defRPr>
            </a:lvl1pPr>
            <a:lvl2pPr algn="r">
              <a:defRPr sz="1275" b="0">
                <a:solidFill>
                  <a:srgbClr val="DDE1F5"/>
                </a:solidFill>
              </a:defRPr>
            </a:lvl2pPr>
            <a:lvl3pPr algn="r">
              <a:defRPr sz="1275" b="0">
                <a:solidFill>
                  <a:srgbClr val="DDE1F5"/>
                </a:solidFill>
              </a:defRPr>
            </a:lvl3pPr>
            <a:lvl4pPr algn="r">
              <a:defRPr sz="1275" b="0">
                <a:solidFill>
                  <a:srgbClr val="DDE1F5"/>
                </a:solidFill>
              </a:defRPr>
            </a:lvl4pPr>
            <a:lvl5pPr algn="r">
              <a:defRPr sz="1275" b="0">
                <a:solidFill>
                  <a:srgbClr val="DDE1F5"/>
                </a:solidFill>
              </a:defRPr>
            </a:lvl5pPr>
            <a:lvl6pPr algn="r">
              <a:defRPr sz="1275" b="0">
                <a:solidFill>
                  <a:srgbClr val="DDE1F5"/>
                </a:solidFill>
              </a:defRPr>
            </a:lvl6pPr>
            <a:lvl7pPr algn="r">
              <a:defRPr sz="1275" b="0">
                <a:solidFill>
                  <a:srgbClr val="DDE1F5"/>
                </a:solidFill>
              </a:defRPr>
            </a:lvl7pPr>
            <a:lvl8pPr algn="r">
              <a:defRPr sz="1275" b="0">
                <a:solidFill>
                  <a:srgbClr val="DDE1F5"/>
                </a:solidFill>
              </a:defRPr>
            </a:lvl8pPr>
            <a:lvl9pPr algn="r">
              <a:defRPr sz="1275" b="0">
                <a:solidFill>
                  <a:srgbClr val="DDE1F5"/>
                </a:solidFill>
              </a:defRPr>
            </a:lvl9pPr>
          </a:lstStyle>
          <a:p>
            <a:pPr algn="r" rtl="1">
              <a:defRPr sz="1275" b="0">
                <a:solidFill>
                  <a:srgbClr val="DDE1F5"/>
                </a:solidFill>
              </a:defRPr>
            </a:pPr>
            <a:r>
              <a:rPr sz="1275" b="0" lang="fa-IR">
                <a:solidFill>
                  <a:srgbClr val="DDE1F5"/>
                </a:solidFill>
              </a:rPr>
              <a:t>readIndex = 2؛ در خانهٔ ۱ بنویس؛ writeIndex = 2.</a:t>
            </a:r>
          </a:p>
        </p:txBody>
      </p:sp>
      <p:sp>
        <p:nvSpPr>
          <p:cNvPr id="13" name="">
            <a:extLst>
              <a:ext uri="{FF2B5EF4-FFF2-40B4-BE49-F238E27FC236}">
                <ns2:creationId id="{95843B6D-5696-4FCD-81FD-D0A743F4E2AB}"/>
              </a:ext>
            </a:extLst>
          </p:cNvPr>
          <p:cNvSpPr>
            <a:spLocks noGrp="1"/>
          </p:cNvSpPr>
          <p:nvPr/>
        </p:nvSpPr>
        <p:spPr>
          <a:xfrm>
            <a:off x="723900" y="1504950"/>
            <a:ext cx="2586038" cy="1428750"/>
          </a:xfrm>
          <a:prstGeom prst="rect">
            <a:avLst/>
          </a:prstGeom>
          <a:solidFill>
            <a:srgbClr val="141428"/>
          </a:solidFill>
          <a:ln w="9525">
            <a:solidFill>
              <a:srgbClr val="E9A84C"/>
            </a:solidFill>
          </a:ln>
        </p:spPr>
      </p:sp>
      <p:sp>
        <p:nvSpPr>
          <p:cNvPr id="14" name="">
            <a:extLst>
              <a:ext uri="{FF2B5EF4-FFF2-40B4-BE49-F238E27FC236}">
                <ns2:creationId id="{DE3A3BEA-0B0B-48BF-827C-A67EAAC3C21C}"/>
              </a:ext>
            </a:extLst>
          </p:cNvPr>
          <p:cNvSpPr>
            <a:spLocks noGrp="1"/>
          </p:cNvSpPr>
          <p:nvPr/>
        </p:nvSpPr>
        <p:spPr>
          <a:xfrm>
            <a:off x="838200" y="1619250"/>
            <a:ext cx="2357438" cy="400050"/>
          </a:xfrm>
          <a:prstGeom prst="rect">
            <a:avLst/>
          </a:prstGeom>
          <a:noFill/>
          <a:ln w="0">
            <a:noFill/>
          </a:ln>
        </p:spPr>
        <p:txBody>
          <a:bodyPr lIns="0" tIns="0" rIns="0" bIns="0" anchor="t"/>
          <a:lstStyle>
            <a:defPPr algn="r">
              <a:defRPr sz="1425" b="1">
                <a:solidFill>
                  <a:srgbClr val="E9A84C"/>
                </a:solidFill>
              </a:defRPr>
            </a:defPPr>
            <a:lvl1pPr algn="r">
              <a:defRPr sz="1425" b="1">
                <a:solidFill>
                  <a:srgbClr val="E9A84C"/>
                </a:solidFill>
              </a:defRPr>
            </a:lvl1pPr>
            <a:lvl2pPr algn="r">
              <a:defRPr sz="1425" b="1">
                <a:solidFill>
                  <a:srgbClr val="E9A84C"/>
                </a:solidFill>
              </a:defRPr>
            </a:lvl2pPr>
            <a:lvl3pPr algn="r">
              <a:defRPr sz="1425" b="1">
                <a:solidFill>
                  <a:srgbClr val="E9A84C"/>
                </a:solidFill>
              </a:defRPr>
            </a:lvl3pPr>
            <a:lvl4pPr algn="r">
              <a:defRPr sz="1425" b="1">
                <a:solidFill>
                  <a:srgbClr val="E9A84C"/>
                </a:solidFill>
              </a:defRPr>
            </a:lvl4pPr>
            <a:lvl5pPr algn="r">
              <a:defRPr sz="1425" b="1">
                <a:solidFill>
                  <a:srgbClr val="E9A84C"/>
                </a:solidFill>
              </a:defRPr>
            </a:lvl5pPr>
            <a:lvl6pPr algn="r">
              <a:defRPr sz="1425" b="1">
                <a:solidFill>
                  <a:srgbClr val="E9A84C"/>
                </a:solidFill>
              </a:defRPr>
            </a:lvl6pPr>
            <a:lvl7pPr algn="r">
              <a:defRPr sz="1425" b="1">
                <a:solidFill>
                  <a:srgbClr val="E9A84C"/>
                </a:solidFill>
              </a:defRPr>
            </a:lvl7pPr>
            <a:lvl8pPr algn="r">
              <a:defRPr sz="1425" b="1">
                <a:solidFill>
                  <a:srgbClr val="E9A84C"/>
                </a:solidFill>
              </a:defRPr>
            </a:lvl8pPr>
            <a:lvl9pPr algn="r">
              <a:defRPr sz="1425" b="1">
                <a:solidFill>
                  <a:srgbClr val="E9A84C"/>
                </a:solidFill>
              </a:defRPr>
            </a:lvl9pPr>
          </a:lstStyle>
          <a:p>
            <a:pPr algn="r" rtl="1">
              <a:defRPr sz="1425" b="1">
                <a:solidFill>
                  <a:srgbClr val="E9A84C"/>
                </a:solidFill>
              </a:defRPr>
            </a:pPr>
            <a:r>
              <a:rPr sz="1425" b="1" lang="fa-IR">
                <a:solidFill>
                  <a:srgbClr val="E9A84C"/>
                </a:solidFill>
              </a:rPr>
              <a:t>گام ۴: 3 را رد کن</a:t>
            </a:r>
          </a:p>
        </p:txBody>
      </p:sp>
      <p:sp>
        <p:nvSpPr>
          <p:cNvPr id="15" name="">
            <a:extLst>
              <a:ext uri="{FF2B5EF4-FFF2-40B4-BE49-F238E27FC236}">
                <ns2:creationId id="{FE7A4FD0-5F82-4AF9-9D97-520C57B08443}"/>
              </a:ext>
            </a:extLst>
          </p:cNvPr>
          <p:cNvSpPr>
            <a:spLocks noGrp="1"/>
          </p:cNvSpPr>
          <p:nvPr/>
        </p:nvSpPr>
        <p:spPr>
          <a:xfrm>
            <a:off x="838200" y="2057400"/>
            <a:ext cx="2357438" cy="800100"/>
          </a:xfrm>
          <a:prstGeom prst="rect">
            <a:avLst/>
          </a:prstGeom>
          <a:noFill/>
          <a:ln w="0">
            <a:noFill/>
          </a:ln>
        </p:spPr>
        <p:txBody>
          <a:bodyPr lIns="0" tIns="0" rIns="0" bIns="0" anchor="t"/>
          <a:lstStyle>
            <a:defPPr algn="r">
              <a:defRPr sz="1275" b="0">
                <a:solidFill>
                  <a:srgbClr val="DDE1F5"/>
                </a:solidFill>
              </a:defRPr>
            </a:defPPr>
            <a:lvl1pPr algn="r">
              <a:defRPr sz="1275" b="0">
                <a:solidFill>
                  <a:srgbClr val="DDE1F5"/>
                </a:solidFill>
              </a:defRPr>
            </a:lvl1pPr>
            <a:lvl2pPr algn="r">
              <a:defRPr sz="1275" b="0">
                <a:solidFill>
                  <a:srgbClr val="DDE1F5"/>
                </a:solidFill>
              </a:defRPr>
            </a:lvl2pPr>
            <a:lvl3pPr algn="r">
              <a:defRPr sz="1275" b="0">
                <a:solidFill>
                  <a:srgbClr val="DDE1F5"/>
                </a:solidFill>
              </a:defRPr>
            </a:lvl3pPr>
            <a:lvl4pPr algn="r">
              <a:defRPr sz="1275" b="0">
                <a:solidFill>
                  <a:srgbClr val="DDE1F5"/>
                </a:solidFill>
              </a:defRPr>
            </a:lvl4pPr>
            <a:lvl5pPr algn="r">
              <a:defRPr sz="1275" b="0">
                <a:solidFill>
                  <a:srgbClr val="DDE1F5"/>
                </a:solidFill>
              </a:defRPr>
            </a:lvl5pPr>
            <a:lvl6pPr algn="r">
              <a:defRPr sz="1275" b="0">
                <a:solidFill>
                  <a:srgbClr val="DDE1F5"/>
                </a:solidFill>
              </a:defRPr>
            </a:lvl6pPr>
            <a:lvl7pPr algn="r">
              <a:defRPr sz="1275" b="0">
                <a:solidFill>
                  <a:srgbClr val="DDE1F5"/>
                </a:solidFill>
              </a:defRPr>
            </a:lvl7pPr>
            <a:lvl8pPr algn="r">
              <a:defRPr sz="1275" b="0">
                <a:solidFill>
                  <a:srgbClr val="DDE1F5"/>
                </a:solidFill>
              </a:defRPr>
            </a:lvl8pPr>
            <a:lvl9pPr algn="r">
              <a:defRPr sz="1275" b="0">
                <a:solidFill>
                  <a:srgbClr val="DDE1F5"/>
                </a:solidFill>
              </a:defRPr>
            </a:lvl9pPr>
          </a:lstStyle>
          <a:p>
            <a:pPr algn="r" rtl="1">
              <a:defRPr sz="1275" b="0">
                <a:solidFill>
                  <a:srgbClr val="DDE1F5"/>
                </a:solidFill>
              </a:defRPr>
            </a:pPr>
            <a:r>
              <a:rPr sz="1275" b="0" lang="fa-IR">
                <a:solidFill>
                  <a:srgbClr val="DDE1F5"/>
                </a:solidFill>
              </a:rPr>
              <a:t>readIndex = 3؛ جواب نهایی k = 2 و پیشوند ‪[2, 2]‬.</a:t>
            </a:r>
          </a:p>
        </p:txBody>
      </p:sp>
      <p:sp>
        <p:nvSpPr>
          <p:cNvPr id="16" name="">
            <a:extLst>
              <a:ext uri="{FF2B5EF4-FFF2-40B4-BE49-F238E27FC236}">
                <ns2:creationId id="{F0F96726-1CF1-4E7D-A781-9C4F1795EE6F}"/>
              </a:ext>
            </a:extLst>
          </p:cNvPr>
          <p:cNvSpPr>
            <a:spLocks noGrp="1"/>
          </p:cNvSpPr>
          <p:nvPr/>
        </p:nvSpPr>
        <p:spPr>
          <a:xfrm>
            <a:off x="723900" y="3276600"/>
            <a:ext cx="10744200" cy="571500"/>
          </a:xfrm>
          <a:prstGeom prst="rect">
            <a:avLst/>
          </a:prstGeom>
          <a:noFill/>
          <a:ln w="0">
            <a:noFill/>
          </a:ln>
        </p:spPr>
        <p:txBody>
          <a:bodyPr lIns="0" tIns="0" rIns="0" bIns="0" anchor="t"/>
          <a:lstStyle>
            <a:defPPr algn="l">
              <a:defRPr sz="2100" b="1">
                <a:solidFill>
                  <a:srgbClr val="4ECCA3"/>
                </a:solidFill>
              </a:defRPr>
            </a:defPPr>
            <a:lvl1pPr algn="l">
              <a:defRPr sz="2100" b="1">
                <a:solidFill>
                  <a:srgbClr val="4ECCA3"/>
                </a:solidFill>
              </a:defRPr>
            </a:lvl1pPr>
            <a:lvl2pPr algn="l">
              <a:defRPr sz="2100" b="1">
                <a:solidFill>
                  <a:srgbClr val="4ECCA3"/>
                </a:solidFill>
              </a:defRPr>
            </a:lvl2pPr>
            <a:lvl3pPr algn="l">
              <a:defRPr sz="2100" b="1">
                <a:solidFill>
                  <a:srgbClr val="4ECCA3"/>
                </a:solidFill>
              </a:defRPr>
            </a:lvl3pPr>
            <a:lvl4pPr algn="l">
              <a:defRPr sz="2100" b="1">
                <a:solidFill>
                  <a:srgbClr val="4ECCA3"/>
                </a:solidFill>
              </a:defRPr>
            </a:lvl4pPr>
            <a:lvl5pPr algn="l">
              <a:defRPr sz="2100" b="1">
                <a:solidFill>
                  <a:srgbClr val="4ECCA3"/>
                </a:solidFill>
              </a:defRPr>
            </a:lvl5pPr>
            <a:lvl6pPr algn="l">
              <a:defRPr sz="2100" b="1">
                <a:solidFill>
                  <a:srgbClr val="4ECCA3"/>
                </a:solidFill>
              </a:defRPr>
            </a:lvl6pPr>
            <a:lvl7pPr algn="l">
              <a:defRPr sz="2100" b="1">
                <a:solidFill>
                  <a:srgbClr val="4ECCA3"/>
                </a:solidFill>
              </a:defRPr>
            </a:lvl7pPr>
            <a:lvl8pPr algn="l">
              <a:defRPr sz="2100" b="1">
                <a:solidFill>
                  <a:srgbClr val="4ECCA3"/>
                </a:solidFill>
              </a:defRPr>
            </a:lvl8pPr>
            <a:lvl9pPr algn="l">
              <a:defRPr sz="2100" b="1">
                <a:solidFill>
                  <a:srgbClr val="4ECCA3"/>
                </a:solidFill>
              </a:defRPr>
            </a:lvl9pPr>
          </a:lstStyle>
          <a:p>
            <a:pPr algn="l">
              <a:defRPr sz="2100" b="1">
                <a:solidFill>
                  <a:srgbClr val="4ECCA3"/>
                </a:solidFill>
              </a:defRPr>
            </a:pPr>
            <a:r>
              <a:rPr sz="2100" b="1">
                <a:solidFill>
                  <a:srgbClr val="4ECCA3"/>
                </a:solidFill>
              </a:rPr>
              <a:t>[3, 2, 2, 3]    →    [2, 2, 2, 3]    →    [2, 2, _, _]     k = 2</a:t>
            </a:r>
          </a:p>
        </p:txBody>
      </p:sp>
      <p:sp>
        <p:nvSpPr>
          <p:cNvPr id="17" name="">
            <a:extLst>
              <a:ext uri="{FF2B5EF4-FFF2-40B4-BE49-F238E27FC236}">
                <ns2:creationId id="{EC2F631A-4A10-4960-B8B9-96C31B0FC759}"/>
              </a:ext>
            </a:extLst>
          </p:cNvPr>
          <p:cNvSpPr>
            <a:spLocks noGrp="1"/>
          </p:cNvSpPr>
          <p:nvPr/>
        </p:nvSpPr>
        <p:spPr>
          <a:xfrm>
            <a:off x="857250" y="4114800"/>
            <a:ext cx="10477500" cy="552450"/>
          </a:xfrm>
          <a:prstGeom prst="rect">
            <a:avLst/>
          </a:prstGeom>
          <a:noFill/>
          <a:ln w="0">
            <a:noFill/>
          </a:ln>
        </p:spPr>
        <p:txBody>
          <a:bodyPr lIns="0" tIns="0" rIns="0" bIns="0" anchor="t"/>
          <a:lstStyle>
            <a:defPPr algn="r">
              <a:defRPr sz="1575" b="0">
                <a:solidFill>
                  <a:srgbClr val="DDE1F5"/>
                </a:solidFill>
              </a:defRPr>
            </a:defPPr>
            <a:lvl1pPr algn="r">
              <a:defRPr sz="1575" b="0">
                <a:solidFill>
                  <a:srgbClr val="DDE1F5"/>
                </a:solidFill>
              </a:defRPr>
            </a:lvl1pPr>
            <a:lvl2pPr algn="r">
              <a:defRPr sz="1575" b="0">
                <a:solidFill>
                  <a:srgbClr val="DDE1F5"/>
                </a:solidFill>
              </a:defRPr>
            </a:lvl2pPr>
            <a:lvl3pPr algn="r">
              <a:defRPr sz="1575" b="0">
                <a:solidFill>
                  <a:srgbClr val="DDE1F5"/>
                </a:solidFill>
              </a:defRPr>
            </a:lvl3pPr>
            <a:lvl4pPr algn="r">
              <a:defRPr sz="1575" b="0">
                <a:solidFill>
                  <a:srgbClr val="DDE1F5"/>
                </a:solidFill>
              </a:defRPr>
            </a:lvl4pPr>
            <a:lvl5pPr algn="r">
              <a:defRPr sz="1575" b="0">
                <a:solidFill>
                  <a:srgbClr val="DDE1F5"/>
                </a:solidFill>
              </a:defRPr>
            </a:lvl5pPr>
            <a:lvl6pPr algn="r">
              <a:defRPr sz="1575" b="0">
                <a:solidFill>
                  <a:srgbClr val="DDE1F5"/>
                </a:solidFill>
              </a:defRPr>
            </a:lvl6pPr>
            <a:lvl7pPr algn="r">
              <a:defRPr sz="1575" b="0">
                <a:solidFill>
                  <a:srgbClr val="DDE1F5"/>
                </a:solidFill>
              </a:defRPr>
            </a:lvl7pPr>
            <a:lvl8pPr algn="r">
              <a:defRPr sz="1575" b="0">
                <a:solidFill>
                  <a:srgbClr val="DDE1F5"/>
                </a:solidFill>
              </a:defRPr>
            </a:lvl8pPr>
            <a:lvl9pPr algn="r">
              <a:defRPr sz="1575" b="0">
                <a:solidFill>
                  <a:srgbClr val="DDE1F5"/>
                </a:solidFill>
              </a:defRPr>
            </a:lvl9pPr>
          </a:lstStyle>
          <a:p>
            <a:pPr algn="r" rtl="1">
              <a:defRPr sz="1575" b="0">
                <a:solidFill>
                  <a:srgbClr val="DDE1F5"/>
                </a:solidFill>
              </a:defRPr>
            </a:pPr>
            <a:r>
              <a:rPr sz="1575" b="0" lang="fa-IR">
                <a:solidFill>
                  <a:srgbClr val="DDE1F5"/>
                </a:solidFill>
              </a:rPr>
              <a:t>• نمونهٔ خالی، همه حذف، هیچ حذف و مقدارهای تکراری را هم امتحان کنید.</a:t>
            </a:r>
          </a:p>
        </p:txBody>
      </p:sp>
      <p:sp>
        <p:nvSpPr>
          <p:cNvPr id="18" name="">
            <a:extLst>
              <a:ext uri="{FF2B5EF4-FFF2-40B4-BE49-F238E27FC236}">
                <ns2:creationId id="{BBA8EC3E-E898-44B8-ADC5-5CD9C07EF5B1}"/>
              </a:ext>
            </a:extLst>
          </p:cNvPr>
          <p:cNvSpPr>
            <a:spLocks noGrp="1"/>
          </p:cNvSpPr>
          <p:nvPr/>
        </p:nvSpPr>
        <p:spPr>
          <a:xfrm>
            <a:off x="857250" y="4705350"/>
            <a:ext cx="10477500" cy="552450"/>
          </a:xfrm>
          <a:prstGeom prst="rect">
            <a:avLst/>
          </a:prstGeom>
          <a:noFill/>
          <a:ln w="0">
            <a:noFill/>
          </a:ln>
        </p:spPr>
        <p:txBody>
          <a:bodyPr lIns="0" tIns="0" rIns="0" bIns="0" anchor="t"/>
          <a:lstStyle>
            <a:defPPr algn="r">
              <a:defRPr sz="1575" b="0">
                <a:solidFill>
                  <a:srgbClr val="DDE1F5"/>
                </a:solidFill>
              </a:defRPr>
            </a:defPPr>
            <a:lvl1pPr algn="r">
              <a:defRPr sz="1575" b="0">
                <a:solidFill>
                  <a:srgbClr val="DDE1F5"/>
                </a:solidFill>
              </a:defRPr>
            </a:lvl1pPr>
            <a:lvl2pPr algn="r">
              <a:defRPr sz="1575" b="0">
                <a:solidFill>
                  <a:srgbClr val="DDE1F5"/>
                </a:solidFill>
              </a:defRPr>
            </a:lvl2pPr>
            <a:lvl3pPr algn="r">
              <a:defRPr sz="1575" b="0">
                <a:solidFill>
                  <a:srgbClr val="DDE1F5"/>
                </a:solidFill>
              </a:defRPr>
            </a:lvl3pPr>
            <a:lvl4pPr algn="r">
              <a:defRPr sz="1575" b="0">
                <a:solidFill>
                  <a:srgbClr val="DDE1F5"/>
                </a:solidFill>
              </a:defRPr>
            </a:lvl4pPr>
            <a:lvl5pPr algn="r">
              <a:defRPr sz="1575" b="0">
                <a:solidFill>
                  <a:srgbClr val="DDE1F5"/>
                </a:solidFill>
              </a:defRPr>
            </a:lvl5pPr>
            <a:lvl6pPr algn="r">
              <a:defRPr sz="1575" b="0">
                <a:solidFill>
                  <a:srgbClr val="DDE1F5"/>
                </a:solidFill>
              </a:defRPr>
            </a:lvl6pPr>
            <a:lvl7pPr algn="r">
              <a:defRPr sz="1575" b="0">
                <a:solidFill>
                  <a:srgbClr val="DDE1F5"/>
                </a:solidFill>
              </a:defRPr>
            </a:lvl7pPr>
            <a:lvl8pPr algn="r">
              <a:defRPr sz="1575" b="0">
                <a:solidFill>
                  <a:srgbClr val="DDE1F5"/>
                </a:solidFill>
              </a:defRPr>
            </a:lvl8pPr>
            <a:lvl9pPr algn="r">
              <a:defRPr sz="1575" b="0">
                <a:solidFill>
                  <a:srgbClr val="DDE1F5"/>
                </a:solidFill>
              </a:defRPr>
            </a:lvl9pPr>
          </a:lstStyle>
          <a:p>
            <a:pPr algn="r" rtl="1">
              <a:defRPr sz="1575" b="0">
                <a:solidFill>
                  <a:srgbClr val="DDE1F5"/>
                </a:solidFill>
              </a:defRPr>
            </a:pPr>
            <a:r>
              <a:rPr sz="1575" b="0" lang="fa-IR">
                <a:solidFill>
                  <a:srgbClr val="DDE1F5"/>
                </a:solidFill>
              </a:rPr>
              <a:t>• درس بعد: برای انتقال صفرها، غیرصفرها را نگه می‌داریم؛ سپس خانه‌های باقی‌مانده باید صفر شوند.</a:t>
            </a:r>
          </a:p>
        </p:txBody>
      </p:sp>
      <p:sp>
        <p:nvSpPr>
          <p:cNvPr id="19" name="">
            <a:extLst>
              <a:ext uri="{FF2B5EF4-FFF2-40B4-BE49-F238E27FC236}">
                <ns2:creationId id="{1B0C30EA-58E3-48A7-AA4B-F31F57169BEC}"/>
              </a:ext>
            </a:extLst>
          </p:cNvPr>
          <p:cNvSpPr>
            <a:spLocks noGrp="1"/>
          </p:cNvSpPr>
          <p:nvPr/>
        </p:nvSpPr>
        <p:spPr>
          <a:xfrm>
            <a:off x="857250" y="5467350"/>
            <a:ext cx="10477500" cy="666750"/>
          </a:xfrm>
          <a:prstGeom prst="rect">
            <a:avLst/>
          </a:prstGeom>
          <a:noFill/>
          <a:ln w="0">
            <a:noFill/>
          </a:ln>
        </p:spPr>
        <p:txBody>
          <a:bodyPr lIns="0" tIns="0" rIns="0" bIns="0" anchor="t"/>
          <a:lstStyle>
            <a:defPPr algn="r">
              <a:defRPr sz="1650" b="1">
                <a:solidFill>
                  <a:srgbClr val="7C8FF5"/>
                </a:solidFill>
              </a:defRPr>
            </a:defPPr>
            <a:lvl1pPr algn="r">
              <a:defRPr sz="1650" b="1">
                <a:solidFill>
                  <a:srgbClr val="7C8FF5"/>
                </a:solidFill>
              </a:defRPr>
            </a:lvl1pPr>
            <a:lvl2pPr algn="r">
              <a:defRPr sz="1650" b="1">
                <a:solidFill>
                  <a:srgbClr val="7C8FF5"/>
                </a:solidFill>
              </a:defRPr>
            </a:lvl2pPr>
            <a:lvl3pPr algn="r">
              <a:defRPr sz="1650" b="1">
                <a:solidFill>
                  <a:srgbClr val="7C8FF5"/>
                </a:solidFill>
              </a:defRPr>
            </a:lvl3pPr>
            <a:lvl4pPr algn="r">
              <a:defRPr sz="1650" b="1">
                <a:solidFill>
                  <a:srgbClr val="7C8FF5"/>
                </a:solidFill>
              </a:defRPr>
            </a:lvl4pPr>
            <a:lvl5pPr algn="r">
              <a:defRPr sz="1650" b="1">
                <a:solidFill>
                  <a:srgbClr val="7C8FF5"/>
                </a:solidFill>
              </a:defRPr>
            </a:lvl5pPr>
            <a:lvl6pPr algn="r">
              <a:defRPr sz="1650" b="1">
                <a:solidFill>
                  <a:srgbClr val="7C8FF5"/>
                </a:solidFill>
              </a:defRPr>
            </a:lvl6pPr>
            <a:lvl7pPr algn="r">
              <a:defRPr sz="1650" b="1">
                <a:solidFill>
                  <a:srgbClr val="7C8FF5"/>
                </a:solidFill>
              </a:defRPr>
            </a:lvl7pPr>
            <a:lvl8pPr algn="r">
              <a:defRPr sz="1650" b="1">
                <a:solidFill>
                  <a:srgbClr val="7C8FF5"/>
                </a:solidFill>
              </a:defRPr>
            </a:lvl8pPr>
            <a:lvl9pPr algn="r">
              <a:defRPr sz="1650" b="1">
                <a:solidFill>
                  <a:srgbClr val="7C8FF5"/>
                </a:solidFill>
              </a:defRPr>
            </a:lvl9pPr>
          </a:lstStyle>
          <a:p>
            <a:pPr algn="r" rtl="1">
              <a:defRPr sz="1650" b="1">
                <a:solidFill>
                  <a:srgbClr val="7C8FF5"/>
                </a:solidFill>
              </a:defRPr>
            </a:pPr>
            <a:r>
              <a:rPr sz="1650" b="1" lang="fa-IR">
                <a:solidFill>
                  <a:srgbClr val="7C8FF5"/>
                </a:solidFill>
              </a:rPr>
              <a:t>حذف یک مقدار ← انتقال صفرها ← زیردنباله: خواندن همیشگی، پیشروی مشروط نشانگر دوم.</a:t>
            </a:r>
          </a:p>
        </p:txBody>
      </p:sp>
      <p:sp>
        <p:nvSpPr>
          <p:cNvPr id="20" name="">
            <a:extLst>
              <a:ext uri="{FF2B5EF4-FFF2-40B4-BE49-F238E27FC236}">
                <ns2:creationId id="{F0FBBA3F-EFC1-4137-9DA9-741E1E69AEDF}"/>
              </a:ext>
            </a:extLst>
          </p:cNvPr>
          <p:cNvSpPr>
            <a:spLocks noGrp="1"/>
          </p:cNvSpPr>
          <p:nvPr/>
        </p:nvSpPr>
        <p:spPr>
          <a:xfrm>
            <a:off x="723900" y="6496050"/>
            <a:ext cx="10744200" cy="209550"/>
          </a:xfrm>
          <a:prstGeom prst="rect">
            <a:avLst/>
          </a:prstGeom>
          <a:noFill/>
          <a:ln w="0">
            <a:noFill/>
          </a:ln>
        </p:spPr>
        <p:txBody>
          <a:bodyPr lIns="0" tIns="0" rIns="0" bIns="0" anchor="t"/>
          <a:lstStyle>
            <a:defPPr algn="r">
              <a:defRPr sz="975" b="0">
                <a:solidFill>
                  <a:srgbClr val="969EB4"/>
                </a:solidFill>
              </a:defRPr>
            </a:defPPr>
            <a:lvl1pPr algn="r">
              <a:defRPr sz="975" b="0">
                <a:solidFill>
                  <a:srgbClr val="969EB4"/>
                </a:solidFill>
              </a:defRPr>
            </a:lvl1pPr>
            <a:lvl2pPr algn="r">
              <a:defRPr sz="975" b="0">
                <a:solidFill>
                  <a:srgbClr val="969EB4"/>
                </a:solidFill>
              </a:defRPr>
            </a:lvl2pPr>
            <a:lvl3pPr algn="r">
              <a:defRPr sz="975" b="0">
                <a:solidFill>
                  <a:srgbClr val="969EB4"/>
                </a:solidFill>
              </a:defRPr>
            </a:lvl3pPr>
            <a:lvl4pPr algn="r">
              <a:defRPr sz="975" b="0">
                <a:solidFill>
                  <a:srgbClr val="969EB4"/>
                </a:solidFill>
              </a:defRPr>
            </a:lvl4pPr>
            <a:lvl5pPr algn="r">
              <a:defRPr sz="975" b="0">
                <a:solidFill>
                  <a:srgbClr val="969EB4"/>
                </a:solidFill>
              </a:defRPr>
            </a:lvl5pPr>
            <a:lvl6pPr algn="r">
              <a:defRPr sz="975" b="0">
                <a:solidFill>
                  <a:srgbClr val="969EB4"/>
                </a:solidFill>
              </a:defRPr>
            </a:lvl6pPr>
            <a:lvl7pPr algn="r">
              <a:defRPr sz="975" b="0">
                <a:solidFill>
                  <a:srgbClr val="969EB4"/>
                </a:solidFill>
              </a:defRPr>
            </a:lvl7pPr>
            <a:lvl8pPr algn="r">
              <a:defRPr sz="975" b="0">
                <a:solidFill>
                  <a:srgbClr val="969EB4"/>
                </a:solidFill>
              </a:defRPr>
            </a:lvl8pPr>
            <a:lvl9pPr algn="r">
              <a:defRPr sz="975" b="0">
                <a:solidFill>
                  <a:srgbClr val="969EB4"/>
                </a:solidFill>
              </a:defRPr>
            </a:lvl9pPr>
          </a:lstStyle>
          <a:p>
            <a:pPr algn="r">
              <a:defRPr sz="975" b="0">
                <a:solidFill>
                  <a:srgbClr val="969EB4"/>
                </a:solidFill>
              </a:defRPr>
            </a:pPr>
            <a:r>
              <a:rPr sz="975" b="0">
                <a:solidFill>
                  <a:srgbClr val="969EB4"/>
                </a:solidFill>
              </a:rPr>
              <a:t>32 / 57</a:t>
            </a:r>
          </a:p>
        </p:txBody>
      </p:sp>
    </p:spTree>
    <p:extLst>
      <p:ext uri="{BB962C8B-B14F-4D97-AF65-F5344CB8AC3E}">
        <ns3:creationId val="1448044211"/>
      </p:ext>
    </p:extLst>
  </p:cSld>
</p:sld>
</file>

<file path=ppt/theme/re_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ns0:Properties xmlns:ns0="http://schemas.openxmlformats.org/officeDocument/2006/extended-properties" xmlns:ns1="http://schemas.openxmlformats.org/officeDocument/2006/docPropsVTypes">
  <ns0:TotalTime>1</ns0:TotalTime>
  <ns0:Words>0</ns0:Words>
  <ns0:Application>Microsoft Macintosh PowerPoint</ns0:Application>
  <ns0:PresentationFormat>On-screen Show (4:3)</ns0:PresentationFormat>
  <ns0:Paragraphs>0</ns0:Paragraphs>
  <ns0:Slides>59</ns0:Slides>
  <ns0:Notes>0</ns0:Notes>
  <ns0:HiddenSlides>0</ns0:HiddenSlides>
  <ns0:MMClips>0</ns0:MMClips>
  <ns0:ScaleCrop>false</ns0:ScaleCrop>
  <ns0:HeadingPairs>
    <ns1:vector size="4" baseType="variant">
      <ns1:variant>
        <ns1:lpstr>Theme</ns1:lpstr>
      </ns1:variant>
      <ns1:variant>
        <ns1:i4>1</ns1:i4>
      </ns1:variant>
      <ns1:variant>
        <ns1:lpstr>Slide Titles</ns1:lpstr>
      </ns1:variant>
      <ns1:variant>
        <ns1:i4>0</ns1:i4>
      </ns1:variant>
    </ns1:vector>
  </ns0:HeadingPairs>
  <ns0:TitlesOfParts>
    <ns1:vector size="1" baseType="lpstr">
      <ns1:lpstr>Office Theme</ns1:lpstr>
    </ns1:vector>
  </ns0:TitlesOfParts>
  <ns0:Manager/>
  <ns0:Company/>
  <ns0:LinksUpToDate>false</ns0:LinksUpToDate>
  <ns0:SharedDoc>false</ns0:SharedDoc>
  <ns0:HyperlinkBase/>
  <ns0:HyperlinksChanged>false</ns0:HyperlinksChanged>
  <ns0:AppVersion>14.0000</ns0:AppVersion>
</ns0: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